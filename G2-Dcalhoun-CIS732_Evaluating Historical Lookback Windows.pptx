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9776" autoAdjust="0"/>
  </p:normalViewPr>
  <p:slideViewPr>
    <p:cSldViewPr snapToGrid="0">
      <p:cViewPr varScale="1">
        <p:scale>
          <a:sx n="79" d="100"/>
          <a:sy n="79" d="100"/>
        </p:scale>
        <p:origin x="17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9C4738-95F0-4DDC-B0F3-B1602B193CB2}" type="datetimeFigureOut">
              <a:rPr lang="en-US" smtClean="0"/>
              <a:t>5/7/2026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7BF37C-6942-4170-B96C-8A95FF79620C}" type="slidenum">
              <a:rPr lang="en-US" smtClean="0"/>
              <a:t>‹#›</a:t>
            </a:fld>
            <a:endParaRPr lang="en-US"/>
          </a:p>
        </p:txBody>
      </p:sp>
    </p:spTree>
    <p:extLst>
      <p:ext uri="{BB962C8B-B14F-4D97-AF65-F5344CB8AC3E}">
        <p14:creationId xmlns:p14="http://schemas.microsoft.com/office/powerpoint/2010/main" val="1306452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AI tools mean retail investors are deploying automated strategies that didn't exist three years ago</a:t>
            </a:r>
          </a:p>
          <a:p>
            <a:r>
              <a:rPr lang="en-US" dirty="0"/>
              <a:t>• My assumption is that almost all of them rely on the same input that is widely available, historical prices.</a:t>
            </a:r>
          </a:p>
          <a:p>
            <a:r>
              <a:rPr lang="en-US" dirty="0"/>
              <a:t>• So, the question is no longer abstract: if past prices can predict future prices, what is the window that determines the optimal range for historical patterns?</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3B7BF37C-6942-4170-B96C-8A95FF79620C}" type="slidenum">
              <a:rPr lang="en-US" smtClean="0"/>
              <a:t>2</a:t>
            </a:fld>
            <a:endParaRPr lang="en-US"/>
          </a:p>
        </p:txBody>
      </p:sp>
    </p:spTree>
    <p:extLst>
      <p:ext uri="{BB962C8B-B14F-4D97-AF65-F5344CB8AC3E}">
        <p14:creationId xmlns:p14="http://schemas.microsoft.com/office/powerpoint/2010/main" val="1830405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Points –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A1F2E"/>
                </a:solidFill>
                <a:latin typeface="Calibri" pitchFamily="34" charset="0"/>
                <a:ea typeface="Calibri" pitchFamily="34" charset="-122"/>
                <a:cs typeface="Calibri" pitchFamily="34" charset="-120"/>
              </a:rPr>
              <a:t>Using only historical price-based features, can a Many-to-One LSTM forecast next-day adjusted close prices more accurately than a persistence baseline and does the lookback window (10 / 30 / 60 days) materially change that answer?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A1F2E"/>
                </a:solidFill>
                <a:latin typeface="Calibri" pitchFamily="34" charset="0"/>
                <a:ea typeface="Calibri" pitchFamily="34" charset="-122"/>
                <a:cs typeface="Calibri" pitchFamily="34" charset="-120"/>
              </a:rPr>
              <a:t>I simply have a theory that utilizing only historical price-based features, if we can tune our parameters appropriately and reduce the noise of unnecessary variables, LSTM can outperform a Naïve baseline.</a:t>
            </a:r>
            <a:endParaRPr lang="en-US" sz="1200" dirty="0"/>
          </a:p>
          <a:p>
            <a:endParaRPr lang="en-US" dirty="0"/>
          </a:p>
          <a:p>
            <a:r>
              <a:rPr lang="en-US" dirty="0"/>
              <a:t>So we have a simple directional hypothesis. Our null hypothesis is that using ONLY price-based features, LSTM does not achieve a statistically significant lower MAPE % than the naïve baseline using price based features.</a:t>
            </a:r>
          </a:p>
          <a:p>
            <a:r>
              <a:rPr lang="en-US" dirty="0"/>
              <a:t>The alternative to this, is that the LSTM achieves a statistically significantly lower MAPE % than the Naïve baseline.</a:t>
            </a:r>
          </a:p>
          <a:p>
            <a:endParaRPr lang="en-US" dirty="0"/>
          </a:p>
          <a:p>
            <a:r>
              <a:rPr lang="en-US" dirty="0"/>
              <a:t>Because the hypothesis is directional, I used a one-sided paired t-test. And because I'm running six comparisons across three stocks and two model pairs, I applied a Bonferroni correction, because I’m running multiple tests and we want to make sure I do luck into finding a significant result, so it brings my real significance threshold down from 0.05 to 0.0083</a:t>
            </a:r>
          </a:p>
          <a:p>
            <a:endParaRPr lang="en-US" dirty="0"/>
          </a:p>
          <a:p>
            <a:r>
              <a:rPr lang="en-US" dirty="0"/>
              <a:t>I’m also running a cross validation across 10 folds with a timeseries split and three seeds, and we’ll get to the point of those choices in the methodology slides.</a:t>
            </a:r>
          </a:p>
        </p:txBody>
      </p:sp>
      <p:sp>
        <p:nvSpPr>
          <p:cNvPr id="4" name="Slide Number Placeholder 3"/>
          <p:cNvSpPr>
            <a:spLocks noGrp="1"/>
          </p:cNvSpPr>
          <p:nvPr>
            <p:ph type="sldNum" sz="quarter" idx="5"/>
          </p:nvPr>
        </p:nvSpPr>
        <p:spPr/>
        <p:txBody>
          <a:bodyPr/>
          <a:lstStyle/>
          <a:p>
            <a:fld id="{3B7BF37C-6942-4170-B96C-8A95FF79620C}" type="slidenum">
              <a:rPr lang="en-US" smtClean="0"/>
              <a:t>3</a:t>
            </a:fld>
            <a:endParaRPr lang="en-US"/>
          </a:p>
        </p:txBody>
      </p:sp>
    </p:spTree>
    <p:extLst>
      <p:ext uri="{BB962C8B-B14F-4D97-AF65-F5344CB8AC3E}">
        <p14:creationId xmlns:p14="http://schemas.microsoft.com/office/powerpoint/2010/main" val="625221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pieces of prior work fully shape this study.</a:t>
            </a:r>
          </a:p>
          <a:p>
            <a:endParaRPr lang="en-US" dirty="0"/>
          </a:p>
          <a:p>
            <a:r>
              <a:rPr lang="en-US" dirty="0"/>
              <a:t>Pillar 1: Fama's Efficient Market Hypothesis says prices already reflect available information, meaning patterns in past prices SHOULD be unpredictable. I’m can be skeptical of old studies, especially when they are in a field that I think should have significant disruption from technology. Fama’s thesis is from 1970. That's the hurdle the LSTM has to clear.</a:t>
            </a:r>
          </a:p>
          <a:p>
            <a:endParaRPr lang="en-US" dirty="0"/>
          </a:p>
          <a:p>
            <a:r>
              <a:rPr lang="en-US" dirty="0"/>
              <a:t>Pillar 2: Saud and Shakya in 2020 ran a study that shows the predictive value of past prices erodes very quickly, and that lookback windows beyond about 10 to 15 days actually degrade short-horizon prediction.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plan of attack here is intentional. That's why I deliberately tested 10, 30, and 60 days.</a:t>
            </a:r>
          </a:p>
          <a:p>
            <a:r>
              <a:rPr lang="en-US" dirty="0"/>
              <a:t>I care about the lookback window primarily because I want to test this argument, alongside Pilar 3. </a:t>
            </a:r>
          </a:p>
          <a:p>
            <a:endParaRPr lang="en-US" dirty="0"/>
          </a:p>
          <a:p>
            <a:r>
              <a:rPr lang="en-US" dirty="0"/>
              <a:t>Pillar 3: </a:t>
            </a:r>
            <a:r>
              <a:rPr lang="en-US" dirty="0" err="1"/>
              <a:t>Guresen</a:t>
            </a:r>
            <a:r>
              <a:rPr lang="en-US" dirty="0"/>
              <a:t> and colleagues found that excessive features introduce noise rather than signal. So I leaned heavy into a minimalist design, less than Saud and Shakya and decided on price-only features, lean architecture.</a:t>
            </a:r>
          </a:p>
          <a:p>
            <a:endParaRPr lang="en-US" dirty="0"/>
          </a:p>
          <a:p>
            <a:r>
              <a:rPr lang="en-US" dirty="0"/>
              <a:t>Regardless of the results, these three papers explain my design choices that you can see on the next slides.</a:t>
            </a:r>
          </a:p>
          <a:p>
            <a:endParaRPr lang="en-US" dirty="0"/>
          </a:p>
        </p:txBody>
      </p:sp>
      <p:sp>
        <p:nvSpPr>
          <p:cNvPr id="4" name="Slide Number Placeholder 3"/>
          <p:cNvSpPr>
            <a:spLocks noGrp="1"/>
          </p:cNvSpPr>
          <p:nvPr>
            <p:ph type="sldNum" sz="quarter" idx="5"/>
          </p:nvPr>
        </p:nvSpPr>
        <p:spPr/>
        <p:txBody>
          <a:bodyPr/>
          <a:lstStyle/>
          <a:p>
            <a:fld id="{3B7BF37C-6942-4170-B96C-8A95FF79620C}" type="slidenum">
              <a:rPr lang="en-US" smtClean="0"/>
              <a:t>4</a:t>
            </a:fld>
            <a:endParaRPr lang="en-US"/>
          </a:p>
        </p:txBody>
      </p:sp>
    </p:spTree>
    <p:extLst>
      <p:ext uri="{BB962C8B-B14F-4D97-AF65-F5344CB8AC3E}">
        <p14:creationId xmlns:p14="http://schemas.microsoft.com/office/powerpoint/2010/main" val="1641009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data is the S&amp;P 500 Stocks dataset from Kaggle — 15 years of daily trading data from January 2010 through December 2024."</a:t>
            </a:r>
          </a:p>
          <a:p>
            <a:r>
              <a:rPr lang="en-US" dirty="0"/>
              <a:t>Three tickers, deliberately chosen to represent different sector personalities..</a:t>
            </a:r>
          </a:p>
          <a:p>
            <a:endParaRPr lang="en-US" dirty="0"/>
          </a:p>
          <a:p>
            <a:r>
              <a:rPr lang="en-US" dirty="0"/>
              <a:t>ORCL: Oracle as a high-volatility tech name, recently transformed from a legacy database vendor into a cloud and AI infrastructure story. Strong directional trend during the test window.</a:t>
            </a:r>
          </a:p>
          <a:p>
            <a:endParaRPr lang="en-US" dirty="0"/>
          </a:p>
          <a:p>
            <a:r>
              <a:rPr lang="en-US" dirty="0"/>
              <a:t>MRK: Merck as a defensive name, its price behavior is driven primarily by clinical trial outcomes rather than broad market sentiment. I originally tried to use Johnson &amp; Johnson, but data coverage didn't fit my time window.</a:t>
            </a:r>
          </a:p>
          <a:p>
            <a:endParaRPr lang="en-US" dirty="0"/>
          </a:p>
          <a:p>
            <a:r>
              <a:rPr lang="en-US" dirty="0"/>
              <a:t>PEP: PepsiCo as the stable Consumer Staples control, widely regarded as a steady performer in the S&amp;P 500. Funny enough they experienced tremendous steady growth during this time.</a:t>
            </a:r>
          </a:p>
          <a:p>
            <a:endParaRPr lang="en-US" dirty="0"/>
          </a:p>
          <a:p>
            <a:r>
              <a:rPr lang="en-US" dirty="0"/>
              <a:t>Features: I used Adjusted Close, Open, High, and Low. I deliberately excluded Volume, it's not a pure price field and I felt it would have introduced unnecessary noise. Adjusted Close was preferred over raw Close because it handles splits, dividends, and share issuances correctly.</a:t>
            </a:r>
          </a:p>
          <a:p>
            <a:endParaRPr lang="en-US" dirty="0"/>
          </a:p>
          <a:p>
            <a:r>
              <a:rPr lang="en-US" dirty="0"/>
              <a:t>These three stocks give me three different bets on what kind of market behavior the LSTM might be able to learn from. Hopefully at least one gives me a nice guideline the LSTM model can build on</a:t>
            </a:r>
          </a:p>
          <a:p>
            <a:endParaRPr lang="en-US" dirty="0"/>
          </a:p>
        </p:txBody>
      </p:sp>
      <p:sp>
        <p:nvSpPr>
          <p:cNvPr id="4" name="Slide Number Placeholder 3"/>
          <p:cNvSpPr>
            <a:spLocks noGrp="1"/>
          </p:cNvSpPr>
          <p:nvPr>
            <p:ph type="sldNum" sz="quarter" idx="5"/>
          </p:nvPr>
        </p:nvSpPr>
        <p:spPr/>
        <p:txBody>
          <a:bodyPr/>
          <a:lstStyle/>
          <a:p>
            <a:fld id="{3B7BF37C-6942-4170-B96C-8A95FF79620C}" type="slidenum">
              <a:rPr lang="en-US" smtClean="0"/>
              <a:t>5</a:t>
            </a:fld>
            <a:endParaRPr lang="en-US"/>
          </a:p>
        </p:txBody>
      </p:sp>
    </p:spTree>
    <p:extLst>
      <p:ext uri="{BB962C8B-B14F-4D97-AF65-F5344CB8AC3E}">
        <p14:creationId xmlns:p14="http://schemas.microsoft.com/office/powerpoint/2010/main" val="2140009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three models, and each plays a specific role in the comparison.</a:t>
            </a:r>
          </a:p>
          <a:p>
            <a:endParaRPr lang="en-US" dirty="0"/>
          </a:p>
          <a:p>
            <a:r>
              <a:rPr lang="en-US" dirty="0"/>
              <a:t>Naive: First, the Naive Baseline, a persistence model. It predicts tomorrow's adjusted close as equal to today's. This is the floor. The simplest possible model available and it directly embodies the random walk implied by EMH. Everything has to beat this.</a:t>
            </a:r>
          </a:p>
          <a:p>
            <a:endParaRPr lang="en-US" dirty="0"/>
          </a:p>
          <a:p>
            <a:r>
              <a:rPr lang="en-US" dirty="0"/>
              <a:t>In code, that's literally one line — take the last value of the input window, inverse-transform it, that's your prediction.</a:t>
            </a:r>
          </a:p>
          <a:p>
            <a:endParaRPr lang="en-US" dirty="0"/>
          </a:p>
          <a:p>
            <a:r>
              <a:rPr lang="en-US" dirty="0"/>
              <a:t>Linear Regression: Second, Linear Regression, a Scikit-Learn implementation that flattens the sliding window and treats each historical day as an independent variable. This is the traditional ML benchmark, no sequential structure, no memory.</a:t>
            </a:r>
          </a:p>
          <a:p>
            <a:endParaRPr lang="en-US" dirty="0"/>
          </a:p>
          <a:p>
            <a:r>
              <a:rPr lang="en-US" dirty="0"/>
              <a:t>This is your standard LR code from every ML class here at K-State. Three lines of code, flatten, fit, predict. ChatGPT said that, and it fit, so I kept it.</a:t>
            </a:r>
          </a:p>
          <a:p>
            <a:endParaRPr lang="en-US" dirty="0"/>
          </a:p>
          <a:p>
            <a:r>
              <a:rPr lang="en-US" dirty="0"/>
              <a:t>LSTM: Third, the LSTM. Many-to-One architecture in </a:t>
            </a:r>
            <a:r>
              <a:rPr lang="en-US" dirty="0" err="1"/>
              <a:t>Keras</a:t>
            </a:r>
            <a:r>
              <a:rPr lang="en-US" dirty="0"/>
              <a:t> and TensorFlow. The architecture is intentionally lean one LSTM layer, dropout at 0.2 to mitigate the high market volatility, and a Dense output layer simply smashes everything into 1 output so we have our prediction.</a:t>
            </a:r>
          </a:p>
          <a:p>
            <a:endParaRPr lang="en-US" dirty="0"/>
          </a:p>
          <a:p>
            <a:r>
              <a:rPr lang="en-US" dirty="0"/>
              <a:t>You can see the </a:t>
            </a:r>
            <a:r>
              <a:rPr lang="en-US" dirty="0" err="1"/>
              <a:t>build_lstm_model</a:t>
            </a:r>
            <a:r>
              <a:rPr lang="en-US" dirty="0"/>
              <a:t> function right there. </a:t>
            </a:r>
            <a:r>
              <a:rPr lang="en-US" dirty="0" err="1"/>
              <a:t>Glorot</a:t>
            </a:r>
            <a:r>
              <a:rPr lang="en-US" dirty="0"/>
              <a:t>-uniform kernel initialization and orthogonal recurrent weights, this came from trying to make a stable starting point. The whole model is six lines.</a:t>
            </a:r>
          </a:p>
          <a:p>
            <a:r>
              <a:rPr lang="en-US" dirty="0"/>
              <a:t>Adam optimizer at learning rate .0001, gradient clipping at norm 1.0, early stopping with patience 50. This was meant to help give it a chance to learn instead of spinning it’s wheels and let me keep troubleshooting.</a:t>
            </a:r>
          </a:p>
          <a:p>
            <a:endParaRPr lang="en-US" dirty="0"/>
          </a:p>
          <a:p>
            <a:r>
              <a:rPr lang="en-US" dirty="0"/>
              <a:t>Why this design? It directly tests the </a:t>
            </a:r>
            <a:r>
              <a:rPr lang="en-US" dirty="0" err="1"/>
              <a:t>Guresen</a:t>
            </a:r>
            <a:r>
              <a:rPr lang="en-US" dirty="0"/>
              <a:t> finding, that less can be more in noisy environments. If the LSTM can find a signal anywhere, it should be able to find it here.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dirty="0">
              <a:solidFill>
                <a:srgbClr val="6B7280"/>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dirty="0">
              <a:solidFill>
                <a:srgbClr val="6B7280"/>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dirty="0">
              <a:solidFill>
                <a:srgbClr val="6B7280"/>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solidFill>
                  <a:srgbClr val="6B7280"/>
                </a:solidFill>
                <a:latin typeface="Calibri" pitchFamily="34" charset="0"/>
                <a:ea typeface="Calibri" pitchFamily="34" charset="-122"/>
                <a:cs typeface="Calibri" pitchFamily="34" charset="-120"/>
              </a:rPr>
              <a:t>Lookback windows tested: 10, 30, 60 trading days. Features: </a:t>
            </a:r>
            <a:r>
              <a:rPr lang="en-US" sz="1200" i="1" dirty="0" err="1">
                <a:solidFill>
                  <a:srgbClr val="6B7280"/>
                </a:solidFill>
                <a:latin typeface="Calibri" pitchFamily="34" charset="0"/>
                <a:ea typeface="Calibri" pitchFamily="34" charset="-122"/>
                <a:cs typeface="Calibri" pitchFamily="34" charset="-120"/>
              </a:rPr>
              <a:t>AdjClose</a:t>
            </a:r>
            <a:r>
              <a:rPr lang="en-US" sz="1200" i="1" dirty="0">
                <a:solidFill>
                  <a:srgbClr val="6B7280"/>
                </a:solidFill>
                <a:latin typeface="Calibri" pitchFamily="34" charset="0"/>
                <a:ea typeface="Calibri" pitchFamily="34" charset="-122"/>
                <a:cs typeface="Calibri" pitchFamily="34" charset="-120"/>
              </a:rPr>
              <a:t>, Open, High, Low. </a:t>
            </a:r>
            <a:r>
              <a:rPr lang="en-US" sz="1200" i="1" dirty="0" err="1">
                <a:solidFill>
                  <a:srgbClr val="6B7280"/>
                </a:solidFill>
                <a:latin typeface="Calibri" pitchFamily="34" charset="0"/>
                <a:ea typeface="Calibri" pitchFamily="34" charset="-122"/>
                <a:cs typeface="Calibri" pitchFamily="34" charset="-120"/>
              </a:rPr>
              <a:t>MinMaxScaler</a:t>
            </a:r>
            <a:r>
              <a:rPr lang="en-US" sz="1200" i="1" dirty="0">
                <a:solidFill>
                  <a:srgbClr val="6B7280"/>
                </a:solidFill>
                <a:latin typeface="Calibri" pitchFamily="34" charset="0"/>
                <a:ea typeface="Calibri" pitchFamily="34" charset="-122"/>
                <a:cs typeface="Calibri" pitchFamily="34" charset="-120"/>
              </a:rPr>
              <a:t> fit on training partition only (no leakage).</a:t>
            </a:r>
            <a:endParaRPr lang="en-US" sz="1200" dirty="0"/>
          </a:p>
          <a:p>
            <a:endParaRPr lang="en-US" dirty="0"/>
          </a:p>
        </p:txBody>
      </p:sp>
      <p:sp>
        <p:nvSpPr>
          <p:cNvPr id="4" name="Slide Number Placeholder 3"/>
          <p:cNvSpPr>
            <a:spLocks noGrp="1"/>
          </p:cNvSpPr>
          <p:nvPr>
            <p:ph type="sldNum" sz="quarter" idx="5"/>
          </p:nvPr>
        </p:nvSpPr>
        <p:spPr/>
        <p:txBody>
          <a:bodyPr/>
          <a:lstStyle/>
          <a:p>
            <a:fld id="{3B7BF37C-6942-4170-B96C-8A95FF79620C}" type="slidenum">
              <a:rPr lang="en-US" smtClean="0"/>
              <a:t>6</a:t>
            </a:fld>
            <a:endParaRPr lang="en-US"/>
          </a:p>
        </p:txBody>
      </p:sp>
    </p:spTree>
    <p:extLst>
      <p:ext uri="{BB962C8B-B14F-4D97-AF65-F5344CB8AC3E}">
        <p14:creationId xmlns:p14="http://schemas.microsoft.com/office/powerpoint/2010/main" val="2001189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how I measured performance, and why these specific choices matter.</a:t>
            </a:r>
          </a:p>
          <a:p>
            <a:endParaRPr lang="en-US" dirty="0"/>
          </a:p>
          <a:p>
            <a:r>
              <a:rPr lang="en-US" dirty="0"/>
              <a:t>Design: I used k=10 </a:t>
            </a:r>
            <a:r>
              <a:rPr lang="en-US" dirty="0" err="1"/>
              <a:t>TimeSeriesSplit</a:t>
            </a:r>
            <a:r>
              <a:rPr lang="en-US" dirty="0"/>
              <a:t> cross-validation, NOT standard random k-fold. With time series data, random shuffling introduces look-ahead bias that completely invalidates the evaluation. </a:t>
            </a:r>
            <a:r>
              <a:rPr lang="en-US" dirty="0" err="1"/>
              <a:t>TimeSeriesSplit</a:t>
            </a:r>
            <a:r>
              <a:rPr lang="en-US" dirty="0"/>
              <a:t> walks forward in time, simulating how a model would actually be used. Very </a:t>
            </a:r>
            <a:r>
              <a:rPr lang="en-US" dirty="0" err="1"/>
              <a:t>very</a:t>
            </a:r>
            <a:r>
              <a:rPr lang="en-US" dirty="0"/>
              <a:t> important here.</a:t>
            </a:r>
          </a:p>
          <a:p>
            <a:endParaRPr lang="en-US" dirty="0"/>
          </a:p>
          <a:p>
            <a:r>
              <a:rPr lang="en-US" dirty="0"/>
              <a:t>70/15/15 chronological split,  preserves temporal order across all 15 years.</a:t>
            </a:r>
          </a:p>
          <a:p>
            <a:endParaRPr lang="en-US" dirty="0"/>
          </a:p>
          <a:p>
            <a:r>
              <a:rPr lang="en-US" dirty="0"/>
              <a:t>The code at the bottom shows exactly how I prevented data leakage. The scaler is fit on the training partition ONLY, then applied to test. No future information ever touches model fitting. Otherwise we hit that data leakage issue again.</a:t>
            </a:r>
          </a:p>
          <a:p>
            <a:endParaRPr lang="en-US" dirty="0"/>
          </a:p>
          <a:p>
            <a:r>
              <a:rPr lang="en-US" dirty="0"/>
              <a:t>Three seeds: Because LSTM weight initialization is stochastic, a single seed could give you a misleading picture. So I ran every fold under three seeds: 42, 99, and 123. And 42 while standard was a doozy.</a:t>
            </a:r>
          </a:p>
          <a:p>
            <a:endParaRPr lang="en-US" dirty="0"/>
          </a:p>
          <a:p>
            <a:r>
              <a:rPr lang="en-US" dirty="0"/>
              <a:t>Metrics: MAE for interpretable dollar-value error. Easy to read. RMSE to penalize large outliers. Let’s me see if something is wildly wrong. And MAPE as my primary metric, because it's scale-independent, that's what lets me compare across stocks at very different price levels."</a:t>
            </a:r>
          </a:p>
          <a:p>
            <a:endParaRPr lang="en-US" dirty="0"/>
          </a:p>
          <a:p>
            <a:r>
              <a:rPr lang="en-US" dirty="0"/>
              <a:t>Test: One-sided paired t-test, alpha at 0.0083 after Bonferroni correction. We'll see the actual code for that on the verdict slide.</a:t>
            </a:r>
          </a:p>
          <a:p>
            <a:endParaRPr lang="en-US" dirty="0"/>
          </a:p>
          <a:p>
            <a:r>
              <a:rPr lang="en-US" dirty="0"/>
              <a:t>That's the test fixture. Now the results.</a:t>
            </a:r>
          </a:p>
          <a:p>
            <a:endParaRPr lang="en-US" dirty="0"/>
          </a:p>
        </p:txBody>
      </p:sp>
      <p:sp>
        <p:nvSpPr>
          <p:cNvPr id="4" name="Slide Number Placeholder 3"/>
          <p:cNvSpPr>
            <a:spLocks noGrp="1"/>
          </p:cNvSpPr>
          <p:nvPr>
            <p:ph type="sldNum" sz="quarter" idx="5"/>
          </p:nvPr>
        </p:nvSpPr>
        <p:spPr/>
        <p:txBody>
          <a:bodyPr/>
          <a:lstStyle/>
          <a:p>
            <a:fld id="{3B7BF37C-6942-4170-B96C-8A95FF79620C}" type="slidenum">
              <a:rPr lang="en-US" smtClean="0"/>
              <a:t>7</a:t>
            </a:fld>
            <a:endParaRPr lang="en-US"/>
          </a:p>
        </p:txBody>
      </p:sp>
    </p:spTree>
    <p:extLst>
      <p:ext uri="{BB962C8B-B14F-4D97-AF65-F5344CB8AC3E}">
        <p14:creationId xmlns:p14="http://schemas.microsoft.com/office/powerpoint/2010/main" val="1822055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Here’s where I was a bit embarrassed.</a:t>
            </a:r>
          </a:p>
          <a:p>
            <a:endParaRPr lang="en-US" dirty="0"/>
          </a:p>
          <a:p>
            <a:r>
              <a:rPr lang="en-US" dirty="0"/>
              <a:t>Before I ran the full k-fold cross-validation, I did a single holdout test, kind of an initial sanity check. I did tons of tuning in my </a:t>
            </a:r>
            <a:r>
              <a:rPr lang="en-US" dirty="0" err="1"/>
              <a:t>jupyter</a:t>
            </a:r>
            <a:r>
              <a:rPr lang="en-US" dirty="0"/>
              <a:t> notebook, and honestly, this was the best I got it.</a:t>
            </a:r>
          </a:p>
          <a:p>
            <a:r>
              <a:rPr lang="en-US" dirty="0"/>
              <a:t>Three things jump out.</a:t>
            </a:r>
          </a:p>
          <a:p>
            <a:r>
              <a:rPr lang="en-US" dirty="0"/>
              <a:t>Point 1: First: the Naive Baseline is already coming in under 1.3% MAPE on every stock and every window. That's a really tough floor to beat. </a:t>
            </a:r>
          </a:p>
          <a:p>
            <a:r>
              <a:rPr lang="en-US" dirty="0"/>
              <a:t>Point 2: Second: the LSTM on a single seed comes in 10 to 17 times worse. Now, that number is misleading on its own it's a single seed without the multi-seed cross-validation that follows. Either way 10% off is pretty bad.</a:t>
            </a:r>
          </a:p>
          <a:p>
            <a:endParaRPr lang="en-US" dirty="0"/>
          </a:p>
          <a:p>
            <a:r>
              <a:rPr lang="en-US" dirty="0"/>
              <a:t>Point 3: Third — and this is the most theoretically interesting — the 30-day and 60-day windows failed to converge entirely. That's what Saud and Shakya predicted in 2020: windows beyond 10 to 15 days actively degrade short-horizon prediction. So this single holdout already validates my decision to focus the rest of the analysis on the 10-day window.</a:t>
            </a:r>
          </a:p>
          <a:p>
            <a:endParaRPr lang="en-US" dirty="0"/>
          </a:p>
          <a:p>
            <a:r>
              <a:rPr lang="en-US" dirty="0"/>
              <a:t>Within my additional tests, I was able to get the ORCL LSTM down to 2.42%, Still more than our baseline, but it was enough for me to keep playing with the EPOCH, </a:t>
            </a:r>
            <a:r>
              <a:rPr lang="en-US" dirty="0" err="1"/>
              <a:t>batch_size</a:t>
            </a:r>
            <a:r>
              <a:rPr lang="en-US" dirty="0"/>
              <a:t> and Patience to get finer results.</a:t>
            </a:r>
          </a:p>
          <a:p>
            <a:endParaRPr lang="en-US" dirty="0"/>
          </a:p>
          <a:p>
            <a:endParaRPr lang="en-US" dirty="0"/>
          </a:p>
          <a:p>
            <a:r>
              <a:rPr lang="en-US" dirty="0"/>
              <a:t>CLOSE: "Now let's see what happens when I run this rigorously across multiple seeds and folds."</a:t>
            </a:r>
          </a:p>
          <a:p>
            <a:endParaRPr lang="en-US" dirty="0"/>
          </a:p>
        </p:txBody>
      </p:sp>
      <p:sp>
        <p:nvSpPr>
          <p:cNvPr id="4" name="Slide Number Placeholder 3"/>
          <p:cNvSpPr>
            <a:spLocks noGrp="1"/>
          </p:cNvSpPr>
          <p:nvPr>
            <p:ph type="sldNum" sz="quarter" idx="5"/>
          </p:nvPr>
        </p:nvSpPr>
        <p:spPr/>
        <p:txBody>
          <a:bodyPr/>
          <a:lstStyle/>
          <a:p>
            <a:fld id="{3B7BF37C-6942-4170-B96C-8A95FF79620C}" type="slidenum">
              <a:rPr lang="en-US" smtClean="0"/>
              <a:t>8</a:t>
            </a:fld>
            <a:endParaRPr lang="en-US"/>
          </a:p>
        </p:txBody>
      </p:sp>
    </p:spTree>
    <p:extLst>
      <p:ext uri="{BB962C8B-B14F-4D97-AF65-F5344CB8AC3E}">
        <p14:creationId xmlns:p14="http://schemas.microsoft.com/office/powerpoint/2010/main" val="1441386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we're in the formal k-fold cross-validation. What you're looking at is per-fold MAPE — fold 1 through fold 10 — across all three seeds.</a:t>
            </a:r>
          </a:p>
          <a:p>
            <a:endParaRPr lang="en-US" dirty="0"/>
          </a:p>
          <a:p>
            <a:r>
              <a:rPr lang="en-US" dirty="0"/>
              <a:t>ORCL on top, PEP on the bottom. Naive Baseline in dark navy, Linear Regression in teal, LSTM in orange.</a:t>
            </a:r>
          </a:p>
          <a:p>
            <a:endParaRPr lang="en-US" dirty="0"/>
          </a:p>
          <a:p>
            <a:r>
              <a:rPr lang="en-US" dirty="0"/>
              <a:t>And the visual story is the result. The Naive and Linear Regression lines hug the floor across every single fold, basically flat near the bottom. The LSTM spikes  and notice that the spikes move around between seeds. Seed 42 has its big peak in fold 8 for ORCL. Seed 99 has it in fold 10. Seed 123 has it in fold 8 again."</a:t>
            </a:r>
          </a:p>
          <a:p>
            <a:endParaRPr lang="en-US" dirty="0"/>
          </a:p>
          <a:p>
            <a:r>
              <a:rPr lang="en-US" dirty="0"/>
              <a:t>When I average across seeds, LSTM mean MAPE comes in at 3.21% for ORCL, 3.25% for MRK, 3.19% for PEP.</a:t>
            </a:r>
          </a:p>
          <a:p>
            <a:endParaRPr lang="en-US" dirty="0"/>
          </a:p>
          <a:p>
            <a:r>
              <a:rPr lang="en-US" dirty="0"/>
              <a:t>Compare that to Naïve: between 0.74% and 1.12%. The LSTM is consistently 3-4 times worse on average, and it has these wild outlier spikes on top of that.</a:t>
            </a:r>
          </a:p>
          <a:p>
            <a:endParaRPr lang="en-US" dirty="0"/>
          </a:p>
          <a:p>
            <a:r>
              <a:rPr lang="en-US" dirty="0"/>
              <a:t>The gap is pretty tough, consistent, and it's in the wrong direction for my hypothesis.</a:t>
            </a:r>
          </a:p>
          <a:p>
            <a:endParaRPr lang="en-US" dirty="0"/>
          </a:p>
        </p:txBody>
      </p:sp>
      <p:sp>
        <p:nvSpPr>
          <p:cNvPr id="4" name="Slide Number Placeholder 3"/>
          <p:cNvSpPr>
            <a:spLocks noGrp="1"/>
          </p:cNvSpPr>
          <p:nvPr>
            <p:ph type="sldNum" sz="quarter" idx="5"/>
          </p:nvPr>
        </p:nvSpPr>
        <p:spPr/>
        <p:txBody>
          <a:bodyPr/>
          <a:lstStyle/>
          <a:p>
            <a:fld id="{3B7BF37C-6942-4170-B96C-8A95FF79620C}" type="slidenum">
              <a:rPr lang="en-US" smtClean="0"/>
              <a:t>9</a:t>
            </a:fld>
            <a:endParaRPr lang="en-US"/>
          </a:p>
        </p:txBody>
      </p:sp>
    </p:spTree>
    <p:extLst>
      <p:ext uri="{BB962C8B-B14F-4D97-AF65-F5344CB8AC3E}">
        <p14:creationId xmlns:p14="http://schemas.microsoft.com/office/powerpoint/2010/main" val="1981577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 chart: Each cluster on this chart is the mean MAPE for a stock, broken out by seed. The Naive and Linear Regression bars are nearly invisible because they're deterministic, they give exactly the same answer regardless of seed. Standard deviation is zero across the board.</a:t>
            </a:r>
          </a:p>
          <a:p>
            <a:endParaRPr lang="en-US" dirty="0"/>
          </a:p>
          <a:p>
            <a:r>
              <a:rPr lang="en-US" dirty="0"/>
              <a:t>The LSTM bars are NOT consistent. PEP at seed 42 hits 4.43% mean MAPE. PEP at seed 99 drops to 2.13%. That's a swing of more than a full percentage point, comparable to the Naive Baseline's entire MAPE.</a:t>
            </a:r>
          </a:p>
          <a:p>
            <a:r>
              <a:rPr lang="en-US" dirty="0"/>
              <a:t>To be brutally honest, I’m still trying to understand that swing.</a:t>
            </a:r>
          </a:p>
          <a:p>
            <a:endParaRPr lang="en-US" dirty="0"/>
          </a:p>
          <a:p>
            <a:r>
              <a:rPr lang="en-US" dirty="0"/>
              <a:t>What I absolutely have noticed, is that seed 42 was systematically the worst case across all three stocks. If I had only used a single seed, and 42 is the most common 'random' seed in ML, I would have reported a misleadingly bad LSTM result.</a:t>
            </a:r>
          </a:p>
          <a:p>
            <a:endParaRPr lang="en-US" dirty="0"/>
          </a:p>
          <a:p>
            <a:r>
              <a:rPr lang="en-US" dirty="0"/>
              <a:t>Multi-seed evaluation isn't optional for stochastic models. It changes what you can claim.</a:t>
            </a:r>
          </a:p>
          <a:p>
            <a:endParaRPr lang="en-US" dirty="0"/>
          </a:p>
        </p:txBody>
      </p:sp>
      <p:sp>
        <p:nvSpPr>
          <p:cNvPr id="4" name="Slide Number Placeholder 3"/>
          <p:cNvSpPr>
            <a:spLocks noGrp="1"/>
          </p:cNvSpPr>
          <p:nvPr>
            <p:ph type="sldNum" sz="quarter" idx="5"/>
          </p:nvPr>
        </p:nvSpPr>
        <p:spPr/>
        <p:txBody>
          <a:bodyPr/>
          <a:lstStyle/>
          <a:p>
            <a:fld id="{3B7BF37C-6942-4170-B96C-8A95FF79620C}" type="slidenum">
              <a:rPr lang="en-US" smtClean="0"/>
              <a:t>10</a:t>
            </a:fld>
            <a:endParaRPr lang="en-US"/>
          </a:p>
        </p:txBody>
      </p:sp>
    </p:spTree>
    <p:extLst>
      <p:ext uri="{BB962C8B-B14F-4D97-AF65-F5344CB8AC3E}">
        <p14:creationId xmlns:p14="http://schemas.microsoft.com/office/powerpoint/2010/main" val="3833500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there we have it. The null hypothesis cannot be rejected. Across all stocks, all seeds, all windows, neither the LSTM nor Linear Regression beat the Naive Baseline. p-values ranged from 0.9657 all the way to 0.9999."</a:t>
            </a:r>
          </a:p>
          <a:p>
            <a:endParaRPr lang="en-US" dirty="0"/>
          </a:p>
          <a:p>
            <a:r>
              <a:rPr lang="en-US" dirty="0"/>
              <a:t>The code on the right shows exactly what's running. Two key lines:</a:t>
            </a:r>
          </a:p>
          <a:p>
            <a:endParaRPr lang="en-US" dirty="0"/>
          </a:p>
          <a:p>
            <a:r>
              <a:rPr lang="en-US" dirty="0"/>
              <a:t>"</a:t>
            </a:r>
            <a:r>
              <a:rPr lang="en-US" dirty="0" err="1"/>
              <a:t>alpha_adj</a:t>
            </a:r>
            <a:r>
              <a:rPr lang="en-US" dirty="0"/>
              <a:t> = alpha / </a:t>
            </a:r>
            <a:r>
              <a:rPr lang="en-US" dirty="0" err="1"/>
              <a:t>n_comparisons</a:t>
            </a:r>
            <a:r>
              <a:rPr lang="en-US" dirty="0"/>
              <a:t> — that's the Bonferroni correction. Six comparisons, alpha 0.05, gives me 0.0083."</a:t>
            </a:r>
          </a:p>
          <a:p>
            <a:endParaRPr lang="en-US" dirty="0"/>
          </a:p>
          <a:p>
            <a:r>
              <a:rPr lang="en-US" dirty="0"/>
              <a:t>"And </a:t>
            </a:r>
            <a:r>
              <a:rPr lang="en-US" dirty="0" err="1"/>
              <a:t>ttest_rel</a:t>
            </a:r>
            <a:r>
              <a:rPr lang="en-US" dirty="0"/>
              <a:t> with alternative='less' — that's the one-sided directional test. SciPy returns a t-statistic and p-value for the hypothesis that </a:t>
            </a:r>
            <a:r>
              <a:rPr lang="en-US" dirty="0" err="1"/>
              <a:t>combined_a</a:t>
            </a:r>
            <a:r>
              <a:rPr lang="en-US" dirty="0"/>
              <a:t> is LESS than </a:t>
            </a:r>
            <a:r>
              <a:rPr lang="en-US" dirty="0" err="1"/>
              <a:t>combined_b</a:t>
            </a:r>
            <a:r>
              <a:rPr lang="en-US" dirty="0"/>
              <a:t>. If LSTM were beating Naive, I'd see a tiny p-value. I see 0.9999 — the test is screaming the opposite direction."</a:t>
            </a:r>
          </a:p>
          <a:p>
            <a:endParaRPr lang="en-US" dirty="0"/>
          </a:p>
          <a:p>
            <a:r>
              <a:rPr lang="en-US" dirty="0"/>
              <a:t>The interpretive point: "Both proposed models performed in the OPPOSITE direction of my alternative hypothesis. They didn't fail to beat the baseline by a hair — they performed statistically significantly WORSE."</a:t>
            </a:r>
          </a:p>
          <a:p>
            <a:endParaRPr lang="en-US" dirty="0"/>
          </a:p>
          <a:p>
            <a:r>
              <a:rPr lang="en-US" dirty="0"/>
              <a:t>"So the answer to my research question is unambiguous. Under a price-only feature constraint, an LSTM cannot extract enough signal from past prices to outperform the assumption that tomorrow's price equals today's."</a:t>
            </a:r>
          </a:p>
          <a:p>
            <a:endParaRPr lang="en-US" dirty="0"/>
          </a:p>
          <a:p>
            <a:r>
              <a:rPr lang="en-US" dirty="0"/>
              <a:t>CLOSE: "That's the empirical answer. Next slide is what it MEANS."</a:t>
            </a:r>
          </a:p>
          <a:p>
            <a:endParaRPr lang="en-US" dirty="0"/>
          </a:p>
        </p:txBody>
      </p:sp>
      <p:sp>
        <p:nvSpPr>
          <p:cNvPr id="4" name="Slide Number Placeholder 3"/>
          <p:cNvSpPr>
            <a:spLocks noGrp="1"/>
          </p:cNvSpPr>
          <p:nvPr>
            <p:ph type="sldNum" sz="quarter" idx="5"/>
          </p:nvPr>
        </p:nvSpPr>
        <p:spPr/>
        <p:txBody>
          <a:bodyPr/>
          <a:lstStyle/>
          <a:p>
            <a:fld id="{3B7BF37C-6942-4170-B96C-8A95FF79620C}" type="slidenum">
              <a:rPr lang="en-US" smtClean="0"/>
              <a:t>11</a:t>
            </a:fld>
            <a:endParaRPr lang="en-US"/>
          </a:p>
        </p:txBody>
      </p:sp>
    </p:spTree>
    <p:extLst>
      <p:ext uri="{BB962C8B-B14F-4D97-AF65-F5344CB8AC3E}">
        <p14:creationId xmlns:p14="http://schemas.microsoft.com/office/powerpoint/2010/main" val="17531325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a:t>
            </a:r>
          </a:p>
          <a:p>
            <a:r>
              <a:rPr lang="en-US" dirty="0"/>
              <a:t>"Three things stood out."</a:t>
            </a:r>
          </a:p>
          <a:p>
            <a:endParaRPr lang="en-US" dirty="0"/>
          </a:p>
          <a:p>
            <a:r>
              <a:rPr lang="en-US" dirty="0"/>
              <a:t>Point 1: First, the LSTM's convergence behavior under the price-only constraint was fragile. The 30 and 60-day windows kept failing to converge entirely. And small changes in learning rate, dropout, and </a:t>
            </a:r>
            <a:r>
              <a:rPr lang="en-US" dirty="0" err="1"/>
              <a:t>clipnorm</a:t>
            </a:r>
            <a:r>
              <a:rPr lang="en-US" dirty="0"/>
              <a:t> produced wildly different MAPE outcomes. Tuning was less about finding the optimum and more about finding settings that didn't outright collapse.</a:t>
            </a:r>
          </a:p>
          <a:p>
            <a:endParaRPr lang="en-US" dirty="0"/>
          </a:p>
          <a:p>
            <a:r>
              <a:rPr lang="en-US" dirty="0"/>
              <a:t>Point 2: Second — seed sensitivity was a killer. Same architecture, same data, same hyperparameters it varied </a:t>
            </a:r>
            <a:r>
              <a:rPr lang="en-US" dirty="0" err="1"/>
              <a:t>desparately</a:t>
            </a:r>
            <a:r>
              <a:rPr lang="en-US" dirty="0"/>
              <a:t> based on the seed. I did my initial baseline testing frequently in seed 42, and I don’t feel like I was able to really move the needle until I tried a different seed. That was the moment I realized that single-seed reporting in ML is genuinely dangerous. A single result could go either way and tell a misleading story."</a:t>
            </a:r>
          </a:p>
          <a:p>
            <a:endParaRPr lang="en-US" dirty="0"/>
          </a:p>
          <a:p>
            <a:r>
              <a:rPr lang="en-US" dirty="0"/>
              <a:t>Point 3: Third, this couldn’t use the standard evaluation framework that we’ve used elsewhere. Figuring out how to a timeseries split for evaluation, be able to read it and understand what was done, took way more energy than I’d like to admit. building the evaluation framework was harder than building the model itself. And honestly, none of the GEN AI did a good job at explaining my questions, so it was like beating my head against a wall. keeping fold ordering chronological really shouldn’t have been as difficult.</a:t>
            </a:r>
          </a:p>
          <a:p>
            <a:endParaRPr lang="en-US" dirty="0"/>
          </a:p>
          <a:p>
            <a:r>
              <a:rPr lang="en-US" dirty="0"/>
              <a:t>"Honestly, the modeling was the easy part. The tuning was the fun part. The methodology was the tough part.."</a:t>
            </a:r>
          </a:p>
          <a:p>
            <a:endParaRPr lang="en-US" dirty="0"/>
          </a:p>
        </p:txBody>
      </p:sp>
      <p:sp>
        <p:nvSpPr>
          <p:cNvPr id="4" name="Slide Number Placeholder 3"/>
          <p:cNvSpPr>
            <a:spLocks noGrp="1"/>
          </p:cNvSpPr>
          <p:nvPr>
            <p:ph type="sldNum" sz="quarter" idx="5"/>
          </p:nvPr>
        </p:nvSpPr>
        <p:spPr/>
        <p:txBody>
          <a:bodyPr/>
          <a:lstStyle/>
          <a:p>
            <a:fld id="{3B7BF37C-6942-4170-B96C-8A95FF79620C}" type="slidenum">
              <a:rPr lang="en-US" smtClean="0"/>
              <a:t>14</a:t>
            </a:fld>
            <a:endParaRPr lang="en-US"/>
          </a:p>
        </p:txBody>
      </p:sp>
    </p:spTree>
    <p:extLst>
      <p:ext uri="{BB962C8B-B14F-4D97-AF65-F5344CB8AC3E}">
        <p14:creationId xmlns:p14="http://schemas.microsoft.com/office/powerpoint/2010/main" val="24058257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5/7/2026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5/7/2026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5/7/2026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5/7/2026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5/7/2026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5/7/2026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5/7/2026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BE3BA-95D5-6AC5-CF7C-25113308C9D8}"/>
              </a:ext>
            </a:extLst>
          </p:cNvPr>
          <p:cNvSpPr>
            <a:spLocks noGrp="1"/>
          </p:cNvSpPr>
          <p:nvPr>
            <p:ph type="ctrTitle"/>
          </p:nvPr>
        </p:nvSpPr>
        <p:spPr>
          <a:xfrm>
            <a:off x="1154955" y="369545"/>
            <a:ext cx="8825658" cy="2677648"/>
          </a:xfrm>
        </p:spPr>
        <p:txBody>
          <a:bodyPr/>
          <a:lstStyle/>
          <a:p>
            <a:r>
              <a:rPr lang="en-US" sz="3800" dirty="0">
                <a:latin typeface="Georgia" panose="02040502050405020303" pitchFamily="18" charset="0"/>
              </a:rPr>
              <a:t>Evaluating the Impact of Historical Lookback Windows on LSTM Predictive Accuracy</a:t>
            </a:r>
          </a:p>
        </p:txBody>
      </p:sp>
      <p:sp>
        <p:nvSpPr>
          <p:cNvPr id="4" name="TextBox 3">
            <a:extLst>
              <a:ext uri="{FF2B5EF4-FFF2-40B4-BE49-F238E27FC236}">
                <a16:creationId xmlns:a16="http://schemas.microsoft.com/office/drawing/2014/main" id="{9A7FCC91-F4D5-EE9D-5E0C-CD58236480A1}"/>
              </a:ext>
            </a:extLst>
          </p:cNvPr>
          <p:cNvSpPr txBox="1"/>
          <p:nvPr/>
        </p:nvSpPr>
        <p:spPr>
          <a:xfrm>
            <a:off x="1154955" y="3047193"/>
            <a:ext cx="8958637" cy="369332"/>
          </a:xfrm>
          <a:prstGeom prst="rect">
            <a:avLst/>
          </a:prstGeom>
          <a:noFill/>
        </p:spPr>
        <p:txBody>
          <a:bodyPr wrap="square" rtlCol="0">
            <a:spAutoFit/>
          </a:bodyPr>
          <a:lstStyle/>
          <a:p>
            <a:r>
              <a:rPr lang="en-US" i="1" dirty="0">
                <a:solidFill>
                  <a:schemeClr val="bg1"/>
                </a:solidFill>
                <a:latin typeface="Georgia" panose="02040502050405020303" pitchFamily="18" charset="0"/>
              </a:rPr>
              <a:t>Across the Technology, Healthcare, and Consumer Staples Sectors</a:t>
            </a:r>
          </a:p>
        </p:txBody>
      </p:sp>
      <p:sp>
        <p:nvSpPr>
          <p:cNvPr id="5" name="TextBox 4">
            <a:extLst>
              <a:ext uri="{FF2B5EF4-FFF2-40B4-BE49-F238E27FC236}">
                <a16:creationId xmlns:a16="http://schemas.microsoft.com/office/drawing/2014/main" id="{EB035ABC-1BCD-61C3-2730-39CF8D30BAC4}"/>
              </a:ext>
            </a:extLst>
          </p:cNvPr>
          <p:cNvSpPr txBox="1"/>
          <p:nvPr/>
        </p:nvSpPr>
        <p:spPr>
          <a:xfrm>
            <a:off x="1154955" y="4410637"/>
            <a:ext cx="5737412" cy="923330"/>
          </a:xfrm>
          <a:prstGeom prst="rect">
            <a:avLst/>
          </a:prstGeom>
          <a:noFill/>
        </p:spPr>
        <p:txBody>
          <a:bodyPr wrap="square" rtlCol="0">
            <a:spAutoFit/>
          </a:bodyPr>
          <a:lstStyle/>
          <a:p>
            <a:r>
              <a:rPr lang="en-US" dirty="0">
                <a:solidFill>
                  <a:schemeClr val="bg1"/>
                </a:solidFill>
                <a:latin typeface="Georgia" panose="02040502050405020303" pitchFamily="18" charset="0"/>
              </a:rPr>
              <a:t>Chalmer Diante Calhoun</a:t>
            </a:r>
          </a:p>
          <a:p>
            <a:r>
              <a:rPr lang="en-US" dirty="0">
                <a:solidFill>
                  <a:schemeClr val="bg1"/>
                </a:solidFill>
                <a:latin typeface="Georgia" panose="02040502050405020303" pitchFamily="18" charset="0"/>
              </a:rPr>
              <a:t>M.S. Data Analytics - Kansas State University</a:t>
            </a:r>
          </a:p>
          <a:p>
            <a:r>
              <a:rPr lang="en-US" dirty="0">
                <a:solidFill>
                  <a:schemeClr val="bg1"/>
                </a:solidFill>
                <a:latin typeface="Georgia" panose="02040502050405020303" pitchFamily="18" charset="0"/>
              </a:rPr>
              <a:t>CIS 732</a:t>
            </a:r>
          </a:p>
        </p:txBody>
      </p:sp>
    </p:spTree>
    <p:extLst>
      <p:ext uri="{BB962C8B-B14F-4D97-AF65-F5344CB8AC3E}">
        <p14:creationId xmlns:p14="http://schemas.microsoft.com/office/powerpoint/2010/main" val="3425378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a:extLst>
              <a:ext uri="{FF2B5EF4-FFF2-40B4-BE49-F238E27FC236}">
                <a16:creationId xmlns:a16="http://schemas.microsoft.com/office/drawing/2014/main" id="{62CA6C38-648E-6C25-6363-B073F60AF472}"/>
              </a:ext>
            </a:extLst>
          </p:cNvPr>
          <p:cNvSpPr/>
          <p:nvPr/>
        </p:nvSpPr>
        <p:spPr>
          <a:xfrm>
            <a:off x="925157" y="1259002"/>
            <a:ext cx="5170843" cy="1233185"/>
          </a:xfrm>
          <a:prstGeom prst="rect">
            <a:avLst/>
          </a:prstGeom>
          <a:noFill/>
          <a:ln/>
        </p:spPr>
        <p:txBody>
          <a:bodyPr wrap="square" lIns="0" tIns="0" rIns="0" bIns="0" rtlCol="0" anchor="ctr"/>
          <a:lstStyle/>
          <a:p>
            <a:pPr marL="0" indent="0" algn="ctr">
              <a:buNone/>
            </a:pPr>
            <a:r>
              <a:rPr lang="en-US" sz="3000" b="1" dirty="0">
                <a:solidFill>
                  <a:schemeClr val="bg1"/>
                </a:solidFill>
                <a:latin typeface="Georgia" pitchFamily="34" charset="0"/>
                <a:ea typeface="Georgia" pitchFamily="34" charset="-122"/>
                <a:cs typeface="Georgia" pitchFamily="34" charset="-120"/>
              </a:rPr>
              <a:t>Why this question matters now</a:t>
            </a:r>
            <a:endParaRPr lang="en-US" sz="3000" dirty="0">
              <a:solidFill>
                <a:schemeClr val="bg1"/>
              </a:solidFill>
            </a:endParaRPr>
          </a:p>
        </p:txBody>
      </p:sp>
      <p:sp>
        <p:nvSpPr>
          <p:cNvPr id="5" name="Text 0">
            <a:extLst>
              <a:ext uri="{FF2B5EF4-FFF2-40B4-BE49-F238E27FC236}">
                <a16:creationId xmlns:a16="http://schemas.microsoft.com/office/drawing/2014/main" id="{2A44619A-590E-60F1-9905-2E37A68DF540}"/>
              </a:ext>
            </a:extLst>
          </p:cNvPr>
          <p:cNvSpPr/>
          <p:nvPr/>
        </p:nvSpPr>
        <p:spPr>
          <a:xfrm>
            <a:off x="692075" y="571948"/>
            <a:ext cx="10972800" cy="292608"/>
          </a:xfrm>
          <a:prstGeom prst="rect">
            <a:avLst/>
          </a:prstGeom>
          <a:noFill/>
          <a:ln/>
        </p:spPr>
        <p:txBody>
          <a:bodyPr wrap="square" lIns="0" tIns="0" rIns="0" bIns="0" rtlCol="0" anchor="ctr"/>
          <a:lstStyle/>
          <a:p>
            <a:pPr marL="0" indent="0">
              <a:buNone/>
            </a:pPr>
            <a:r>
              <a:rPr lang="en-US" b="1" kern="0" spc="400" dirty="0">
                <a:solidFill>
                  <a:schemeClr val="tx2">
                    <a:lumMod val="20000"/>
                    <a:lumOff val="80000"/>
                  </a:schemeClr>
                </a:solidFill>
                <a:latin typeface="Calibri" pitchFamily="34" charset="0"/>
                <a:ea typeface="Calibri" pitchFamily="34" charset="-122"/>
                <a:cs typeface="Calibri" pitchFamily="34" charset="-120"/>
              </a:rPr>
              <a:t>PROBLEM &amp; MOTIVATION</a:t>
            </a:r>
            <a:endParaRPr lang="en-US" b="1" dirty="0">
              <a:solidFill>
                <a:schemeClr val="tx2">
                  <a:lumMod val="20000"/>
                  <a:lumOff val="80000"/>
                </a:schemeClr>
              </a:solidFill>
            </a:endParaRPr>
          </a:p>
        </p:txBody>
      </p:sp>
      <p:sp>
        <p:nvSpPr>
          <p:cNvPr id="6" name="Text 2">
            <a:extLst>
              <a:ext uri="{FF2B5EF4-FFF2-40B4-BE49-F238E27FC236}">
                <a16:creationId xmlns:a16="http://schemas.microsoft.com/office/drawing/2014/main" id="{602FAC39-6B47-D065-55BE-51F0645AEC62}"/>
              </a:ext>
            </a:extLst>
          </p:cNvPr>
          <p:cNvSpPr/>
          <p:nvPr/>
        </p:nvSpPr>
        <p:spPr>
          <a:xfrm>
            <a:off x="729727" y="2104016"/>
            <a:ext cx="5448748" cy="3606501"/>
          </a:xfrm>
          <a:prstGeom prst="rect">
            <a:avLst/>
          </a:prstGeom>
          <a:noFill/>
          <a:ln/>
        </p:spPr>
        <p:txBody>
          <a:bodyPr wrap="square" lIns="0" tIns="0" rIns="0" bIns="0" rtlCol="0" anchor="ctr"/>
          <a:lstStyle/>
          <a:p>
            <a:pPr marL="0" indent="0">
              <a:spcAft>
                <a:spcPts val="1000"/>
              </a:spcAft>
              <a:buNone/>
            </a:pPr>
            <a:r>
              <a:rPr lang="en-US" sz="1800" dirty="0">
                <a:solidFill>
                  <a:schemeClr val="bg1"/>
                </a:solidFill>
                <a:latin typeface="Calibri" pitchFamily="34" charset="0"/>
                <a:ea typeface="Calibri" pitchFamily="34" charset="-122"/>
                <a:cs typeface="Calibri" pitchFamily="34" charset="-120"/>
              </a:rPr>
              <a:t>Agentic AI tools have lowered the bar for retail investors to deploy automated trading strategies.</a:t>
            </a:r>
            <a:endParaRPr lang="en-US" sz="1800" dirty="0">
              <a:solidFill>
                <a:schemeClr val="bg1"/>
              </a:solidFill>
            </a:endParaRPr>
          </a:p>
          <a:p>
            <a:pPr marL="0" indent="0">
              <a:spcAft>
                <a:spcPts val="800"/>
              </a:spcAft>
              <a:buNone/>
            </a:pPr>
            <a:r>
              <a:rPr lang="en-US" sz="1800" dirty="0">
                <a:solidFill>
                  <a:schemeClr val="bg1"/>
                </a:solidFill>
                <a:latin typeface="Calibri" pitchFamily="34" charset="0"/>
                <a:ea typeface="Calibri" pitchFamily="34" charset="-122"/>
                <a:cs typeface="Calibri" pitchFamily="34" charset="-120"/>
              </a:rPr>
              <a:t>Most of these tools rely on the same widely available input: </a:t>
            </a:r>
            <a:r>
              <a:rPr lang="en-US" sz="1800" b="1" dirty="0">
                <a:solidFill>
                  <a:schemeClr val="bg1"/>
                </a:solidFill>
                <a:latin typeface="Calibri" pitchFamily="34" charset="0"/>
                <a:ea typeface="Calibri" pitchFamily="34" charset="-122"/>
                <a:cs typeface="Calibri" pitchFamily="34" charset="-120"/>
              </a:rPr>
              <a:t>historical price data.</a:t>
            </a:r>
            <a:endParaRPr lang="en-US" sz="1800" dirty="0">
              <a:solidFill>
                <a:schemeClr val="bg1"/>
              </a:solidFill>
            </a:endParaRPr>
          </a:p>
          <a:p>
            <a:pPr marL="0" indent="0">
              <a:spcAft>
                <a:spcPts val="800"/>
              </a:spcAft>
              <a:buNone/>
            </a:pPr>
            <a:r>
              <a:rPr lang="en-US" sz="1800" dirty="0">
                <a:solidFill>
                  <a:schemeClr val="bg1"/>
                </a:solidFill>
                <a:latin typeface="Calibri" pitchFamily="34" charset="0"/>
                <a:ea typeface="Calibri" pitchFamily="34" charset="-122"/>
                <a:cs typeface="Calibri" pitchFamily="34" charset="-120"/>
              </a:rPr>
              <a:t>If predictability is tied to a specific historical horizon, identifying the optimal lookback window becomes a real wealth-management lever, not just an academic question.</a:t>
            </a:r>
            <a:endParaRPr lang="en-US" sz="1800" dirty="0">
              <a:solidFill>
                <a:schemeClr val="bg1"/>
              </a:solidFill>
            </a:endParaRPr>
          </a:p>
        </p:txBody>
      </p:sp>
      <p:sp>
        <p:nvSpPr>
          <p:cNvPr id="7" name="Shape 3">
            <a:extLst>
              <a:ext uri="{FF2B5EF4-FFF2-40B4-BE49-F238E27FC236}">
                <a16:creationId xmlns:a16="http://schemas.microsoft.com/office/drawing/2014/main" id="{A9E32FFE-D88A-35CF-63CC-685036622EE0}"/>
              </a:ext>
            </a:extLst>
          </p:cNvPr>
          <p:cNvSpPr/>
          <p:nvPr/>
        </p:nvSpPr>
        <p:spPr>
          <a:xfrm>
            <a:off x="7406640" y="1691640"/>
            <a:ext cx="4206240" cy="4206240"/>
          </a:xfrm>
          <a:prstGeom prst="rect">
            <a:avLst/>
          </a:prstGeom>
          <a:solidFill>
            <a:srgbClr val="F7F8FA"/>
          </a:solidFill>
          <a:ln w="9525">
            <a:solidFill>
              <a:srgbClr val="E5E7EB"/>
            </a:solidFill>
            <a:prstDash val="solid"/>
          </a:ln>
        </p:spPr>
        <p:txBody>
          <a:bodyPr/>
          <a:lstStyle/>
          <a:p>
            <a:endParaRPr lang="en-US"/>
          </a:p>
        </p:txBody>
      </p:sp>
      <p:sp>
        <p:nvSpPr>
          <p:cNvPr id="8" name="Shape 3">
            <a:extLst>
              <a:ext uri="{FF2B5EF4-FFF2-40B4-BE49-F238E27FC236}">
                <a16:creationId xmlns:a16="http://schemas.microsoft.com/office/drawing/2014/main" id="{32821C27-F6E1-7AC8-900D-28E382DD74FE}"/>
              </a:ext>
            </a:extLst>
          </p:cNvPr>
          <p:cNvSpPr/>
          <p:nvPr/>
        </p:nvSpPr>
        <p:spPr>
          <a:xfrm>
            <a:off x="7406640" y="1691640"/>
            <a:ext cx="4206240" cy="4206240"/>
          </a:xfrm>
          <a:prstGeom prst="rect">
            <a:avLst/>
          </a:prstGeom>
          <a:solidFill>
            <a:srgbClr val="F7F8FA"/>
          </a:solidFill>
          <a:ln w="9525">
            <a:solidFill>
              <a:srgbClr val="E5E7EB"/>
            </a:solidFill>
            <a:prstDash val="solid"/>
          </a:ln>
        </p:spPr>
      </p:sp>
      <p:sp>
        <p:nvSpPr>
          <p:cNvPr id="9" name="Shape 4">
            <a:extLst>
              <a:ext uri="{FF2B5EF4-FFF2-40B4-BE49-F238E27FC236}">
                <a16:creationId xmlns:a16="http://schemas.microsoft.com/office/drawing/2014/main" id="{58AD5403-6D62-271C-A701-00A53ACDC338}"/>
              </a:ext>
            </a:extLst>
          </p:cNvPr>
          <p:cNvSpPr/>
          <p:nvPr/>
        </p:nvSpPr>
        <p:spPr>
          <a:xfrm>
            <a:off x="7406640" y="1691640"/>
            <a:ext cx="91440" cy="4206240"/>
          </a:xfrm>
          <a:prstGeom prst="rect">
            <a:avLst/>
          </a:prstGeom>
          <a:solidFill>
            <a:schemeClr val="accent2"/>
          </a:solidFill>
          <a:ln w="12700">
            <a:solidFill>
              <a:srgbClr val="C2410C"/>
            </a:solidFill>
            <a:prstDash val="solid"/>
          </a:ln>
        </p:spPr>
      </p:sp>
      <p:sp>
        <p:nvSpPr>
          <p:cNvPr id="10" name="Text 5">
            <a:extLst>
              <a:ext uri="{FF2B5EF4-FFF2-40B4-BE49-F238E27FC236}">
                <a16:creationId xmlns:a16="http://schemas.microsoft.com/office/drawing/2014/main" id="{8FA07DEE-B97D-EEED-C772-BECE0B82A28A}"/>
              </a:ext>
            </a:extLst>
          </p:cNvPr>
          <p:cNvSpPr/>
          <p:nvPr/>
        </p:nvSpPr>
        <p:spPr>
          <a:xfrm>
            <a:off x="7680960" y="1874520"/>
            <a:ext cx="3840480" cy="320040"/>
          </a:xfrm>
          <a:prstGeom prst="rect">
            <a:avLst/>
          </a:prstGeom>
          <a:noFill/>
          <a:ln/>
        </p:spPr>
        <p:txBody>
          <a:bodyPr wrap="square" lIns="0" tIns="0" rIns="0" bIns="0" rtlCol="0" anchor="ctr"/>
          <a:lstStyle/>
          <a:p>
            <a:pPr marL="0" indent="0">
              <a:buNone/>
            </a:pPr>
            <a:r>
              <a:rPr lang="en-US" sz="1100" b="1" kern="0" spc="400" dirty="0">
                <a:solidFill>
                  <a:srgbClr val="C2410C"/>
                </a:solidFill>
                <a:latin typeface="Calibri" pitchFamily="34" charset="0"/>
                <a:ea typeface="Calibri" pitchFamily="34" charset="-122"/>
                <a:cs typeface="Calibri" pitchFamily="34" charset="-120"/>
              </a:rPr>
              <a:t>THE CORE QUESTION</a:t>
            </a:r>
            <a:endParaRPr lang="en-US" sz="1100" dirty="0"/>
          </a:p>
        </p:txBody>
      </p:sp>
      <p:sp>
        <p:nvSpPr>
          <p:cNvPr id="11" name="Text 6">
            <a:extLst>
              <a:ext uri="{FF2B5EF4-FFF2-40B4-BE49-F238E27FC236}">
                <a16:creationId xmlns:a16="http://schemas.microsoft.com/office/drawing/2014/main" id="{ECF911CE-6A7B-6D6F-02B9-BAAFFFFFE140}"/>
              </a:ext>
            </a:extLst>
          </p:cNvPr>
          <p:cNvSpPr/>
          <p:nvPr/>
        </p:nvSpPr>
        <p:spPr>
          <a:xfrm>
            <a:off x="7680960" y="2286000"/>
            <a:ext cx="3840480" cy="1463040"/>
          </a:xfrm>
          <a:prstGeom prst="rect">
            <a:avLst/>
          </a:prstGeom>
          <a:noFill/>
          <a:ln/>
        </p:spPr>
        <p:txBody>
          <a:bodyPr wrap="square" lIns="0" tIns="0" rIns="0" bIns="0" rtlCol="0" anchor="ctr"/>
          <a:lstStyle/>
          <a:p>
            <a:pPr marL="0" indent="0">
              <a:buNone/>
            </a:pPr>
            <a:r>
              <a:rPr lang="en-US" sz="1800" i="1" dirty="0">
                <a:solidFill>
                  <a:srgbClr val="1A1F2E"/>
                </a:solidFill>
                <a:latin typeface="Georgia" pitchFamily="34" charset="0"/>
                <a:ea typeface="Georgia" pitchFamily="34" charset="-122"/>
                <a:cs typeface="Georgia" pitchFamily="34" charset="-120"/>
              </a:rPr>
              <a:t>Can an LSTM, given only past prices, beat the simplest possible model, assuming tomorrow's price equals today's?</a:t>
            </a:r>
            <a:endParaRPr lang="en-US" sz="1800" dirty="0"/>
          </a:p>
        </p:txBody>
      </p:sp>
      <p:sp>
        <p:nvSpPr>
          <p:cNvPr id="12" name="Shape 7">
            <a:extLst>
              <a:ext uri="{FF2B5EF4-FFF2-40B4-BE49-F238E27FC236}">
                <a16:creationId xmlns:a16="http://schemas.microsoft.com/office/drawing/2014/main" id="{6C1EE291-FBB2-C0A5-9776-01CB56611425}"/>
              </a:ext>
            </a:extLst>
          </p:cNvPr>
          <p:cNvSpPr/>
          <p:nvPr/>
        </p:nvSpPr>
        <p:spPr>
          <a:xfrm>
            <a:off x="7680960" y="3931920"/>
            <a:ext cx="1371600" cy="0"/>
          </a:xfrm>
          <a:prstGeom prst="line">
            <a:avLst/>
          </a:prstGeom>
          <a:noFill/>
          <a:ln w="12700">
            <a:solidFill>
              <a:srgbClr val="E5E7EB"/>
            </a:solidFill>
            <a:prstDash val="solid"/>
          </a:ln>
        </p:spPr>
      </p:sp>
      <p:sp>
        <p:nvSpPr>
          <p:cNvPr id="13" name="Text 8">
            <a:extLst>
              <a:ext uri="{FF2B5EF4-FFF2-40B4-BE49-F238E27FC236}">
                <a16:creationId xmlns:a16="http://schemas.microsoft.com/office/drawing/2014/main" id="{70924F7B-60BC-C219-6DEF-89A20F4B3908}"/>
              </a:ext>
            </a:extLst>
          </p:cNvPr>
          <p:cNvSpPr/>
          <p:nvPr/>
        </p:nvSpPr>
        <p:spPr>
          <a:xfrm>
            <a:off x="7680960" y="4114800"/>
            <a:ext cx="3840480" cy="1554480"/>
          </a:xfrm>
          <a:prstGeom prst="rect">
            <a:avLst/>
          </a:prstGeom>
          <a:noFill/>
          <a:ln/>
        </p:spPr>
        <p:txBody>
          <a:bodyPr wrap="square" lIns="0" tIns="0" rIns="0" bIns="0" rtlCol="0" anchor="ctr"/>
          <a:lstStyle/>
          <a:p>
            <a:pPr marL="0" indent="0">
              <a:spcAft>
                <a:spcPts val="600"/>
              </a:spcAft>
              <a:buNone/>
            </a:pPr>
            <a:r>
              <a:rPr lang="en-US" b="1" dirty="0">
                <a:solidFill>
                  <a:srgbClr val="1A1F2E"/>
                </a:solidFill>
                <a:latin typeface="Calibri" pitchFamily="34" charset="0"/>
                <a:ea typeface="Calibri" pitchFamily="34" charset="-122"/>
                <a:cs typeface="Calibri" pitchFamily="34" charset="-120"/>
              </a:rPr>
              <a:t>Tested across:</a:t>
            </a:r>
            <a:endParaRPr lang="en-US" dirty="0"/>
          </a:p>
          <a:p>
            <a:pPr marL="0" indent="0">
              <a:buNone/>
            </a:pPr>
            <a:r>
              <a:rPr lang="en-US" dirty="0">
                <a:solidFill>
                  <a:srgbClr val="2D3343"/>
                </a:solidFill>
                <a:latin typeface="Calibri" pitchFamily="34" charset="0"/>
                <a:ea typeface="Calibri" pitchFamily="34" charset="-122"/>
                <a:cs typeface="Calibri" pitchFamily="34" charset="-120"/>
              </a:rPr>
              <a:t>3 sectors  ·  3 lookback windows</a:t>
            </a:r>
            <a:endParaRPr lang="en-US" dirty="0"/>
          </a:p>
          <a:p>
            <a:pPr marL="0" indent="0">
              <a:buNone/>
            </a:pPr>
            <a:r>
              <a:rPr lang="en-US" dirty="0">
                <a:solidFill>
                  <a:srgbClr val="2D3343"/>
                </a:solidFill>
                <a:latin typeface="Calibri" pitchFamily="34" charset="0"/>
                <a:ea typeface="Calibri" pitchFamily="34" charset="-122"/>
                <a:cs typeface="Calibri" pitchFamily="34" charset="-120"/>
              </a:rPr>
              <a:t>3 random seeds  ·  10-fold CV</a:t>
            </a:r>
            <a:endParaRPr lang="en-US" dirty="0"/>
          </a:p>
        </p:txBody>
      </p:sp>
      <p:sp>
        <p:nvSpPr>
          <p:cNvPr id="20" name="Text 10">
            <a:extLst>
              <a:ext uri="{FF2B5EF4-FFF2-40B4-BE49-F238E27FC236}">
                <a16:creationId xmlns:a16="http://schemas.microsoft.com/office/drawing/2014/main" id="{8820D15C-40F3-B50C-D72C-235C6F794999}"/>
              </a:ext>
            </a:extLst>
          </p:cNvPr>
          <p:cNvSpPr/>
          <p:nvPr/>
        </p:nvSpPr>
        <p:spPr>
          <a:xfrm>
            <a:off x="11299115" y="6583680"/>
            <a:ext cx="73152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 / 15</a:t>
            </a:r>
            <a:endParaRPr lang="en-US" sz="1000" dirty="0"/>
          </a:p>
        </p:txBody>
      </p:sp>
    </p:spTree>
    <p:extLst>
      <p:ext uri="{BB962C8B-B14F-4D97-AF65-F5344CB8AC3E}">
        <p14:creationId xmlns:p14="http://schemas.microsoft.com/office/powerpoint/2010/main" val="2642919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4990B71-1330-974D-76AA-76C4BD77CF48}"/>
              </a:ext>
            </a:extLst>
          </p:cNvPr>
          <p:cNvSpPr/>
          <p:nvPr/>
        </p:nvSpPr>
        <p:spPr>
          <a:xfrm>
            <a:off x="152399" y="137160"/>
            <a:ext cx="10972800" cy="292608"/>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FRAMING THE STUDY</a:t>
            </a:r>
            <a:endParaRPr lang="en-US" dirty="0"/>
          </a:p>
        </p:txBody>
      </p:sp>
      <p:sp>
        <p:nvSpPr>
          <p:cNvPr id="3" name="Text 1">
            <a:extLst>
              <a:ext uri="{FF2B5EF4-FFF2-40B4-BE49-F238E27FC236}">
                <a16:creationId xmlns:a16="http://schemas.microsoft.com/office/drawing/2014/main" id="{D42276A7-933F-2C29-56DB-02B5AD3B30D0}"/>
              </a:ext>
            </a:extLst>
          </p:cNvPr>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A1F2E"/>
                </a:solidFill>
                <a:latin typeface="Georgia" pitchFamily="34" charset="0"/>
                <a:ea typeface="Georgia" pitchFamily="34" charset="-122"/>
                <a:cs typeface="Georgia" pitchFamily="34" charset="-120"/>
              </a:rPr>
              <a:t>Research question &amp; formal hypothesis</a:t>
            </a:r>
            <a:endParaRPr lang="en-US" sz="3000" dirty="0"/>
          </a:p>
        </p:txBody>
      </p:sp>
      <p:sp>
        <p:nvSpPr>
          <p:cNvPr id="4" name="Shape 2">
            <a:extLst>
              <a:ext uri="{FF2B5EF4-FFF2-40B4-BE49-F238E27FC236}">
                <a16:creationId xmlns:a16="http://schemas.microsoft.com/office/drawing/2014/main" id="{0EBF634A-13A2-5D53-6FEB-FB96A257EBF9}"/>
              </a:ext>
            </a:extLst>
          </p:cNvPr>
          <p:cNvSpPr/>
          <p:nvPr/>
        </p:nvSpPr>
        <p:spPr>
          <a:xfrm>
            <a:off x="518464" y="1435608"/>
            <a:ext cx="11094415" cy="1444752"/>
          </a:xfrm>
          <a:prstGeom prst="rect">
            <a:avLst/>
          </a:prstGeom>
          <a:solidFill>
            <a:srgbClr val="F7F8FA"/>
          </a:solidFill>
          <a:ln w="9525">
            <a:solidFill>
              <a:srgbClr val="E5E7EB"/>
            </a:solidFill>
            <a:prstDash val="solid"/>
          </a:ln>
        </p:spPr>
      </p:sp>
      <p:sp>
        <p:nvSpPr>
          <p:cNvPr id="5" name="Text 3">
            <a:extLst>
              <a:ext uri="{FF2B5EF4-FFF2-40B4-BE49-F238E27FC236}">
                <a16:creationId xmlns:a16="http://schemas.microsoft.com/office/drawing/2014/main" id="{5D8D6BAE-A365-6A48-932B-24A49FD79502}"/>
              </a:ext>
            </a:extLst>
          </p:cNvPr>
          <p:cNvSpPr/>
          <p:nvPr/>
        </p:nvSpPr>
        <p:spPr>
          <a:xfrm>
            <a:off x="777240" y="1481328"/>
            <a:ext cx="5486400" cy="411480"/>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RESEARCH QUESTION</a:t>
            </a:r>
            <a:endParaRPr lang="en-US" dirty="0"/>
          </a:p>
        </p:txBody>
      </p:sp>
      <p:sp>
        <p:nvSpPr>
          <p:cNvPr id="6" name="Text 4">
            <a:extLst>
              <a:ext uri="{FF2B5EF4-FFF2-40B4-BE49-F238E27FC236}">
                <a16:creationId xmlns:a16="http://schemas.microsoft.com/office/drawing/2014/main" id="{322B5AD5-B141-BE51-300F-959814DD42D0}"/>
              </a:ext>
            </a:extLst>
          </p:cNvPr>
          <p:cNvSpPr/>
          <p:nvPr/>
        </p:nvSpPr>
        <p:spPr>
          <a:xfrm>
            <a:off x="731520" y="1920240"/>
            <a:ext cx="10607040" cy="777240"/>
          </a:xfrm>
          <a:prstGeom prst="rect">
            <a:avLst/>
          </a:prstGeom>
          <a:noFill/>
          <a:ln/>
        </p:spPr>
        <p:txBody>
          <a:bodyPr wrap="square" lIns="0" tIns="0" rIns="0" bIns="0" rtlCol="0" anchor="ctr"/>
          <a:lstStyle/>
          <a:p>
            <a:pPr marL="0" indent="0">
              <a:buNone/>
            </a:pPr>
            <a:r>
              <a:rPr lang="en-US" sz="2000" dirty="0">
                <a:solidFill>
                  <a:srgbClr val="1A1F2E"/>
                </a:solidFill>
                <a:latin typeface="Calibri" pitchFamily="34" charset="0"/>
                <a:ea typeface="Calibri" pitchFamily="34" charset="-122"/>
                <a:cs typeface="Calibri" pitchFamily="34" charset="-120"/>
              </a:rPr>
              <a:t>Using only historical price-based features, can a Many-to-One LSTM forecast next-day adjusted close prices more accurately than a persistence baseline and does the lookback window (10 / 30 / 60 days) materially change that answer?</a:t>
            </a:r>
            <a:endParaRPr lang="en-US" sz="2000" dirty="0"/>
          </a:p>
        </p:txBody>
      </p:sp>
      <p:sp>
        <p:nvSpPr>
          <p:cNvPr id="7" name="Shape 5">
            <a:extLst>
              <a:ext uri="{FF2B5EF4-FFF2-40B4-BE49-F238E27FC236}">
                <a16:creationId xmlns:a16="http://schemas.microsoft.com/office/drawing/2014/main" id="{429BCF2D-EF81-65CC-33E0-043B6F4FBAC7}"/>
              </a:ext>
            </a:extLst>
          </p:cNvPr>
          <p:cNvSpPr/>
          <p:nvPr/>
        </p:nvSpPr>
        <p:spPr>
          <a:xfrm>
            <a:off x="548640" y="3154680"/>
            <a:ext cx="5394960" cy="2743200"/>
          </a:xfrm>
          <a:prstGeom prst="rect">
            <a:avLst/>
          </a:prstGeom>
          <a:solidFill>
            <a:srgbClr val="FFFFFF"/>
          </a:solidFill>
          <a:ln w="9525">
            <a:solidFill>
              <a:srgbClr val="E5E7EB"/>
            </a:solidFill>
            <a:prstDash val="solid"/>
          </a:ln>
        </p:spPr>
      </p:sp>
      <p:sp>
        <p:nvSpPr>
          <p:cNvPr id="8" name="Shape 6">
            <a:extLst>
              <a:ext uri="{FF2B5EF4-FFF2-40B4-BE49-F238E27FC236}">
                <a16:creationId xmlns:a16="http://schemas.microsoft.com/office/drawing/2014/main" id="{3C4D8525-A4A6-F17A-637D-2C9CBCDDD346}"/>
              </a:ext>
            </a:extLst>
          </p:cNvPr>
          <p:cNvSpPr/>
          <p:nvPr/>
        </p:nvSpPr>
        <p:spPr>
          <a:xfrm>
            <a:off x="548640" y="3154680"/>
            <a:ext cx="91440" cy="2743200"/>
          </a:xfrm>
          <a:prstGeom prst="rect">
            <a:avLst/>
          </a:prstGeom>
          <a:solidFill>
            <a:srgbClr val="6B7280"/>
          </a:solidFill>
          <a:ln w="12700">
            <a:solidFill>
              <a:srgbClr val="6B7280"/>
            </a:solidFill>
            <a:prstDash val="solid"/>
          </a:ln>
        </p:spPr>
      </p:sp>
      <p:sp>
        <p:nvSpPr>
          <p:cNvPr id="9" name="Text 7">
            <a:extLst>
              <a:ext uri="{FF2B5EF4-FFF2-40B4-BE49-F238E27FC236}">
                <a16:creationId xmlns:a16="http://schemas.microsoft.com/office/drawing/2014/main" id="{FC42A147-EEC0-1F20-166E-F6C36DBA2AD5}"/>
              </a:ext>
            </a:extLst>
          </p:cNvPr>
          <p:cNvSpPr/>
          <p:nvPr/>
        </p:nvSpPr>
        <p:spPr>
          <a:xfrm>
            <a:off x="822960" y="3291840"/>
            <a:ext cx="4937760" cy="274320"/>
          </a:xfrm>
          <a:prstGeom prst="rect">
            <a:avLst/>
          </a:prstGeom>
          <a:noFill/>
          <a:ln/>
        </p:spPr>
        <p:txBody>
          <a:bodyPr wrap="square" lIns="0" tIns="0" rIns="0" bIns="0" rtlCol="0" anchor="ctr"/>
          <a:lstStyle/>
          <a:p>
            <a:pPr marL="0" indent="0">
              <a:buNone/>
            </a:pPr>
            <a:r>
              <a:rPr lang="en-US" b="1" kern="0" spc="400" dirty="0">
                <a:solidFill>
                  <a:srgbClr val="6B7280"/>
                </a:solidFill>
                <a:latin typeface="Calibri" pitchFamily="34" charset="0"/>
                <a:ea typeface="Calibri" pitchFamily="34" charset="-122"/>
                <a:cs typeface="Calibri" pitchFamily="34" charset="-120"/>
              </a:rPr>
              <a:t>NULL HYPOTHESIS  (H0)</a:t>
            </a:r>
            <a:endParaRPr lang="en-US" dirty="0"/>
          </a:p>
        </p:txBody>
      </p:sp>
      <p:sp>
        <p:nvSpPr>
          <p:cNvPr id="10" name="Text 8">
            <a:extLst>
              <a:ext uri="{FF2B5EF4-FFF2-40B4-BE49-F238E27FC236}">
                <a16:creationId xmlns:a16="http://schemas.microsoft.com/office/drawing/2014/main" id="{76D23A3A-6BD2-1EF3-927F-71062E51415F}"/>
              </a:ext>
            </a:extLst>
          </p:cNvPr>
          <p:cNvSpPr/>
          <p:nvPr/>
        </p:nvSpPr>
        <p:spPr>
          <a:xfrm>
            <a:off x="822960" y="3954780"/>
            <a:ext cx="4937760" cy="502920"/>
          </a:xfrm>
          <a:prstGeom prst="rect">
            <a:avLst/>
          </a:prstGeom>
          <a:noFill/>
          <a:ln/>
        </p:spPr>
        <p:txBody>
          <a:bodyPr wrap="square" lIns="0" tIns="0" rIns="0" bIns="0" rtlCol="0" anchor="ctr"/>
          <a:lstStyle/>
          <a:p>
            <a:pPr marL="0" indent="0">
              <a:buNone/>
            </a:pPr>
            <a:r>
              <a:rPr lang="en-US" sz="2200" b="1" dirty="0">
                <a:solidFill>
                  <a:srgbClr val="1A1F2E"/>
                </a:solidFill>
                <a:latin typeface="Consolas" pitchFamily="34" charset="0"/>
                <a:ea typeface="Consolas" pitchFamily="34" charset="-122"/>
                <a:cs typeface="Consolas" pitchFamily="34" charset="-120"/>
              </a:rPr>
              <a:t>μ LSTM  ≥  μ Naive</a:t>
            </a:r>
            <a:endParaRPr lang="en-US" sz="2200" dirty="0"/>
          </a:p>
        </p:txBody>
      </p:sp>
      <p:sp>
        <p:nvSpPr>
          <p:cNvPr id="11" name="Text 9">
            <a:extLst>
              <a:ext uri="{FF2B5EF4-FFF2-40B4-BE49-F238E27FC236}">
                <a16:creationId xmlns:a16="http://schemas.microsoft.com/office/drawing/2014/main" id="{D7198046-945E-42E0-4781-91BA30CE8FF8}"/>
              </a:ext>
            </a:extLst>
          </p:cNvPr>
          <p:cNvSpPr/>
          <p:nvPr/>
        </p:nvSpPr>
        <p:spPr>
          <a:xfrm>
            <a:off x="822960" y="4160520"/>
            <a:ext cx="4937760" cy="164592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The LSTM does not achieve statistically significantly lower MAPE than the Naive Baseline using 10-day price-based features.</a:t>
            </a:r>
            <a:endParaRPr lang="en-US" dirty="0"/>
          </a:p>
        </p:txBody>
      </p:sp>
      <p:sp>
        <p:nvSpPr>
          <p:cNvPr id="12" name="Shape 10">
            <a:extLst>
              <a:ext uri="{FF2B5EF4-FFF2-40B4-BE49-F238E27FC236}">
                <a16:creationId xmlns:a16="http://schemas.microsoft.com/office/drawing/2014/main" id="{BD77D821-CBE2-98DE-F6E7-DEC74D59D1F9}"/>
              </a:ext>
            </a:extLst>
          </p:cNvPr>
          <p:cNvSpPr/>
          <p:nvPr/>
        </p:nvSpPr>
        <p:spPr>
          <a:xfrm>
            <a:off x="6217920" y="3154680"/>
            <a:ext cx="5394960" cy="2743200"/>
          </a:xfrm>
          <a:prstGeom prst="rect">
            <a:avLst/>
          </a:prstGeom>
          <a:solidFill>
            <a:srgbClr val="FFFFFF"/>
          </a:solidFill>
          <a:ln w="9525">
            <a:solidFill>
              <a:srgbClr val="E5E7EB"/>
            </a:solidFill>
            <a:prstDash val="solid"/>
          </a:ln>
        </p:spPr>
      </p:sp>
      <p:sp>
        <p:nvSpPr>
          <p:cNvPr id="13" name="Shape 11">
            <a:extLst>
              <a:ext uri="{FF2B5EF4-FFF2-40B4-BE49-F238E27FC236}">
                <a16:creationId xmlns:a16="http://schemas.microsoft.com/office/drawing/2014/main" id="{4ECE6674-1131-30CE-AEBA-D84D83C4E59D}"/>
              </a:ext>
            </a:extLst>
          </p:cNvPr>
          <p:cNvSpPr/>
          <p:nvPr/>
        </p:nvSpPr>
        <p:spPr>
          <a:xfrm>
            <a:off x="6217920" y="3154680"/>
            <a:ext cx="91440" cy="2743200"/>
          </a:xfrm>
          <a:prstGeom prst="rect">
            <a:avLst/>
          </a:prstGeom>
          <a:solidFill>
            <a:schemeClr val="accent2"/>
          </a:solidFill>
          <a:ln w="12700">
            <a:solidFill>
              <a:srgbClr val="C2410C"/>
            </a:solidFill>
            <a:prstDash val="solid"/>
          </a:ln>
        </p:spPr>
      </p:sp>
      <p:sp>
        <p:nvSpPr>
          <p:cNvPr id="14" name="Text 12">
            <a:extLst>
              <a:ext uri="{FF2B5EF4-FFF2-40B4-BE49-F238E27FC236}">
                <a16:creationId xmlns:a16="http://schemas.microsoft.com/office/drawing/2014/main" id="{11BBB8F5-691C-ED25-C0E6-57B97A408135}"/>
              </a:ext>
            </a:extLst>
          </p:cNvPr>
          <p:cNvSpPr/>
          <p:nvPr/>
        </p:nvSpPr>
        <p:spPr>
          <a:xfrm>
            <a:off x="6492240" y="3291840"/>
            <a:ext cx="4937760" cy="274320"/>
          </a:xfrm>
          <a:prstGeom prst="rect">
            <a:avLst/>
          </a:prstGeom>
          <a:noFill/>
          <a:ln/>
        </p:spPr>
        <p:txBody>
          <a:bodyPr wrap="square" lIns="0" tIns="0" rIns="0" bIns="0" rtlCol="0" anchor="ctr"/>
          <a:lstStyle/>
          <a:p>
            <a:pPr marL="0" indent="0">
              <a:buNone/>
            </a:pPr>
            <a:r>
              <a:rPr lang="en-US" b="1" kern="0" spc="400" dirty="0">
                <a:solidFill>
                  <a:schemeClr val="accent2"/>
                </a:solidFill>
                <a:latin typeface="Calibri" pitchFamily="34" charset="0"/>
                <a:ea typeface="Calibri" pitchFamily="34" charset="-122"/>
                <a:cs typeface="Calibri" pitchFamily="34" charset="-120"/>
              </a:rPr>
              <a:t>ALTERNATIVE  (H1)</a:t>
            </a:r>
            <a:endParaRPr lang="en-US" dirty="0">
              <a:solidFill>
                <a:schemeClr val="accent2"/>
              </a:solidFill>
            </a:endParaRPr>
          </a:p>
        </p:txBody>
      </p:sp>
      <p:sp>
        <p:nvSpPr>
          <p:cNvPr id="15" name="Text 13">
            <a:extLst>
              <a:ext uri="{FF2B5EF4-FFF2-40B4-BE49-F238E27FC236}">
                <a16:creationId xmlns:a16="http://schemas.microsoft.com/office/drawing/2014/main" id="{DE387E34-3C37-E0D4-AD23-AE94F64FE683}"/>
              </a:ext>
            </a:extLst>
          </p:cNvPr>
          <p:cNvSpPr/>
          <p:nvPr/>
        </p:nvSpPr>
        <p:spPr>
          <a:xfrm>
            <a:off x="6492240" y="3954780"/>
            <a:ext cx="4937760" cy="502920"/>
          </a:xfrm>
          <a:prstGeom prst="rect">
            <a:avLst/>
          </a:prstGeom>
          <a:noFill/>
          <a:ln/>
        </p:spPr>
        <p:txBody>
          <a:bodyPr wrap="square" lIns="0" tIns="0" rIns="0" bIns="0" rtlCol="0" anchor="ctr"/>
          <a:lstStyle/>
          <a:p>
            <a:pPr marL="0" indent="0">
              <a:buNone/>
            </a:pPr>
            <a:r>
              <a:rPr lang="en-US" sz="2200" b="1" dirty="0">
                <a:solidFill>
                  <a:srgbClr val="1A1F2E"/>
                </a:solidFill>
                <a:latin typeface="Consolas" pitchFamily="34" charset="0"/>
                <a:ea typeface="Consolas" pitchFamily="34" charset="-122"/>
                <a:cs typeface="Consolas" pitchFamily="34" charset="-120"/>
              </a:rPr>
              <a:t>μ LSTM  &lt;  μ Naive</a:t>
            </a:r>
            <a:endParaRPr lang="en-US" sz="2200" dirty="0"/>
          </a:p>
        </p:txBody>
      </p:sp>
      <p:sp>
        <p:nvSpPr>
          <p:cNvPr id="16" name="Text 14">
            <a:extLst>
              <a:ext uri="{FF2B5EF4-FFF2-40B4-BE49-F238E27FC236}">
                <a16:creationId xmlns:a16="http://schemas.microsoft.com/office/drawing/2014/main" id="{F2BC014E-3EE0-77D7-34ED-D51CEB56F5AB}"/>
              </a:ext>
            </a:extLst>
          </p:cNvPr>
          <p:cNvSpPr/>
          <p:nvPr/>
        </p:nvSpPr>
        <p:spPr>
          <a:xfrm>
            <a:off x="6492240" y="4160520"/>
            <a:ext cx="4937760" cy="164592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The LSTM achieves statistically significantly lower MAPE than the Naive Baseline.</a:t>
            </a:r>
            <a:endParaRPr lang="en-US" dirty="0"/>
          </a:p>
        </p:txBody>
      </p:sp>
      <p:sp>
        <p:nvSpPr>
          <p:cNvPr id="17" name="Text 15">
            <a:extLst>
              <a:ext uri="{FF2B5EF4-FFF2-40B4-BE49-F238E27FC236}">
                <a16:creationId xmlns:a16="http://schemas.microsoft.com/office/drawing/2014/main" id="{FA9C6ED4-2039-DD45-488F-C046A1628B86}"/>
              </a:ext>
            </a:extLst>
          </p:cNvPr>
          <p:cNvSpPr/>
          <p:nvPr/>
        </p:nvSpPr>
        <p:spPr>
          <a:xfrm>
            <a:off x="152399" y="6012180"/>
            <a:ext cx="11536376" cy="617219"/>
          </a:xfrm>
          <a:prstGeom prst="rect">
            <a:avLst/>
          </a:prstGeom>
          <a:noFill/>
          <a:ln/>
        </p:spPr>
        <p:txBody>
          <a:bodyPr wrap="square" lIns="0" tIns="0" rIns="0" bIns="0" rtlCol="0" anchor="ctr"/>
          <a:lstStyle/>
          <a:p>
            <a:pPr marL="0" indent="0">
              <a:buNone/>
            </a:pPr>
            <a:r>
              <a:rPr lang="en-US" b="1" dirty="0">
                <a:solidFill>
                  <a:srgbClr val="1A1F2E"/>
                </a:solidFill>
                <a:latin typeface="Calibri" pitchFamily="34" charset="0"/>
                <a:ea typeface="Calibri" pitchFamily="34" charset="-122"/>
                <a:cs typeface="Calibri" pitchFamily="34" charset="-120"/>
              </a:rPr>
              <a:t>Test:  </a:t>
            </a:r>
            <a:r>
              <a:rPr lang="en-US" dirty="0">
                <a:solidFill>
                  <a:srgbClr val="2D3343"/>
                </a:solidFill>
                <a:latin typeface="Calibri" pitchFamily="34" charset="0"/>
                <a:ea typeface="Calibri" pitchFamily="34" charset="-122"/>
                <a:cs typeface="Calibri" pitchFamily="34" charset="-120"/>
              </a:rPr>
              <a:t>One-sided paired Student's t-test    </a:t>
            </a:r>
            <a:r>
              <a:rPr lang="en-US" b="1" dirty="0">
                <a:solidFill>
                  <a:srgbClr val="1A1F2E"/>
                </a:solidFill>
                <a:latin typeface="Calibri" pitchFamily="34" charset="0"/>
                <a:ea typeface="Calibri" pitchFamily="34" charset="-122"/>
                <a:cs typeface="Calibri" pitchFamily="34" charset="-120"/>
              </a:rPr>
              <a:t>Alpha:  </a:t>
            </a:r>
            <a:r>
              <a:rPr lang="en-US" dirty="0">
                <a:solidFill>
                  <a:srgbClr val="2D3343"/>
                </a:solidFill>
                <a:latin typeface="Calibri" pitchFamily="34" charset="0"/>
                <a:ea typeface="Calibri" pitchFamily="34" charset="-122"/>
                <a:cs typeface="Calibri" pitchFamily="34" charset="-120"/>
              </a:rPr>
              <a:t>0.05  →  Bonferroni-adjusted 0.0083    </a:t>
            </a:r>
            <a:r>
              <a:rPr lang="en-US" b="1" dirty="0">
                <a:solidFill>
                  <a:srgbClr val="1A1F2E"/>
                </a:solidFill>
                <a:latin typeface="Calibri" pitchFamily="34" charset="0"/>
                <a:ea typeface="Calibri" pitchFamily="34" charset="-122"/>
                <a:cs typeface="Calibri" pitchFamily="34" charset="-120"/>
              </a:rPr>
              <a:t>CV:  </a:t>
            </a:r>
            <a:r>
              <a:rPr lang="en-US" dirty="0">
                <a:solidFill>
                  <a:srgbClr val="2D3343"/>
                </a:solidFill>
                <a:latin typeface="Calibri" pitchFamily="34" charset="0"/>
                <a:ea typeface="Calibri" pitchFamily="34" charset="-122"/>
                <a:cs typeface="Calibri" pitchFamily="34" charset="-120"/>
              </a:rPr>
              <a:t>k = 10 </a:t>
            </a:r>
            <a:r>
              <a:rPr lang="en-US" dirty="0" err="1">
                <a:solidFill>
                  <a:srgbClr val="2D3343"/>
                </a:solidFill>
                <a:latin typeface="Calibri" pitchFamily="34" charset="0"/>
                <a:ea typeface="Calibri" pitchFamily="34" charset="-122"/>
                <a:cs typeface="Calibri" pitchFamily="34" charset="-120"/>
              </a:rPr>
              <a:t>TimeSeriesSplit</a:t>
            </a:r>
            <a:endParaRPr lang="en-US" dirty="0">
              <a:solidFill>
                <a:srgbClr val="2D3343"/>
              </a:solidFill>
              <a:latin typeface="Calibri" pitchFamily="34" charset="0"/>
              <a:ea typeface="Calibri" pitchFamily="34" charset="-122"/>
              <a:cs typeface="Calibri" pitchFamily="34" charset="-120"/>
            </a:endParaRPr>
          </a:p>
          <a:p>
            <a:pPr marL="0" indent="0">
              <a:buNone/>
            </a:pPr>
            <a:r>
              <a:rPr lang="en-US" dirty="0">
                <a:solidFill>
                  <a:srgbClr val="2D3343"/>
                </a:solidFill>
                <a:latin typeface="Calibri" pitchFamily="34" charset="0"/>
                <a:ea typeface="Calibri" pitchFamily="34" charset="-122"/>
                <a:cs typeface="Calibri" pitchFamily="34" charset="-120"/>
              </a:rPr>
              <a:t>Seeds {42, 99, 123}</a:t>
            </a:r>
            <a:endParaRPr lang="en-US" dirty="0"/>
          </a:p>
        </p:txBody>
      </p:sp>
      <p:sp>
        <p:nvSpPr>
          <p:cNvPr id="18" name="Shape 16">
            <a:extLst>
              <a:ext uri="{FF2B5EF4-FFF2-40B4-BE49-F238E27FC236}">
                <a16:creationId xmlns:a16="http://schemas.microsoft.com/office/drawing/2014/main" id="{684C7EC7-20E7-0D04-DE4B-CA6A9D57230F}"/>
              </a:ext>
            </a:extLst>
          </p:cNvPr>
          <p:cNvSpPr/>
          <p:nvPr/>
        </p:nvSpPr>
        <p:spPr>
          <a:xfrm>
            <a:off x="594360" y="6629400"/>
            <a:ext cx="11094415" cy="0"/>
          </a:xfrm>
          <a:prstGeom prst="line">
            <a:avLst/>
          </a:prstGeom>
          <a:noFill/>
          <a:ln w="9525">
            <a:solidFill>
              <a:srgbClr val="E5E7EB"/>
            </a:solidFill>
            <a:prstDash val="solid"/>
          </a:ln>
        </p:spPr>
      </p:sp>
      <p:sp>
        <p:nvSpPr>
          <p:cNvPr id="19" name="Text 17">
            <a:extLst>
              <a:ext uri="{FF2B5EF4-FFF2-40B4-BE49-F238E27FC236}">
                <a16:creationId xmlns:a16="http://schemas.microsoft.com/office/drawing/2014/main" id="{F96DF97C-D216-6330-4EAB-ED561D61AD43}"/>
              </a:ext>
            </a:extLst>
          </p:cNvPr>
          <p:cNvSpPr/>
          <p:nvPr/>
        </p:nvSpPr>
        <p:spPr>
          <a:xfrm>
            <a:off x="11338560" y="6583680"/>
            <a:ext cx="73152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 / 15</a:t>
            </a:r>
            <a:endParaRPr lang="en-US" sz="1000" dirty="0"/>
          </a:p>
        </p:txBody>
      </p:sp>
    </p:spTree>
    <p:extLst>
      <p:ext uri="{BB962C8B-B14F-4D97-AF65-F5344CB8AC3E}">
        <p14:creationId xmlns:p14="http://schemas.microsoft.com/office/powerpoint/2010/main" val="4025440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ACF7D-969A-8610-7F0D-D76D8E119CF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22CFB26-5DA7-C6F5-D609-0015CA03F421}"/>
              </a:ext>
            </a:extLst>
          </p:cNvPr>
          <p:cNvSpPr/>
          <p:nvPr/>
        </p:nvSpPr>
        <p:spPr>
          <a:xfrm>
            <a:off x="548640" y="365760"/>
            <a:ext cx="10972800" cy="292608"/>
          </a:xfrm>
          <a:prstGeom prst="rect">
            <a:avLst/>
          </a:prstGeom>
          <a:noFill/>
          <a:ln/>
        </p:spPr>
        <p:txBody>
          <a:bodyPr wrap="square" lIns="0" tIns="0" rIns="0" bIns="0" rtlCol="0" anchor="ctr"/>
          <a:lstStyle/>
          <a:p>
            <a:pPr marL="0" indent="0">
              <a:buNone/>
            </a:pPr>
            <a:r>
              <a:rPr lang="en-US" sz="1100" b="1" kern="0" spc="400" dirty="0">
                <a:solidFill>
                  <a:srgbClr val="C2410C"/>
                </a:solidFill>
                <a:latin typeface="Calibri" pitchFamily="34" charset="0"/>
                <a:ea typeface="Calibri" pitchFamily="34" charset="-122"/>
                <a:cs typeface="Calibri" pitchFamily="34" charset="-120"/>
              </a:rPr>
              <a:t>BACKGROUND &amp; RELATED WORK</a:t>
            </a:r>
            <a:endParaRPr lang="en-US" sz="1100" dirty="0"/>
          </a:p>
        </p:txBody>
      </p:sp>
      <p:sp>
        <p:nvSpPr>
          <p:cNvPr id="3" name="Text 1">
            <a:extLst>
              <a:ext uri="{FF2B5EF4-FFF2-40B4-BE49-F238E27FC236}">
                <a16:creationId xmlns:a16="http://schemas.microsoft.com/office/drawing/2014/main" id="{38FAF728-E191-FA80-5441-E62BBADAD9E4}"/>
              </a:ext>
            </a:extLst>
          </p:cNvPr>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A1F2E"/>
                </a:solidFill>
                <a:latin typeface="Georgia" pitchFamily="34" charset="0"/>
                <a:ea typeface="Georgia" pitchFamily="34" charset="-122"/>
                <a:cs typeface="Georgia" pitchFamily="34" charset="-120"/>
              </a:rPr>
              <a:t>The theoretical hurdle, and what we expected</a:t>
            </a:r>
            <a:endParaRPr lang="en-US" sz="3000" dirty="0"/>
          </a:p>
        </p:txBody>
      </p:sp>
      <p:sp>
        <p:nvSpPr>
          <p:cNvPr id="4" name="Shape 2">
            <a:extLst>
              <a:ext uri="{FF2B5EF4-FFF2-40B4-BE49-F238E27FC236}">
                <a16:creationId xmlns:a16="http://schemas.microsoft.com/office/drawing/2014/main" id="{8F4B7B15-7D2C-1334-5E2F-62CACE8020E7}"/>
              </a:ext>
            </a:extLst>
          </p:cNvPr>
          <p:cNvSpPr/>
          <p:nvPr/>
        </p:nvSpPr>
        <p:spPr>
          <a:xfrm>
            <a:off x="548640" y="1691640"/>
            <a:ext cx="3657600" cy="4434840"/>
          </a:xfrm>
          <a:prstGeom prst="rect">
            <a:avLst/>
          </a:prstGeom>
          <a:solidFill>
            <a:srgbClr val="FFFFFF"/>
          </a:solidFill>
          <a:ln w="9525">
            <a:solidFill>
              <a:srgbClr val="E5E7EB"/>
            </a:solidFill>
            <a:prstDash val="solid"/>
          </a:ln>
        </p:spPr>
      </p:sp>
      <p:sp>
        <p:nvSpPr>
          <p:cNvPr id="5" name="Shape 3">
            <a:extLst>
              <a:ext uri="{FF2B5EF4-FFF2-40B4-BE49-F238E27FC236}">
                <a16:creationId xmlns:a16="http://schemas.microsoft.com/office/drawing/2014/main" id="{C63C6769-53EF-487B-3E5B-FFF9A04DBE1C}"/>
              </a:ext>
            </a:extLst>
          </p:cNvPr>
          <p:cNvSpPr/>
          <p:nvPr/>
        </p:nvSpPr>
        <p:spPr>
          <a:xfrm>
            <a:off x="548640" y="1691640"/>
            <a:ext cx="3657600" cy="109728"/>
          </a:xfrm>
          <a:prstGeom prst="rect">
            <a:avLst/>
          </a:prstGeom>
          <a:solidFill>
            <a:srgbClr val="1E2A4A"/>
          </a:solidFill>
          <a:ln w="12700">
            <a:solidFill>
              <a:srgbClr val="1E2A4A"/>
            </a:solidFill>
            <a:prstDash val="solid"/>
          </a:ln>
        </p:spPr>
      </p:sp>
      <p:sp>
        <p:nvSpPr>
          <p:cNvPr id="6" name="Text 4">
            <a:extLst>
              <a:ext uri="{FF2B5EF4-FFF2-40B4-BE49-F238E27FC236}">
                <a16:creationId xmlns:a16="http://schemas.microsoft.com/office/drawing/2014/main" id="{F373669C-9FDA-CF66-E799-5A26E94CC551}"/>
              </a:ext>
            </a:extLst>
          </p:cNvPr>
          <p:cNvSpPr/>
          <p:nvPr/>
        </p:nvSpPr>
        <p:spPr>
          <a:xfrm>
            <a:off x="777240" y="1920240"/>
            <a:ext cx="3200400" cy="274320"/>
          </a:xfrm>
          <a:prstGeom prst="rect">
            <a:avLst/>
          </a:prstGeom>
          <a:noFill/>
          <a:ln/>
        </p:spPr>
        <p:txBody>
          <a:bodyPr wrap="square" lIns="0" tIns="0" rIns="0" bIns="0" rtlCol="0" anchor="ctr"/>
          <a:lstStyle/>
          <a:p>
            <a:pPr marL="0" indent="0">
              <a:buNone/>
            </a:pPr>
            <a:r>
              <a:rPr lang="en-US" b="1" kern="0" spc="400" dirty="0">
                <a:solidFill>
                  <a:srgbClr val="1E2A4A"/>
                </a:solidFill>
                <a:latin typeface="Calibri" pitchFamily="34" charset="0"/>
                <a:ea typeface="Calibri" pitchFamily="34" charset="-122"/>
                <a:cs typeface="Calibri" pitchFamily="34" charset="-120"/>
              </a:rPr>
              <a:t>EFFICIENT MARKETS</a:t>
            </a:r>
            <a:endParaRPr lang="en-US" dirty="0"/>
          </a:p>
        </p:txBody>
      </p:sp>
      <p:sp>
        <p:nvSpPr>
          <p:cNvPr id="7" name="Text 5">
            <a:extLst>
              <a:ext uri="{FF2B5EF4-FFF2-40B4-BE49-F238E27FC236}">
                <a16:creationId xmlns:a16="http://schemas.microsoft.com/office/drawing/2014/main" id="{992B1EBC-F3E0-F87B-D108-A4302EDAD46D}"/>
              </a:ext>
            </a:extLst>
          </p:cNvPr>
          <p:cNvSpPr/>
          <p:nvPr/>
        </p:nvSpPr>
        <p:spPr>
          <a:xfrm>
            <a:off x="777240" y="2194560"/>
            <a:ext cx="3200400" cy="640080"/>
          </a:xfrm>
          <a:prstGeom prst="rect">
            <a:avLst/>
          </a:prstGeom>
          <a:noFill/>
          <a:ln/>
        </p:spPr>
        <p:txBody>
          <a:bodyPr wrap="square" lIns="0" tIns="0" rIns="0" bIns="0" rtlCol="0" anchor="ctr"/>
          <a:lstStyle/>
          <a:p>
            <a:pPr marL="0" indent="0">
              <a:buNone/>
            </a:pPr>
            <a:r>
              <a:rPr lang="en-US" sz="1800" b="1" dirty="0">
                <a:solidFill>
                  <a:srgbClr val="1A1F2E"/>
                </a:solidFill>
                <a:latin typeface="Georgia" pitchFamily="34" charset="0"/>
                <a:ea typeface="Georgia" pitchFamily="34" charset="-122"/>
                <a:cs typeface="Georgia" pitchFamily="34" charset="-120"/>
              </a:rPr>
              <a:t>EMH &amp; the Random Walk</a:t>
            </a:r>
            <a:endParaRPr lang="en-US" sz="1800" dirty="0"/>
          </a:p>
        </p:txBody>
      </p:sp>
      <p:sp>
        <p:nvSpPr>
          <p:cNvPr id="8" name="Text 6">
            <a:extLst>
              <a:ext uri="{FF2B5EF4-FFF2-40B4-BE49-F238E27FC236}">
                <a16:creationId xmlns:a16="http://schemas.microsoft.com/office/drawing/2014/main" id="{A23107EE-1EC2-18A0-5672-C72A683FA4BC}"/>
              </a:ext>
            </a:extLst>
          </p:cNvPr>
          <p:cNvSpPr/>
          <p:nvPr/>
        </p:nvSpPr>
        <p:spPr>
          <a:xfrm>
            <a:off x="777240" y="2926080"/>
            <a:ext cx="3200400" cy="219456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Prices already reflect available information. Future moves are independent of past trends,  a 'fair game' that neutralizes any pattern as soon as it's discovered.</a:t>
            </a:r>
            <a:endParaRPr lang="en-US" dirty="0"/>
          </a:p>
        </p:txBody>
      </p:sp>
      <p:sp>
        <p:nvSpPr>
          <p:cNvPr id="9" name="Text 7">
            <a:extLst>
              <a:ext uri="{FF2B5EF4-FFF2-40B4-BE49-F238E27FC236}">
                <a16:creationId xmlns:a16="http://schemas.microsoft.com/office/drawing/2014/main" id="{AFE49FF7-57FF-886B-1586-58CD33692C78}"/>
              </a:ext>
            </a:extLst>
          </p:cNvPr>
          <p:cNvSpPr/>
          <p:nvPr/>
        </p:nvSpPr>
        <p:spPr>
          <a:xfrm>
            <a:off x="777240" y="5532120"/>
            <a:ext cx="3200400" cy="5029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Fama, Journal of Finance (1970); Timmermann &amp; Granger, Int. J. Forecasting (2004)</a:t>
            </a:r>
            <a:endParaRPr lang="en-US" sz="900" dirty="0"/>
          </a:p>
        </p:txBody>
      </p:sp>
      <p:sp>
        <p:nvSpPr>
          <p:cNvPr id="10" name="Shape 8">
            <a:extLst>
              <a:ext uri="{FF2B5EF4-FFF2-40B4-BE49-F238E27FC236}">
                <a16:creationId xmlns:a16="http://schemas.microsoft.com/office/drawing/2014/main" id="{3507EE27-A84A-ADF3-478C-7C6970FDBD3E}"/>
              </a:ext>
            </a:extLst>
          </p:cNvPr>
          <p:cNvSpPr/>
          <p:nvPr/>
        </p:nvSpPr>
        <p:spPr>
          <a:xfrm>
            <a:off x="4251960" y="1691640"/>
            <a:ext cx="3657600" cy="4434840"/>
          </a:xfrm>
          <a:prstGeom prst="rect">
            <a:avLst/>
          </a:prstGeom>
          <a:solidFill>
            <a:srgbClr val="FFFFFF"/>
          </a:solidFill>
          <a:ln w="9525">
            <a:solidFill>
              <a:srgbClr val="E5E7EB"/>
            </a:solidFill>
            <a:prstDash val="solid"/>
          </a:ln>
        </p:spPr>
      </p:sp>
      <p:sp>
        <p:nvSpPr>
          <p:cNvPr id="11" name="Shape 9">
            <a:extLst>
              <a:ext uri="{FF2B5EF4-FFF2-40B4-BE49-F238E27FC236}">
                <a16:creationId xmlns:a16="http://schemas.microsoft.com/office/drawing/2014/main" id="{6CC002F1-56C2-21C1-03B2-3042B8C251A2}"/>
              </a:ext>
            </a:extLst>
          </p:cNvPr>
          <p:cNvSpPr/>
          <p:nvPr/>
        </p:nvSpPr>
        <p:spPr>
          <a:xfrm>
            <a:off x="4251960" y="1691640"/>
            <a:ext cx="3657600" cy="109728"/>
          </a:xfrm>
          <a:prstGeom prst="rect">
            <a:avLst/>
          </a:prstGeom>
          <a:solidFill>
            <a:srgbClr val="0F766E"/>
          </a:solidFill>
          <a:ln w="12700">
            <a:solidFill>
              <a:srgbClr val="0F766E"/>
            </a:solidFill>
            <a:prstDash val="solid"/>
          </a:ln>
        </p:spPr>
      </p:sp>
      <p:sp>
        <p:nvSpPr>
          <p:cNvPr id="12" name="Text 10">
            <a:extLst>
              <a:ext uri="{FF2B5EF4-FFF2-40B4-BE49-F238E27FC236}">
                <a16:creationId xmlns:a16="http://schemas.microsoft.com/office/drawing/2014/main" id="{0EDEDC7E-BA78-3422-E1CA-DA8C46D55730}"/>
              </a:ext>
            </a:extLst>
          </p:cNvPr>
          <p:cNvSpPr/>
          <p:nvPr/>
        </p:nvSpPr>
        <p:spPr>
          <a:xfrm>
            <a:off x="4480560" y="1920240"/>
            <a:ext cx="3246120" cy="292608"/>
          </a:xfrm>
          <a:prstGeom prst="rect">
            <a:avLst/>
          </a:prstGeom>
          <a:noFill/>
          <a:ln/>
        </p:spPr>
        <p:txBody>
          <a:bodyPr wrap="square" lIns="0" tIns="0" rIns="0" bIns="0" rtlCol="0" anchor="ctr"/>
          <a:lstStyle/>
          <a:p>
            <a:pPr marL="0" indent="0">
              <a:buNone/>
            </a:pPr>
            <a:r>
              <a:rPr lang="en-US" b="1" kern="0" spc="400" dirty="0">
                <a:solidFill>
                  <a:srgbClr val="0F766E"/>
                </a:solidFill>
                <a:latin typeface="Calibri" pitchFamily="34" charset="0"/>
                <a:ea typeface="Calibri" pitchFamily="34" charset="-122"/>
                <a:cs typeface="Calibri" pitchFamily="34" charset="-120"/>
              </a:rPr>
              <a:t>PREDICTIVE SHELF LIFE</a:t>
            </a:r>
            <a:endParaRPr lang="en-US" dirty="0"/>
          </a:p>
        </p:txBody>
      </p:sp>
      <p:sp>
        <p:nvSpPr>
          <p:cNvPr id="13" name="Text 11">
            <a:extLst>
              <a:ext uri="{FF2B5EF4-FFF2-40B4-BE49-F238E27FC236}">
                <a16:creationId xmlns:a16="http://schemas.microsoft.com/office/drawing/2014/main" id="{4BDF4A71-9864-C4AF-43C1-04B475CA9143}"/>
              </a:ext>
            </a:extLst>
          </p:cNvPr>
          <p:cNvSpPr/>
          <p:nvPr/>
        </p:nvSpPr>
        <p:spPr>
          <a:xfrm>
            <a:off x="4480560" y="2194560"/>
            <a:ext cx="3200400" cy="640080"/>
          </a:xfrm>
          <a:prstGeom prst="rect">
            <a:avLst/>
          </a:prstGeom>
          <a:noFill/>
          <a:ln/>
        </p:spPr>
        <p:txBody>
          <a:bodyPr wrap="square" lIns="0" tIns="0" rIns="0" bIns="0" rtlCol="0" anchor="ctr"/>
          <a:lstStyle/>
          <a:p>
            <a:pPr marL="0" indent="0">
              <a:buNone/>
            </a:pPr>
            <a:r>
              <a:rPr lang="en-US" sz="1800" b="1" dirty="0">
                <a:solidFill>
                  <a:srgbClr val="1A1F2E"/>
                </a:solidFill>
                <a:latin typeface="Georgia" pitchFamily="34" charset="0"/>
                <a:ea typeface="Georgia" pitchFamily="34" charset="-122"/>
                <a:cs typeface="Georgia" pitchFamily="34" charset="-120"/>
              </a:rPr>
              <a:t>Historical signal decays fast</a:t>
            </a:r>
            <a:endParaRPr lang="en-US" sz="1800" dirty="0"/>
          </a:p>
        </p:txBody>
      </p:sp>
      <p:sp>
        <p:nvSpPr>
          <p:cNvPr id="14" name="Text 12">
            <a:extLst>
              <a:ext uri="{FF2B5EF4-FFF2-40B4-BE49-F238E27FC236}">
                <a16:creationId xmlns:a16="http://schemas.microsoft.com/office/drawing/2014/main" id="{C5DE5171-1BF7-10F4-D5F5-63C0714FFB8F}"/>
              </a:ext>
            </a:extLst>
          </p:cNvPr>
          <p:cNvSpPr/>
          <p:nvPr/>
        </p:nvSpPr>
        <p:spPr>
          <a:xfrm>
            <a:off x="4480560" y="2926080"/>
            <a:ext cx="3200400" cy="219456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Empirical work on neural and ML models shows predictive value of past prices erodes quickly and longer windows tend to introduce more noise than usable signal.</a:t>
            </a:r>
            <a:endParaRPr lang="en-US" dirty="0"/>
          </a:p>
        </p:txBody>
      </p:sp>
      <p:sp>
        <p:nvSpPr>
          <p:cNvPr id="15" name="Text 13">
            <a:extLst>
              <a:ext uri="{FF2B5EF4-FFF2-40B4-BE49-F238E27FC236}">
                <a16:creationId xmlns:a16="http://schemas.microsoft.com/office/drawing/2014/main" id="{C2594414-1E10-0E7F-B364-D17DCBCC4915}"/>
              </a:ext>
            </a:extLst>
          </p:cNvPr>
          <p:cNvSpPr/>
          <p:nvPr/>
        </p:nvSpPr>
        <p:spPr>
          <a:xfrm>
            <a:off x="4480560" y="5532120"/>
            <a:ext cx="3200400" cy="5029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Htun et al., Financial Innovation (2024); Saud &amp; Shakya, Procedia Comp. Sci. (2020)</a:t>
            </a:r>
            <a:endParaRPr lang="en-US" sz="900" dirty="0"/>
          </a:p>
        </p:txBody>
      </p:sp>
      <p:sp>
        <p:nvSpPr>
          <p:cNvPr id="16" name="Shape 14">
            <a:extLst>
              <a:ext uri="{FF2B5EF4-FFF2-40B4-BE49-F238E27FC236}">
                <a16:creationId xmlns:a16="http://schemas.microsoft.com/office/drawing/2014/main" id="{A9834828-44C1-BB0A-B8F0-86527F6340F0}"/>
              </a:ext>
            </a:extLst>
          </p:cNvPr>
          <p:cNvSpPr/>
          <p:nvPr/>
        </p:nvSpPr>
        <p:spPr>
          <a:xfrm>
            <a:off x="7955280" y="1691640"/>
            <a:ext cx="3657600" cy="4434840"/>
          </a:xfrm>
          <a:prstGeom prst="rect">
            <a:avLst/>
          </a:prstGeom>
          <a:solidFill>
            <a:srgbClr val="FFFFFF"/>
          </a:solidFill>
          <a:ln w="9525">
            <a:solidFill>
              <a:srgbClr val="E5E7EB"/>
            </a:solidFill>
            <a:prstDash val="solid"/>
          </a:ln>
        </p:spPr>
      </p:sp>
      <p:sp>
        <p:nvSpPr>
          <p:cNvPr id="17" name="Shape 15">
            <a:extLst>
              <a:ext uri="{FF2B5EF4-FFF2-40B4-BE49-F238E27FC236}">
                <a16:creationId xmlns:a16="http://schemas.microsoft.com/office/drawing/2014/main" id="{6EE3131D-C635-EA06-D5BC-423F798E242B}"/>
              </a:ext>
            </a:extLst>
          </p:cNvPr>
          <p:cNvSpPr/>
          <p:nvPr/>
        </p:nvSpPr>
        <p:spPr>
          <a:xfrm>
            <a:off x="7955280" y="1691640"/>
            <a:ext cx="3657600" cy="109728"/>
          </a:xfrm>
          <a:prstGeom prst="rect">
            <a:avLst/>
          </a:prstGeom>
          <a:solidFill>
            <a:srgbClr val="C2410C"/>
          </a:solidFill>
          <a:ln w="12700">
            <a:solidFill>
              <a:srgbClr val="C2410C"/>
            </a:solidFill>
            <a:prstDash val="solid"/>
          </a:ln>
        </p:spPr>
      </p:sp>
      <p:sp>
        <p:nvSpPr>
          <p:cNvPr id="18" name="Text 16">
            <a:extLst>
              <a:ext uri="{FF2B5EF4-FFF2-40B4-BE49-F238E27FC236}">
                <a16:creationId xmlns:a16="http://schemas.microsoft.com/office/drawing/2014/main" id="{5A42F549-2704-3654-735F-628167AE1F5C}"/>
              </a:ext>
            </a:extLst>
          </p:cNvPr>
          <p:cNvSpPr/>
          <p:nvPr/>
        </p:nvSpPr>
        <p:spPr>
          <a:xfrm>
            <a:off x="8183880" y="1920240"/>
            <a:ext cx="3200400" cy="274320"/>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DESIGN PRINCIPLE</a:t>
            </a:r>
            <a:endParaRPr lang="en-US" dirty="0"/>
          </a:p>
        </p:txBody>
      </p:sp>
      <p:sp>
        <p:nvSpPr>
          <p:cNvPr id="19" name="Text 17">
            <a:extLst>
              <a:ext uri="{FF2B5EF4-FFF2-40B4-BE49-F238E27FC236}">
                <a16:creationId xmlns:a16="http://schemas.microsoft.com/office/drawing/2014/main" id="{B829900D-48DF-A6B8-5F63-FAD3EFA71524}"/>
              </a:ext>
            </a:extLst>
          </p:cNvPr>
          <p:cNvSpPr/>
          <p:nvPr/>
        </p:nvSpPr>
        <p:spPr>
          <a:xfrm>
            <a:off x="8183880" y="2194560"/>
            <a:ext cx="3200400" cy="640080"/>
          </a:xfrm>
          <a:prstGeom prst="rect">
            <a:avLst/>
          </a:prstGeom>
          <a:noFill/>
          <a:ln/>
        </p:spPr>
        <p:txBody>
          <a:bodyPr wrap="square" lIns="0" tIns="0" rIns="0" bIns="0" rtlCol="0" anchor="ctr"/>
          <a:lstStyle/>
          <a:p>
            <a:pPr marL="0" indent="0">
              <a:buNone/>
            </a:pPr>
            <a:r>
              <a:rPr lang="en-US" sz="1800" b="1" dirty="0">
                <a:solidFill>
                  <a:srgbClr val="1A1F2E"/>
                </a:solidFill>
                <a:latin typeface="Georgia" pitchFamily="34" charset="0"/>
                <a:ea typeface="Georgia" pitchFamily="34" charset="-122"/>
                <a:cs typeface="Georgia" pitchFamily="34" charset="-120"/>
              </a:rPr>
              <a:t>Less is more, when it's noisy</a:t>
            </a:r>
            <a:endParaRPr lang="en-US" sz="1800" dirty="0"/>
          </a:p>
        </p:txBody>
      </p:sp>
      <p:sp>
        <p:nvSpPr>
          <p:cNvPr id="20" name="Text 18">
            <a:extLst>
              <a:ext uri="{FF2B5EF4-FFF2-40B4-BE49-F238E27FC236}">
                <a16:creationId xmlns:a16="http://schemas.microsoft.com/office/drawing/2014/main" id="{A47BFA7F-F742-5D25-A70E-C92EFA99E690}"/>
              </a:ext>
            </a:extLst>
          </p:cNvPr>
          <p:cNvSpPr/>
          <p:nvPr/>
        </p:nvSpPr>
        <p:spPr>
          <a:xfrm>
            <a:off x="8183880" y="2926080"/>
            <a:ext cx="3200400" cy="219456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Excessive input variables introduce noise rather than predictive clarity. This study leans into that. A lean price-only feature set across short, medium, and long windows.</a:t>
            </a:r>
            <a:endParaRPr lang="en-US" dirty="0"/>
          </a:p>
        </p:txBody>
      </p:sp>
      <p:sp>
        <p:nvSpPr>
          <p:cNvPr id="21" name="Text 19">
            <a:extLst>
              <a:ext uri="{FF2B5EF4-FFF2-40B4-BE49-F238E27FC236}">
                <a16:creationId xmlns:a16="http://schemas.microsoft.com/office/drawing/2014/main" id="{A51148DA-D7CD-FA02-C4A3-386743AEE8B3}"/>
              </a:ext>
            </a:extLst>
          </p:cNvPr>
          <p:cNvSpPr/>
          <p:nvPr/>
        </p:nvSpPr>
        <p:spPr>
          <a:xfrm>
            <a:off x="8183880" y="5532120"/>
            <a:ext cx="3200400" cy="5029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Guresen, Kayakutlu &amp; Daim, Expert Systems with Applications (2011)</a:t>
            </a:r>
            <a:endParaRPr lang="en-US" sz="900" dirty="0"/>
          </a:p>
        </p:txBody>
      </p:sp>
      <p:sp>
        <p:nvSpPr>
          <p:cNvPr id="23" name="Shape 21">
            <a:extLst>
              <a:ext uri="{FF2B5EF4-FFF2-40B4-BE49-F238E27FC236}">
                <a16:creationId xmlns:a16="http://schemas.microsoft.com/office/drawing/2014/main" id="{44AF6292-4D5D-B98C-4F65-449A272CA6EF}"/>
              </a:ext>
            </a:extLst>
          </p:cNvPr>
          <p:cNvSpPr/>
          <p:nvPr/>
        </p:nvSpPr>
        <p:spPr>
          <a:xfrm>
            <a:off x="548640" y="6446520"/>
            <a:ext cx="11094415" cy="0"/>
          </a:xfrm>
          <a:prstGeom prst="line">
            <a:avLst/>
          </a:prstGeom>
          <a:noFill/>
          <a:ln w="9525">
            <a:solidFill>
              <a:srgbClr val="E5E7EB"/>
            </a:solidFill>
            <a:prstDash val="solid"/>
          </a:ln>
        </p:spPr>
      </p:sp>
      <p:sp>
        <p:nvSpPr>
          <p:cNvPr id="24" name="Text 22">
            <a:extLst>
              <a:ext uri="{FF2B5EF4-FFF2-40B4-BE49-F238E27FC236}">
                <a16:creationId xmlns:a16="http://schemas.microsoft.com/office/drawing/2014/main" id="{082105A9-F59E-7C10-52B5-DCEAC29A33FF}"/>
              </a:ext>
            </a:extLst>
          </p:cNvPr>
          <p:cNvSpPr/>
          <p:nvPr/>
        </p:nvSpPr>
        <p:spPr>
          <a:xfrm>
            <a:off x="11320475" y="6492240"/>
            <a:ext cx="73152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 / 15</a:t>
            </a:r>
            <a:endParaRPr lang="en-US" sz="1000" dirty="0"/>
          </a:p>
        </p:txBody>
      </p:sp>
    </p:spTree>
    <p:extLst>
      <p:ext uri="{BB962C8B-B14F-4D97-AF65-F5344CB8AC3E}">
        <p14:creationId xmlns:p14="http://schemas.microsoft.com/office/powerpoint/2010/main" val="980181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AF99D-2450-039D-8B08-1AB003956B2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AA7B15-8DB4-316B-D61D-E6706060A02A}"/>
              </a:ext>
            </a:extLst>
          </p:cNvPr>
          <p:cNvSpPr/>
          <p:nvPr/>
        </p:nvSpPr>
        <p:spPr>
          <a:xfrm>
            <a:off x="243687" y="82296"/>
            <a:ext cx="10972800" cy="292608"/>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DATA &amp; SECTOR SELECTION</a:t>
            </a:r>
            <a:endParaRPr lang="en-US" dirty="0"/>
          </a:p>
        </p:txBody>
      </p:sp>
      <p:sp>
        <p:nvSpPr>
          <p:cNvPr id="3" name="Text 1">
            <a:extLst>
              <a:ext uri="{FF2B5EF4-FFF2-40B4-BE49-F238E27FC236}">
                <a16:creationId xmlns:a16="http://schemas.microsoft.com/office/drawing/2014/main" id="{D2FF3518-B1F7-77BD-9529-D020669E01F8}"/>
              </a:ext>
            </a:extLst>
          </p:cNvPr>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A1F2E"/>
                </a:solidFill>
                <a:latin typeface="Georgia" pitchFamily="34" charset="0"/>
                <a:ea typeface="Georgia" pitchFamily="34" charset="-122"/>
                <a:cs typeface="Georgia" pitchFamily="34" charset="-120"/>
              </a:rPr>
              <a:t>Three sectors, three personalities</a:t>
            </a:r>
            <a:endParaRPr lang="en-US" sz="3000" dirty="0"/>
          </a:p>
        </p:txBody>
      </p:sp>
      <p:sp>
        <p:nvSpPr>
          <p:cNvPr id="4" name="Text 2">
            <a:extLst>
              <a:ext uri="{FF2B5EF4-FFF2-40B4-BE49-F238E27FC236}">
                <a16:creationId xmlns:a16="http://schemas.microsoft.com/office/drawing/2014/main" id="{33B68BB0-D66C-DBB3-F2B9-DD84D91BCEEC}"/>
              </a:ext>
            </a:extLst>
          </p:cNvPr>
          <p:cNvSpPr/>
          <p:nvPr/>
        </p:nvSpPr>
        <p:spPr>
          <a:xfrm>
            <a:off x="548640" y="1600200"/>
            <a:ext cx="11064240" cy="320040"/>
          </a:xfrm>
          <a:prstGeom prst="rect">
            <a:avLst/>
          </a:prstGeom>
          <a:noFill/>
          <a:ln/>
        </p:spPr>
        <p:txBody>
          <a:bodyPr wrap="square" lIns="0" tIns="0" rIns="0" bIns="0" rtlCol="0" anchor="ctr"/>
          <a:lstStyle/>
          <a:p>
            <a:pPr marL="0" indent="0">
              <a:buNone/>
            </a:pPr>
            <a:r>
              <a:rPr lang="en-US" b="1" dirty="0">
                <a:solidFill>
                  <a:srgbClr val="1A1F2E"/>
                </a:solidFill>
                <a:latin typeface="Calibri" pitchFamily="34" charset="0"/>
                <a:ea typeface="Calibri" pitchFamily="34" charset="-122"/>
                <a:cs typeface="Calibri" pitchFamily="34" charset="-120"/>
              </a:rPr>
              <a:t>Source:  </a:t>
            </a:r>
            <a:r>
              <a:rPr lang="en-US" dirty="0">
                <a:solidFill>
                  <a:srgbClr val="2D3343"/>
                </a:solidFill>
                <a:latin typeface="Calibri" pitchFamily="34" charset="0"/>
                <a:ea typeface="Calibri" pitchFamily="34" charset="-122"/>
                <a:cs typeface="Calibri" pitchFamily="34" charset="-120"/>
              </a:rPr>
              <a:t>S&amp;P 500 Stocks dataset (Kaggle)  ·  </a:t>
            </a:r>
            <a:r>
              <a:rPr lang="en-US" b="1" dirty="0">
                <a:solidFill>
                  <a:srgbClr val="1A1F2E"/>
                </a:solidFill>
                <a:latin typeface="Calibri" pitchFamily="34" charset="0"/>
                <a:ea typeface="Calibri" pitchFamily="34" charset="-122"/>
                <a:cs typeface="Calibri" pitchFamily="34" charset="-120"/>
              </a:rPr>
              <a:t>Range:  </a:t>
            </a:r>
            <a:r>
              <a:rPr lang="en-US" dirty="0">
                <a:solidFill>
                  <a:srgbClr val="2D3343"/>
                </a:solidFill>
                <a:latin typeface="Calibri" pitchFamily="34" charset="0"/>
                <a:ea typeface="Calibri" pitchFamily="34" charset="-122"/>
                <a:cs typeface="Calibri" pitchFamily="34" charset="-120"/>
              </a:rPr>
              <a:t>Jan 2010 – Dec 2024  ·  </a:t>
            </a:r>
            <a:r>
              <a:rPr lang="en-US" b="1" dirty="0">
                <a:solidFill>
                  <a:srgbClr val="1A1F2E"/>
                </a:solidFill>
                <a:latin typeface="Calibri" pitchFamily="34" charset="0"/>
                <a:ea typeface="Calibri" pitchFamily="34" charset="-122"/>
                <a:cs typeface="Calibri" pitchFamily="34" charset="-120"/>
              </a:rPr>
              <a:t>Granularity:  </a:t>
            </a:r>
            <a:r>
              <a:rPr lang="en-US" dirty="0">
                <a:solidFill>
                  <a:srgbClr val="2D3343"/>
                </a:solidFill>
                <a:latin typeface="Calibri" pitchFamily="34" charset="0"/>
                <a:ea typeface="Calibri" pitchFamily="34" charset="-122"/>
                <a:cs typeface="Calibri" pitchFamily="34" charset="-120"/>
              </a:rPr>
              <a:t>daily OHLC + Adjusted Close</a:t>
            </a:r>
            <a:endParaRPr lang="en-US" dirty="0"/>
          </a:p>
        </p:txBody>
      </p:sp>
      <p:sp>
        <p:nvSpPr>
          <p:cNvPr id="5" name="Shape 3">
            <a:extLst>
              <a:ext uri="{FF2B5EF4-FFF2-40B4-BE49-F238E27FC236}">
                <a16:creationId xmlns:a16="http://schemas.microsoft.com/office/drawing/2014/main" id="{7B2745BA-9113-0EAF-7E8F-D21F188648BC}"/>
              </a:ext>
            </a:extLst>
          </p:cNvPr>
          <p:cNvSpPr/>
          <p:nvPr/>
        </p:nvSpPr>
        <p:spPr>
          <a:xfrm>
            <a:off x="548640" y="2103120"/>
            <a:ext cx="3657600" cy="3291840"/>
          </a:xfrm>
          <a:prstGeom prst="rect">
            <a:avLst/>
          </a:prstGeom>
          <a:solidFill>
            <a:srgbClr val="FFFFFF"/>
          </a:solidFill>
          <a:ln w="9525">
            <a:solidFill>
              <a:srgbClr val="E5E7EB"/>
            </a:solidFill>
            <a:prstDash val="solid"/>
          </a:ln>
        </p:spPr>
      </p:sp>
      <p:sp>
        <p:nvSpPr>
          <p:cNvPr id="6" name="Text 4">
            <a:extLst>
              <a:ext uri="{FF2B5EF4-FFF2-40B4-BE49-F238E27FC236}">
                <a16:creationId xmlns:a16="http://schemas.microsoft.com/office/drawing/2014/main" id="{DA9CAA1B-C6B8-E962-56AA-80A85DEACE4F}"/>
              </a:ext>
            </a:extLst>
          </p:cNvPr>
          <p:cNvSpPr/>
          <p:nvPr/>
        </p:nvSpPr>
        <p:spPr>
          <a:xfrm>
            <a:off x="777240" y="2240280"/>
            <a:ext cx="1828800" cy="640080"/>
          </a:xfrm>
          <a:prstGeom prst="rect">
            <a:avLst/>
          </a:prstGeom>
          <a:noFill/>
          <a:ln/>
        </p:spPr>
        <p:txBody>
          <a:bodyPr wrap="square" lIns="0" tIns="0" rIns="0" bIns="0" rtlCol="0" anchor="ctr"/>
          <a:lstStyle/>
          <a:p>
            <a:pPr marL="0" indent="0">
              <a:buNone/>
            </a:pPr>
            <a:r>
              <a:rPr lang="en-US" sz="3600" b="1" dirty="0">
                <a:solidFill>
                  <a:srgbClr val="C2410C"/>
                </a:solidFill>
                <a:latin typeface="Georgia" pitchFamily="34" charset="0"/>
                <a:ea typeface="Georgia" pitchFamily="34" charset="-122"/>
                <a:cs typeface="Georgia" pitchFamily="34" charset="-120"/>
              </a:rPr>
              <a:t>ORCL</a:t>
            </a:r>
            <a:endParaRPr lang="en-US" sz="3600" dirty="0"/>
          </a:p>
        </p:txBody>
      </p:sp>
      <p:sp>
        <p:nvSpPr>
          <p:cNvPr id="7" name="Shape 5">
            <a:extLst>
              <a:ext uri="{FF2B5EF4-FFF2-40B4-BE49-F238E27FC236}">
                <a16:creationId xmlns:a16="http://schemas.microsoft.com/office/drawing/2014/main" id="{1514F97A-88F1-F76F-4700-7CBA0898A19F}"/>
              </a:ext>
            </a:extLst>
          </p:cNvPr>
          <p:cNvSpPr/>
          <p:nvPr/>
        </p:nvSpPr>
        <p:spPr>
          <a:xfrm>
            <a:off x="2560320" y="2423160"/>
            <a:ext cx="1417320" cy="292608"/>
          </a:xfrm>
          <a:prstGeom prst="roundRect">
            <a:avLst>
              <a:gd name="adj" fmla="val 15625"/>
            </a:avLst>
          </a:prstGeom>
          <a:solidFill>
            <a:srgbClr val="C2410C"/>
          </a:solidFill>
          <a:ln w="12700">
            <a:solidFill>
              <a:srgbClr val="C2410C"/>
            </a:solidFill>
            <a:prstDash val="solid"/>
          </a:ln>
        </p:spPr>
        <p:txBody>
          <a:bodyPr/>
          <a:lstStyle/>
          <a:p>
            <a:endParaRPr lang="en-US" dirty="0"/>
          </a:p>
        </p:txBody>
      </p:sp>
      <p:sp>
        <p:nvSpPr>
          <p:cNvPr id="8" name="Text 6">
            <a:extLst>
              <a:ext uri="{FF2B5EF4-FFF2-40B4-BE49-F238E27FC236}">
                <a16:creationId xmlns:a16="http://schemas.microsoft.com/office/drawing/2014/main" id="{9A970A1C-0FC2-421F-56C3-335C20D42E0A}"/>
              </a:ext>
            </a:extLst>
          </p:cNvPr>
          <p:cNvSpPr/>
          <p:nvPr/>
        </p:nvSpPr>
        <p:spPr>
          <a:xfrm>
            <a:off x="2560320" y="2423160"/>
            <a:ext cx="1417320"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High-volatility</a:t>
            </a:r>
            <a:endParaRPr lang="en-US" dirty="0"/>
          </a:p>
        </p:txBody>
      </p:sp>
      <p:sp>
        <p:nvSpPr>
          <p:cNvPr id="9" name="Text 7">
            <a:extLst>
              <a:ext uri="{FF2B5EF4-FFF2-40B4-BE49-F238E27FC236}">
                <a16:creationId xmlns:a16="http://schemas.microsoft.com/office/drawing/2014/main" id="{25F454D8-602A-084E-F87A-4895EF898FCA}"/>
              </a:ext>
            </a:extLst>
          </p:cNvPr>
          <p:cNvSpPr/>
          <p:nvPr/>
        </p:nvSpPr>
        <p:spPr>
          <a:xfrm>
            <a:off x="777240" y="2926080"/>
            <a:ext cx="3200400" cy="320040"/>
          </a:xfrm>
          <a:prstGeom prst="rect">
            <a:avLst/>
          </a:prstGeom>
          <a:noFill/>
          <a:ln/>
        </p:spPr>
        <p:txBody>
          <a:bodyPr wrap="square" lIns="0" tIns="0" rIns="0" bIns="0" rtlCol="0" anchor="ctr"/>
          <a:lstStyle/>
          <a:p>
            <a:pPr marL="0" indent="0">
              <a:buNone/>
            </a:pPr>
            <a:r>
              <a:rPr lang="en-US" i="1" dirty="0">
                <a:solidFill>
                  <a:srgbClr val="6B7280"/>
                </a:solidFill>
                <a:latin typeface="Calibri" pitchFamily="34" charset="0"/>
                <a:ea typeface="Calibri" pitchFamily="34" charset="-122"/>
                <a:cs typeface="Calibri" pitchFamily="34" charset="-120"/>
              </a:rPr>
              <a:t>Technology</a:t>
            </a:r>
            <a:endParaRPr lang="en-US" dirty="0"/>
          </a:p>
        </p:txBody>
      </p:sp>
      <p:sp>
        <p:nvSpPr>
          <p:cNvPr id="10" name="Shape 8">
            <a:extLst>
              <a:ext uri="{FF2B5EF4-FFF2-40B4-BE49-F238E27FC236}">
                <a16:creationId xmlns:a16="http://schemas.microsoft.com/office/drawing/2014/main" id="{CE92CAA1-7881-1A2B-5BE2-F63065644D7B}"/>
              </a:ext>
            </a:extLst>
          </p:cNvPr>
          <p:cNvSpPr/>
          <p:nvPr/>
        </p:nvSpPr>
        <p:spPr>
          <a:xfrm>
            <a:off x="777240" y="3337560"/>
            <a:ext cx="548640" cy="0"/>
          </a:xfrm>
          <a:prstGeom prst="line">
            <a:avLst/>
          </a:prstGeom>
          <a:noFill/>
          <a:ln w="19050">
            <a:solidFill>
              <a:srgbClr val="C2410C"/>
            </a:solidFill>
            <a:prstDash val="solid"/>
          </a:ln>
        </p:spPr>
      </p:sp>
      <p:sp>
        <p:nvSpPr>
          <p:cNvPr id="11" name="Text 9">
            <a:extLst>
              <a:ext uri="{FF2B5EF4-FFF2-40B4-BE49-F238E27FC236}">
                <a16:creationId xmlns:a16="http://schemas.microsoft.com/office/drawing/2014/main" id="{5C6E768F-E439-28E5-580B-8186D54593E5}"/>
              </a:ext>
            </a:extLst>
          </p:cNvPr>
          <p:cNvSpPr/>
          <p:nvPr/>
        </p:nvSpPr>
        <p:spPr>
          <a:xfrm>
            <a:off x="777240" y="3520440"/>
            <a:ext cx="3200400" cy="173736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Selected to represent high-growth tech. Recently transformed from a legacy database vendor into a cloud + AI infrastructure story. Expected high volatility</a:t>
            </a:r>
            <a:endParaRPr lang="en-US" dirty="0"/>
          </a:p>
        </p:txBody>
      </p:sp>
      <p:sp>
        <p:nvSpPr>
          <p:cNvPr id="12" name="Shape 10">
            <a:extLst>
              <a:ext uri="{FF2B5EF4-FFF2-40B4-BE49-F238E27FC236}">
                <a16:creationId xmlns:a16="http://schemas.microsoft.com/office/drawing/2014/main" id="{21ECF6FE-284C-3A48-2D6B-D64E78A6C312}"/>
              </a:ext>
            </a:extLst>
          </p:cNvPr>
          <p:cNvSpPr/>
          <p:nvPr/>
        </p:nvSpPr>
        <p:spPr>
          <a:xfrm>
            <a:off x="4251960" y="2103120"/>
            <a:ext cx="3657600" cy="3291840"/>
          </a:xfrm>
          <a:prstGeom prst="rect">
            <a:avLst/>
          </a:prstGeom>
          <a:solidFill>
            <a:srgbClr val="FFFFFF"/>
          </a:solidFill>
          <a:ln w="9525">
            <a:solidFill>
              <a:srgbClr val="E5E7EB"/>
            </a:solidFill>
            <a:prstDash val="solid"/>
          </a:ln>
        </p:spPr>
      </p:sp>
      <p:sp>
        <p:nvSpPr>
          <p:cNvPr id="13" name="Text 11">
            <a:extLst>
              <a:ext uri="{FF2B5EF4-FFF2-40B4-BE49-F238E27FC236}">
                <a16:creationId xmlns:a16="http://schemas.microsoft.com/office/drawing/2014/main" id="{A9EB7A57-DA34-D3F4-5FA2-99F8B7B35221}"/>
              </a:ext>
            </a:extLst>
          </p:cNvPr>
          <p:cNvSpPr/>
          <p:nvPr/>
        </p:nvSpPr>
        <p:spPr>
          <a:xfrm>
            <a:off x="4480560" y="2240280"/>
            <a:ext cx="1828800" cy="640080"/>
          </a:xfrm>
          <a:prstGeom prst="rect">
            <a:avLst/>
          </a:prstGeom>
          <a:noFill/>
          <a:ln/>
        </p:spPr>
        <p:txBody>
          <a:bodyPr wrap="square" lIns="0" tIns="0" rIns="0" bIns="0" rtlCol="0" anchor="ctr"/>
          <a:lstStyle/>
          <a:p>
            <a:pPr marL="0" indent="0">
              <a:buNone/>
            </a:pPr>
            <a:r>
              <a:rPr lang="en-US" sz="3600" b="1" dirty="0">
                <a:solidFill>
                  <a:srgbClr val="0F766E"/>
                </a:solidFill>
                <a:latin typeface="Georgia" pitchFamily="34" charset="0"/>
                <a:ea typeface="Georgia" pitchFamily="34" charset="-122"/>
                <a:cs typeface="Georgia" pitchFamily="34" charset="-120"/>
              </a:rPr>
              <a:t>MRK</a:t>
            </a:r>
            <a:endParaRPr lang="en-US" sz="3600" dirty="0"/>
          </a:p>
        </p:txBody>
      </p:sp>
      <p:sp>
        <p:nvSpPr>
          <p:cNvPr id="14" name="Shape 12">
            <a:extLst>
              <a:ext uri="{FF2B5EF4-FFF2-40B4-BE49-F238E27FC236}">
                <a16:creationId xmlns:a16="http://schemas.microsoft.com/office/drawing/2014/main" id="{96DB0EA0-7887-5014-E860-6ECCE4D15C2C}"/>
              </a:ext>
            </a:extLst>
          </p:cNvPr>
          <p:cNvSpPr/>
          <p:nvPr/>
        </p:nvSpPr>
        <p:spPr>
          <a:xfrm>
            <a:off x="6263640" y="2423160"/>
            <a:ext cx="1417320" cy="292608"/>
          </a:xfrm>
          <a:prstGeom prst="roundRect">
            <a:avLst>
              <a:gd name="adj" fmla="val 15625"/>
            </a:avLst>
          </a:prstGeom>
          <a:solidFill>
            <a:srgbClr val="0F766E"/>
          </a:solidFill>
          <a:ln w="12700">
            <a:solidFill>
              <a:srgbClr val="0F766E"/>
            </a:solidFill>
            <a:prstDash val="solid"/>
          </a:ln>
        </p:spPr>
      </p:sp>
      <p:sp>
        <p:nvSpPr>
          <p:cNvPr id="15" name="Text 13">
            <a:extLst>
              <a:ext uri="{FF2B5EF4-FFF2-40B4-BE49-F238E27FC236}">
                <a16:creationId xmlns:a16="http://schemas.microsoft.com/office/drawing/2014/main" id="{FEE0E375-069A-EC99-73F9-6CCDB41541AC}"/>
              </a:ext>
            </a:extLst>
          </p:cNvPr>
          <p:cNvSpPr/>
          <p:nvPr/>
        </p:nvSpPr>
        <p:spPr>
          <a:xfrm>
            <a:off x="6263640" y="2423160"/>
            <a:ext cx="1417320"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Defensive</a:t>
            </a:r>
            <a:endParaRPr lang="en-US" dirty="0"/>
          </a:p>
        </p:txBody>
      </p:sp>
      <p:sp>
        <p:nvSpPr>
          <p:cNvPr id="16" name="Text 14">
            <a:extLst>
              <a:ext uri="{FF2B5EF4-FFF2-40B4-BE49-F238E27FC236}">
                <a16:creationId xmlns:a16="http://schemas.microsoft.com/office/drawing/2014/main" id="{68DE3F50-3276-1AF6-AE21-07533A31ACD3}"/>
              </a:ext>
            </a:extLst>
          </p:cNvPr>
          <p:cNvSpPr/>
          <p:nvPr/>
        </p:nvSpPr>
        <p:spPr>
          <a:xfrm>
            <a:off x="4480560" y="2926080"/>
            <a:ext cx="3200400" cy="320040"/>
          </a:xfrm>
          <a:prstGeom prst="rect">
            <a:avLst/>
          </a:prstGeom>
          <a:noFill/>
          <a:ln/>
        </p:spPr>
        <p:txBody>
          <a:bodyPr wrap="square" lIns="0" tIns="0" rIns="0" bIns="0" rtlCol="0" anchor="ctr"/>
          <a:lstStyle/>
          <a:p>
            <a:pPr marL="0" indent="0">
              <a:buNone/>
            </a:pPr>
            <a:r>
              <a:rPr lang="en-US" i="1" dirty="0">
                <a:solidFill>
                  <a:srgbClr val="6B7280"/>
                </a:solidFill>
                <a:latin typeface="Calibri" pitchFamily="34" charset="0"/>
                <a:ea typeface="Calibri" pitchFamily="34" charset="-122"/>
                <a:cs typeface="Calibri" pitchFamily="34" charset="-120"/>
              </a:rPr>
              <a:t>Healthcare</a:t>
            </a:r>
            <a:endParaRPr lang="en-US" dirty="0"/>
          </a:p>
        </p:txBody>
      </p:sp>
      <p:sp>
        <p:nvSpPr>
          <p:cNvPr id="17" name="Shape 15">
            <a:extLst>
              <a:ext uri="{FF2B5EF4-FFF2-40B4-BE49-F238E27FC236}">
                <a16:creationId xmlns:a16="http://schemas.microsoft.com/office/drawing/2014/main" id="{14281A64-B81B-588B-8814-9ACC2B40F709}"/>
              </a:ext>
            </a:extLst>
          </p:cNvPr>
          <p:cNvSpPr/>
          <p:nvPr/>
        </p:nvSpPr>
        <p:spPr>
          <a:xfrm>
            <a:off x="4480560" y="3337560"/>
            <a:ext cx="548640" cy="0"/>
          </a:xfrm>
          <a:prstGeom prst="line">
            <a:avLst/>
          </a:prstGeom>
          <a:noFill/>
          <a:ln w="19050">
            <a:solidFill>
              <a:srgbClr val="0F766E"/>
            </a:solidFill>
            <a:prstDash val="solid"/>
          </a:ln>
        </p:spPr>
      </p:sp>
      <p:sp>
        <p:nvSpPr>
          <p:cNvPr id="18" name="Text 16">
            <a:extLst>
              <a:ext uri="{FF2B5EF4-FFF2-40B4-BE49-F238E27FC236}">
                <a16:creationId xmlns:a16="http://schemas.microsoft.com/office/drawing/2014/main" id="{144ED6DC-1512-FFE5-AED5-6970395AA1EC}"/>
              </a:ext>
            </a:extLst>
          </p:cNvPr>
          <p:cNvSpPr/>
          <p:nvPr/>
        </p:nvSpPr>
        <p:spPr>
          <a:xfrm>
            <a:off x="4480560" y="3520440"/>
            <a:ext cx="3200400" cy="173736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Selected as a defensive name whose price behavior is driven primarily by clinical trial outcomes rather than broad market sentiment. Replaced JNJ after data-coverage check.</a:t>
            </a:r>
            <a:endParaRPr lang="en-US" dirty="0"/>
          </a:p>
        </p:txBody>
      </p:sp>
      <p:sp>
        <p:nvSpPr>
          <p:cNvPr id="19" name="Shape 17">
            <a:extLst>
              <a:ext uri="{FF2B5EF4-FFF2-40B4-BE49-F238E27FC236}">
                <a16:creationId xmlns:a16="http://schemas.microsoft.com/office/drawing/2014/main" id="{DDE574C8-67A9-92DB-9F65-B162F1EA7B3D}"/>
              </a:ext>
            </a:extLst>
          </p:cNvPr>
          <p:cNvSpPr/>
          <p:nvPr/>
        </p:nvSpPr>
        <p:spPr>
          <a:xfrm>
            <a:off x="7955280" y="2103120"/>
            <a:ext cx="3657600" cy="3291840"/>
          </a:xfrm>
          <a:prstGeom prst="rect">
            <a:avLst/>
          </a:prstGeom>
          <a:solidFill>
            <a:srgbClr val="FFFFFF"/>
          </a:solidFill>
          <a:ln w="9525">
            <a:solidFill>
              <a:srgbClr val="E5E7EB"/>
            </a:solidFill>
            <a:prstDash val="solid"/>
          </a:ln>
        </p:spPr>
      </p:sp>
      <p:sp>
        <p:nvSpPr>
          <p:cNvPr id="20" name="Text 18">
            <a:extLst>
              <a:ext uri="{FF2B5EF4-FFF2-40B4-BE49-F238E27FC236}">
                <a16:creationId xmlns:a16="http://schemas.microsoft.com/office/drawing/2014/main" id="{3A9E16D6-308C-ADDD-31BF-5AB588C3A252}"/>
              </a:ext>
            </a:extLst>
          </p:cNvPr>
          <p:cNvSpPr/>
          <p:nvPr/>
        </p:nvSpPr>
        <p:spPr>
          <a:xfrm>
            <a:off x="8183880" y="2240280"/>
            <a:ext cx="1828800" cy="640080"/>
          </a:xfrm>
          <a:prstGeom prst="rect">
            <a:avLst/>
          </a:prstGeom>
          <a:noFill/>
          <a:ln/>
        </p:spPr>
        <p:txBody>
          <a:bodyPr wrap="square" lIns="0" tIns="0" rIns="0" bIns="0" rtlCol="0" anchor="ctr"/>
          <a:lstStyle/>
          <a:p>
            <a:pPr marL="0" indent="0">
              <a:buNone/>
            </a:pPr>
            <a:r>
              <a:rPr lang="en-US" sz="3600" b="1" dirty="0">
                <a:solidFill>
                  <a:srgbClr val="1E2A4A"/>
                </a:solidFill>
                <a:latin typeface="Georgia" pitchFamily="34" charset="0"/>
                <a:ea typeface="Georgia" pitchFamily="34" charset="-122"/>
                <a:cs typeface="Georgia" pitchFamily="34" charset="-120"/>
              </a:rPr>
              <a:t>PEP</a:t>
            </a:r>
            <a:endParaRPr lang="en-US" sz="3600" dirty="0"/>
          </a:p>
        </p:txBody>
      </p:sp>
      <p:sp>
        <p:nvSpPr>
          <p:cNvPr id="21" name="Shape 19">
            <a:extLst>
              <a:ext uri="{FF2B5EF4-FFF2-40B4-BE49-F238E27FC236}">
                <a16:creationId xmlns:a16="http://schemas.microsoft.com/office/drawing/2014/main" id="{8D4E9F46-FCC6-4BA3-743D-A73303B3299D}"/>
              </a:ext>
            </a:extLst>
          </p:cNvPr>
          <p:cNvSpPr/>
          <p:nvPr/>
        </p:nvSpPr>
        <p:spPr>
          <a:xfrm>
            <a:off x="9966960" y="2423160"/>
            <a:ext cx="1417320" cy="292608"/>
          </a:xfrm>
          <a:prstGeom prst="roundRect">
            <a:avLst>
              <a:gd name="adj" fmla="val 15625"/>
            </a:avLst>
          </a:prstGeom>
          <a:solidFill>
            <a:srgbClr val="1E2A4A"/>
          </a:solidFill>
          <a:ln w="12700">
            <a:solidFill>
              <a:srgbClr val="1E2A4A"/>
            </a:solidFill>
            <a:prstDash val="solid"/>
          </a:ln>
        </p:spPr>
      </p:sp>
      <p:sp>
        <p:nvSpPr>
          <p:cNvPr id="22" name="Text 20">
            <a:extLst>
              <a:ext uri="{FF2B5EF4-FFF2-40B4-BE49-F238E27FC236}">
                <a16:creationId xmlns:a16="http://schemas.microsoft.com/office/drawing/2014/main" id="{C581B2C4-F59C-06D3-F0FB-CF42C178E9F8}"/>
              </a:ext>
            </a:extLst>
          </p:cNvPr>
          <p:cNvSpPr/>
          <p:nvPr/>
        </p:nvSpPr>
        <p:spPr>
          <a:xfrm>
            <a:off x="9966960" y="2423160"/>
            <a:ext cx="1417320" cy="29260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Stable control</a:t>
            </a:r>
            <a:endParaRPr lang="en-US" dirty="0"/>
          </a:p>
        </p:txBody>
      </p:sp>
      <p:sp>
        <p:nvSpPr>
          <p:cNvPr id="23" name="Text 21">
            <a:extLst>
              <a:ext uri="{FF2B5EF4-FFF2-40B4-BE49-F238E27FC236}">
                <a16:creationId xmlns:a16="http://schemas.microsoft.com/office/drawing/2014/main" id="{7827F1AB-A581-567D-EBD2-9D55789A18A0}"/>
              </a:ext>
            </a:extLst>
          </p:cNvPr>
          <p:cNvSpPr/>
          <p:nvPr/>
        </p:nvSpPr>
        <p:spPr>
          <a:xfrm>
            <a:off x="8183880" y="2926080"/>
            <a:ext cx="3200400" cy="320040"/>
          </a:xfrm>
          <a:prstGeom prst="rect">
            <a:avLst/>
          </a:prstGeom>
          <a:noFill/>
          <a:ln/>
        </p:spPr>
        <p:txBody>
          <a:bodyPr wrap="square" lIns="0" tIns="0" rIns="0" bIns="0" rtlCol="0" anchor="ctr"/>
          <a:lstStyle/>
          <a:p>
            <a:pPr marL="0" indent="0">
              <a:buNone/>
            </a:pPr>
            <a:r>
              <a:rPr lang="en-US" i="1" dirty="0">
                <a:solidFill>
                  <a:srgbClr val="6B7280"/>
                </a:solidFill>
                <a:latin typeface="Calibri" pitchFamily="34" charset="0"/>
                <a:ea typeface="Calibri" pitchFamily="34" charset="-122"/>
                <a:cs typeface="Calibri" pitchFamily="34" charset="-120"/>
              </a:rPr>
              <a:t>Consumer Staples</a:t>
            </a:r>
            <a:endParaRPr lang="en-US" dirty="0"/>
          </a:p>
        </p:txBody>
      </p:sp>
      <p:sp>
        <p:nvSpPr>
          <p:cNvPr id="24" name="Shape 22">
            <a:extLst>
              <a:ext uri="{FF2B5EF4-FFF2-40B4-BE49-F238E27FC236}">
                <a16:creationId xmlns:a16="http://schemas.microsoft.com/office/drawing/2014/main" id="{4EA4C6DB-4D01-3244-5DA0-5B5E803C6485}"/>
              </a:ext>
            </a:extLst>
          </p:cNvPr>
          <p:cNvSpPr/>
          <p:nvPr/>
        </p:nvSpPr>
        <p:spPr>
          <a:xfrm>
            <a:off x="8183880" y="3337560"/>
            <a:ext cx="548640" cy="0"/>
          </a:xfrm>
          <a:prstGeom prst="line">
            <a:avLst/>
          </a:prstGeom>
          <a:noFill/>
          <a:ln w="19050">
            <a:solidFill>
              <a:srgbClr val="1E2A4A"/>
            </a:solidFill>
            <a:prstDash val="solid"/>
          </a:ln>
        </p:spPr>
      </p:sp>
      <p:sp>
        <p:nvSpPr>
          <p:cNvPr id="25" name="Text 23">
            <a:extLst>
              <a:ext uri="{FF2B5EF4-FFF2-40B4-BE49-F238E27FC236}">
                <a16:creationId xmlns:a16="http://schemas.microsoft.com/office/drawing/2014/main" id="{370A6348-9BB6-B119-D0B7-002386213673}"/>
              </a:ext>
            </a:extLst>
          </p:cNvPr>
          <p:cNvSpPr/>
          <p:nvPr/>
        </p:nvSpPr>
        <p:spPr>
          <a:xfrm>
            <a:off x="8183880" y="3520440"/>
            <a:ext cx="3200400" cy="173736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Selected as a stable Consumer Staples control. Widely regarded as a steady performer within the S&amp;P 500.</a:t>
            </a:r>
            <a:endParaRPr lang="en-US" dirty="0"/>
          </a:p>
        </p:txBody>
      </p:sp>
      <p:sp>
        <p:nvSpPr>
          <p:cNvPr id="26" name="Shape 24">
            <a:extLst>
              <a:ext uri="{FF2B5EF4-FFF2-40B4-BE49-F238E27FC236}">
                <a16:creationId xmlns:a16="http://schemas.microsoft.com/office/drawing/2014/main" id="{B4CFD2A4-A303-C4A4-A647-AF5282B06298}"/>
              </a:ext>
            </a:extLst>
          </p:cNvPr>
          <p:cNvSpPr/>
          <p:nvPr/>
        </p:nvSpPr>
        <p:spPr>
          <a:xfrm>
            <a:off x="548640" y="5577840"/>
            <a:ext cx="11064240" cy="640080"/>
          </a:xfrm>
          <a:prstGeom prst="rect">
            <a:avLst/>
          </a:prstGeom>
          <a:solidFill>
            <a:srgbClr val="F7F8FA"/>
          </a:solidFill>
          <a:ln w="9525">
            <a:solidFill>
              <a:srgbClr val="E5E7EB"/>
            </a:solidFill>
            <a:prstDash val="solid"/>
          </a:ln>
        </p:spPr>
      </p:sp>
      <p:sp>
        <p:nvSpPr>
          <p:cNvPr id="27" name="Text 25">
            <a:extLst>
              <a:ext uri="{FF2B5EF4-FFF2-40B4-BE49-F238E27FC236}">
                <a16:creationId xmlns:a16="http://schemas.microsoft.com/office/drawing/2014/main" id="{E0B2854E-F833-3256-D923-57DE12B67B32}"/>
              </a:ext>
            </a:extLst>
          </p:cNvPr>
          <p:cNvSpPr/>
          <p:nvPr/>
        </p:nvSpPr>
        <p:spPr>
          <a:xfrm>
            <a:off x="777240" y="5650992"/>
            <a:ext cx="10698480" cy="502920"/>
          </a:xfrm>
          <a:prstGeom prst="rect">
            <a:avLst/>
          </a:prstGeom>
          <a:noFill/>
          <a:ln/>
        </p:spPr>
        <p:txBody>
          <a:bodyPr wrap="square" lIns="0" tIns="0" rIns="0" bIns="0" rtlCol="0" anchor="ctr"/>
          <a:lstStyle/>
          <a:p>
            <a:pPr marL="0" indent="0">
              <a:buNone/>
            </a:pPr>
            <a:r>
              <a:rPr lang="en-US" b="1" dirty="0">
                <a:solidFill>
                  <a:srgbClr val="1A1F2E"/>
                </a:solidFill>
                <a:latin typeface="Calibri" pitchFamily="34" charset="0"/>
                <a:ea typeface="Calibri" pitchFamily="34" charset="-122"/>
                <a:cs typeface="Calibri" pitchFamily="34" charset="-120"/>
              </a:rPr>
              <a:t>Features used:  </a:t>
            </a:r>
            <a:r>
              <a:rPr lang="en-US" dirty="0">
                <a:solidFill>
                  <a:srgbClr val="2D3343"/>
                </a:solidFill>
                <a:latin typeface="Calibri" pitchFamily="34" charset="0"/>
                <a:ea typeface="Calibri" pitchFamily="34" charset="-122"/>
                <a:cs typeface="Calibri" pitchFamily="34" charset="-120"/>
              </a:rPr>
              <a:t>Adjusted Close, Open, High, Low    </a:t>
            </a:r>
            <a:r>
              <a:rPr lang="en-US" b="1" dirty="0">
                <a:solidFill>
                  <a:srgbClr val="1A1F2E"/>
                </a:solidFill>
                <a:latin typeface="Calibri" pitchFamily="34" charset="0"/>
                <a:ea typeface="Calibri" pitchFamily="34" charset="-122"/>
                <a:cs typeface="Calibri" pitchFamily="34" charset="-120"/>
              </a:rPr>
              <a:t>Excluded:  </a:t>
            </a:r>
            <a:r>
              <a:rPr lang="en-US" dirty="0">
                <a:solidFill>
                  <a:srgbClr val="2D3343"/>
                </a:solidFill>
                <a:latin typeface="Calibri" pitchFamily="34" charset="0"/>
                <a:ea typeface="Calibri" pitchFamily="34" charset="-122"/>
                <a:cs typeface="Calibri" pitchFamily="34" charset="-120"/>
              </a:rPr>
              <a:t>Volume (non-price, noisy)    </a:t>
            </a:r>
          </a:p>
          <a:p>
            <a:pPr marL="0" indent="0">
              <a:buNone/>
            </a:pPr>
            <a:r>
              <a:rPr lang="en-US" b="1" dirty="0">
                <a:solidFill>
                  <a:srgbClr val="1A1F2E"/>
                </a:solidFill>
                <a:latin typeface="Calibri" pitchFamily="34" charset="0"/>
                <a:ea typeface="Calibri" pitchFamily="34" charset="-122"/>
                <a:cs typeface="Calibri" pitchFamily="34" charset="-120"/>
              </a:rPr>
              <a:t>Why Adjusted Close?  </a:t>
            </a:r>
            <a:r>
              <a:rPr lang="en-US" dirty="0">
                <a:solidFill>
                  <a:srgbClr val="2D3343"/>
                </a:solidFill>
                <a:latin typeface="Calibri" pitchFamily="34" charset="0"/>
                <a:ea typeface="Calibri" pitchFamily="34" charset="-122"/>
                <a:cs typeface="Calibri" pitchFamily="34" charset="-120"/>
              </a:rPr>
              <a:t>splits, dividends, share issuances are accounted for</a:t>
            </a:r>
            <a:endParaRPr lang="en-US" dirty="0"/>
          </a:p>
        </p:txBody>
      </p:sp>
      <p:sp>
        <p:nvSpPr>
          <p:cNvPr id="28" name="Text 26">
            <a:extLst>
              <a:ext uri="{FF2B5EF4-FFF2-40B4-BE49-F238E27FC236}">
                <a16:creationId xmlns:a16="http://schemas.microsoft.com/office/drawing/2014/main" id="{2A3A7F83-D336-FBF1-5DBE-7B7A3EE6A572}"/>
              </a:ext>
            </a:extLst>
          </p:cNvPr>
          <p:cNvSpPr/>
          <p:nvPr/>
        </p:nvSpPr>
        <p:spPr>
          <a:xfrm>
            <a:off x="548640" y="6144768"/>
            <a:ext cx="10362895" cy="27432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Source: Kaggle S&amp;P 500 Stocks (Marjanovic, n.d.). Feature design follows Guresen, Kayakutlu, &amp; Daim (2011).</a:t>
            </a:r>
            <a:endParaRPr lang="en-US" sz="1000" dirty="0"/>
          </a:p>
        </p:txBody>
      </p:sp>
      <p:sp>
        <p:nvSpPr>
          <p:cNvPr id="29" name="Shape 27">
            <a:extLst>
              <a:ext uri="{FF2B5EF4-FFF2-40B4-BE49-F238E27FC236}">
                <a16:creationId xmlns:a16="http://schemas.microsoft.com/office/drawing/2014/main" id="{0342F80C-E585-B634-A597-DB45009BCE94}"/>
              </a:ext>
            </a:extLst>
          </p:cNvPr>
          <p:cNvSpPr/>
          <p:nvPr/>
        </p:nvSpPr>
        <p:spPr>
          <a:xfrm>
            <a:off x="548640" y="6446520"/>
            <a:ext cx="11094415" cy="0"/>
          </a:xfrm>
          <a:prstGeom prst="line">
            <a:avLst/>
          </a:prstGeom>
          <a:noFill/>
          <a:ln w="9525">
            <a:solidFill>
              <a:srgbClr val="E5E7EB"/>
            </a:solidFill>
            <a:prstDash val="solid"/>
          </a:ln>
        </p:spPr>
      </p:sp>
      <p:sp>
        <p:nvSpPr>
          <p:cNvPr id="30" name="Text 28">
            <a:extLst>
              <a:ext uri="{FF2B5EF4-FFF2-40B4-BE49-F238E27FC236}">
                <a16:creationId xmlns:a16="http://schemas.microsoft.com/office/drawing/2014/main" id="{C9496CCC-AD45-0426-3C49-4520845D5EE4}"/>
              </a:ext>
            </a:extLst>
          </p:cNvPr>
          <p:cNvSpPr/>
          <p:nvPr/>
        </p:nvSpPr>
        <p:spPr>
          <a:xfrm>
            <a:off x="11277295" y="6492240"/>
            <a:ext cx="73152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4 / 15</a:t>
            </a:r>
            <a:endParaRPr lang="en-US" sz="1000" dirty="0"/>
          </a:p>
        </p:txBody>
      </p:sp>
    </p:spTree>
    <p:extLst>
      <p:ext uri="{BB962C8B-B14F-4D97-AF65-F5344CB8AC3E}">
        <p14:creationId xmlns:p14="http://schemas.microsoft.com/office/powerpoint/2010/main" val="4260398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C7BE9-FA7C-43F9-611D-157AC64EF002}"/>
            </a:ext>
          </a:extLst>
        </p:cNvPr>
        <p:cNvGrpSpPr/>
        <p:nvPr/>
      </p:nvGrpSpPr>
      <p:grpSpPr>
        <a:xfrm>
          <a:off x="0" y="0"/>
          <a:ext cx="0" cy="0"/>
          <a:chOff x="0" y="0"/>
          <a:chExt cx="0" cy="0"/>
        </a:xfrm>
      </p:grpSpPr>
      <p:sp>
        <p:nvSpPr>
          <p:cNvPr id="19" name="Shape 17">
            <a:extLst>
              <a:ext uri="{FF2B5EF4-FFF2-40B4-BE49-F238E27FC236}">
                <a16:creationId xmlns:a16="http://schemas.microsoft.com/office/drawing/2014/main" id="{E1ED38EA-EFED-9771-B7CC-A9A84AE57B4D}"/>
              </a:ext>
            </a:extLst>
          </p:cNvPr>
          <p:cNvSpPr/>
          <p:nvPr/>
        </p:nvSpPr>
        <p:spPr>
          <a:xfrm>
            <a:off x="548640" y="4343400"/>
            <a:ext cx="11064240" cy="2334768"/>
          </a:xfrm>
          <a:prstGeom prst="rect">
            <a:avLst/>
          </a:prstGeom>
          <a:solidFill>
            <a:srgbClr val="F4F6F9"/>
          </a:solidFill>
          <a:ln w="6350">
            <a:solidFill>
              <a:srgbClr val="E5E7EB"/>
            </a:solidFill>
            <a:prstDash val="solid"/>
          </a:ln>
        </p:spPr>
      </p:sp>
      <p:sp>
        <p:nvSpPr>
          <p:cNvPr id="2" name="Text 0">
            <a:extLst>
              <a:ext uri="{FF2B5EF4-FFF2-40B4-BE49-F238E27FC236}">
                <a16:creationId xmlns:a16="http://schemas.microsoft.com/office/drawing/2014/main" id="{DC2DF8A8-F0BA-AC2C-E346-468CDC200F2B}"/>
              </a:ext>
            </a:extLst>
          </p:cNvPr>
          <p:cNvSpPr/>
          <p:nvPr/>
        </p:nvSpPr>
        <p:spPr>
          <a:xfrm>
            <a:off x="243687" y="137160"/>
            <a:ext cx="10972800" cy="292608"/>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METHODOLOGY · MODELS</a:t>
            </a:r>
            <a:endParaRPr lang="en-US" dirty="0"/>
          </a:p>
        </p:txBody>
      </p:sp>
      <p:sp>
        <p:nvSpPr>
          <p:cNvPr id="3" name="Text 1">
            <a:extLst>
              <a:ext uri="{FF2B5EF4-FFF2-40B4-BE49-F238E27FC236}">
                <a16:creationId xmlns:a16="http://schemas.microsoft.com/office/drawing/2014/main" id="{D1919564-6043-FA54-25E1-46FD5AEDB19F}"/>
              </a:ext>
            </a:extLst>
          </p:cNvPr>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A1F2E"/>
                </a:solidFill>
                <a:latin typeface="Georgia" pitchFamily="34" charset="0"/>
                <a:ea typeface="Georgia" pitchFamily="34" charset="-122"/>
                <a:cs typeface="Georgia" pitchFamily="34" charset="-120"/>
              </a:rPr>
              <a:t>Three models, one apples-to-apples test</a:t>
            </a:r>
            <a:endParaRPr lang="en-US" sz="3000" dirty="0"/>
          </a:p>
        </p:txBody>
      </p:sp>
      <p:sp>
        <p:nvSpPr>
          <p:cNvPr id="4" name="Shape 2">
            <a:extLst>
              <a:ext uri="{FF2B5EF4-FFF2-40B4-BE49-F238E27FC236}">
                <a16:creationId xmlns:a16="http://schemas.microsoft.com/office/drawing/2014/main" id="{DE7D26CA-B4EB-DB2D-350D-1EB710881F2C}"/>
              </a:ext>
            </a:extLst>
          </p:cNvPr>
          <p:cNvSpPr/>
          <p:nvPr/>
        </p:nvSpPr>
        <p:spPr>
          <a:xfrm>
            <a:off x="548640" y="1691640"/>
            <a:ext cx="3657600" cy="2468880"/>
          </a:xfrm>
          <a:prstGeom prst="rect">
            <a:avLst/>
          </a:prstGeom>
          <a:solidFill>
            <a:srgbClr val="FFFFFF"/>
          </a:solidFill>
          <a:ln w="9525">
            <a:solidFill>
              <a:srgbClr val="E5E7EB"/>
            </a:solidFill>
            <a:prstDash val="solid"/>
          </a:ln>
        </p:spPr>
      </p:sp>
      <p:sp>
        <p:nvSpPr>
          <p:cNvPr id="5" name="Shape 3">
            <a:extLst>
              <a:ext uri="{FF2B5EF4-FFF2-40B4-BE49-F238E27FC236}">
                <a16:creationId xmlns:a16="http://schemas.microsoft.com/office/drawing/2014/main" id="{23B2A16B-E106-C904-D2F1-DEE6B738DEF3}"/>
              </a:ext>
            </a:extLst>
          </p:cNvPr>
          <p:cNvSpPr/>
          <p:nvPr/>
        </p:nvSpPr>
        <p:spPr>
          <a:xfrm>
            <a:off x="548640" y="1691640"/>
            <a:ext cx="3657600" cy="457200"/>
          </a:xfrm>
          <a:prstGeom prst="rect">
            <a:avLst/>
          </a:prstGeom>
          <a:solidFill>
            <a:srgbClr val="1E2A4A"/>
          </a:solidFill>
          <a:ln w="12700">
            <a:solidFill>
              <a:srgbClr val="1E2A4A"/>
            </a:solidFill>
            <a:prstDash val="solid"/>
          </a:ln>
        </p:spPr>
      </p:sp>
      <p:sp>
        <p:nvSpPr>
          <p:cNvPr id="6" name="Text 4">
            <a:extLst>
              <a:ext uri="{FF2B5EF4-FFF2-40B4-BE49-F238E27FC236}">
                <a16:creationId xmlns:a16="http://schemas.microsoft.com/office/drawing/2014/main" id="{26EA96A0-63BC-E7A3-8B63-B032697399A4}"/>
              </a:ext>
            </a:extLst>
          </p:cNvPr>
          <p:cNvSpPr/>
          <p:nvPr/>
        </p:nvSpPr>
        <p:spPr>
          <a:xfrm>
            <a:off x="777240" y="1764792"/>
            <a:ext cx="3200400" cy="320040"/>
          </a:xfrm>
          <a:prstGeom prst="rect">
            <a:avLst/>
          </a:prstGeom>
          <a:noFill/>
          <a:ln/>
        </p:spPr>
        <p:txBody>
          <a:bodyPr wrap="square" lIns="0" tIns="0" rIns="0" bIns="0" rtlCol="0" anchor="ctr"/>
          <a:lstStyle/>
          <a:p>
            <a:pPr marL="0" indent="0">
              <a:buNone/>
            </a:pPr>
            <a:r>
              <a:rPr lang="en-US" b="1" kern="0" spc="300" dirty="0">
                <a:solidFill>
                  <a:srgbClr val="FFFFFF"/>
                </a:solidFill>
                <a:latin typeface="Calibri" pitchFamily="34" charset="0"/>
                <a:ea typeface="Calibri" pitchFamily="34" charset="-122"/>
                <a:cs typeface="Calibri" pitchFamily="34" charset="-120"/>
              </a:rPr>
              <a:t>FLOOR BENCHMARK</a:t>
            </a:r>
            <a:endParaRPr lang="en-US" dirty="0"/>
          </a:p>
        </p:txBody>
      </p:sp>
      <p:sp>
        <p:nvSpPr>
          <p:cNvPr id="7" name="Text 5">
            <a:extLst>
              <a:ext uri="{FF2B5EF4-FFF2-40B4-BE49-F238E27FC236}">
                <a16:creationId xmlns:a16="http://schemas.microsoft.com/office/drawing/2014/main" id="{45859F77-D53E-67AB-37BB-664AC42DC8C8}"/>
              </a:ext>
            </a:extLst>
          </p:cNvPr>
          <p:cNvSpPr/>
          <p:nvPr/>
        </p:nvSpPr>
        <p:spPr>
          <a:xfrm>
            <a:off x="777240" y="2240280"/>
            <a:ext cx="3200400" cy="457200"/>
          </a:xfrm>
          <a:prstGeom prst="rect">
            <a:avLst/>
          </a:prstGeom>
          <a:noFill/>
          <a:ln/>
        </p:spPr>
        <p:txBody>
          <a:bodyPr wrap="square" lIns="0" tIns="0" rIns="0" bIns="0" rtlCol="0" anchor="ctr"/>
          <a:lstStyle/>
          <a:p>
            <a:pPr marL="0" indent="0">
              <a:buNone/>
            </a:pPr>
            <a:r>
              <a:rPr lang="en-US" sz="1800" b="1" dirty="0">
                <a:solidFill>
                  <a:srgbClr val="1A1F2E"/>
                </a:solidFill>
                <a:latin typeface="Georgia" pitchFamily="34" charset="0"/>
                <a:ea typeface="Georgia" pitchFamily="34" charset="-122"/>
                <a:cs typeface="Georgia" pitchFamily="34" charset="-120"/>
              </a:rPr>
              <a:t>Naive Baseline</a:t>
            </a:r>
            <a:endParaRPr lang="en-US" sz="1800" dirty="0"/>
          </a:p>
        </p:txBody>
      </p:sp>
      <p:sp>
        <p:nvSpPr>
          <p:cNvPr id="8" name="Text 6">
            <a:extLst>
              <a:ext uri="{FF2B5EF4-FFF2-40B4-BE49-F238E27FC236}">
                <a16:creationId xmlns:a16="http://schemas.microsoft.com/office/drawing/2014/main" id="{72CF7B2E-AAF4-7B4E-94F8-D20F5E5BE5EF}"/>
              </a:ext>
            </a:extLst>
          </p:cNvPr>
          <p:cNvSpPr/>
          <p:nvPr/>
        </p:nvSpPr>
        <p:spPr>
          <a:xfrm>
            <a:off x="777240" y="2697480"/>
            <a:ext cx="3200400" cy="141732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Persistence model. Predicts tomorrow's adjusted close = today's adjusted close. Directly embodies the Random Walk implied by EMH.</a:t>
            </a:r>
            <a:endParaRPr lang="en-US" dirty="0"/>
          </a:p>
        </p:txBody>
      </p:sp>
      <p:sp>
        <p:nvSpPr>
          <p:cNvPr id="9" name="Shape 7">
            <a:extLst>
              <a:ext uri="{FF2B5EF4-FFF2-40B4-BE49-F238E27FC236}">
                <a16:creationId xmlns:a16="http://schemas.microsoft.com/office/drawing/2014/main" id="{D04CE517-A7AD-BD41-187A-2D704DC0AF14}"/>
              </a:ext>
            </a:extLst>
          </p:cNvPr>
          <p:cNvSpPr/>
          <p:nvPr/>
        </p:nvSpPr>
        <p:spPr>
          <a:xfrm>
            <a:off x="4251960" y="1691640"/>
            <a:ext cx="3657600" cy="2468880"/>
          </a:xfrm>
          <a:prstGeom prst="rect">
            <a:avLst/>
          </a:prstGeom>
          <a:solidFill>
            <a:srgbClr val="FFFFFF"/>
          </a:solidFill>
          <a:ln w="9525">
            <a:solidFill>
              <a:srgbClr val="E5E7EB"/>
            </a:solidFill>
            <a:prstDash val="solid"/>
          </a:ln>
        </p:spPr>
      </p:sp>
      <p:sp>
        <p:nvSpPr>
          <p:cNvPr id="10" name="Shape 8">
            <a:extLst>
              <a:ext uri="{FF2B5EF4-FFF2-40B4-BE49-F238E27FC236}">
                <a16:creationId xmlns:a16="http://schemas.microsoft.com/office/drawing/2014/main" id="{E712E407-63A3-7DAC-4D6E-466F0E7FCFDC}"/>
              </a:ext>
            </a:extLst>
          </p:cNvPr>
          <p:cNvSpPr/>
          <p:nvPr/>
        </p:nvSpPr>
        <p:spPr>
          <a:xfrm>
            <a:off x="4251960" y="1691640"/>
            <a:ext cx="3657600" cy="457200"/>
          </a:xfrm>
          <a:prstGeom prst="rect">
            <a:avLst/>
          </a:prstGeom>
          <a:solidFill>
            <a:srgbClr val="0F766E"/>
          </a:solidFill>
          <a:ln w="12700">
            <a:solidFill>
              <a:srgbClr val="0F766E"/>
            </a:solidFill>
            <a:prstDash val="solid"/>
          </a:ln>
        </p:spPr>
      </p:sp>
      <p:sp>
        <p:nvSpPr>
          <p:cNvPr id="11" name="Text 9">
            <a:extLst>
              <a:ext uri="{FF2B5EF4-FFF2-40B4-BE49-F238E27FC236}">
                <a16:creationId xmlns:a16="http://schemas.microsoft.com/office/drawing/2014/main" id="{3A9E71DB-5466-BE73-624B-E7E59D4D1F3A}"/>
              </a:ext>
            </a:extLst>
          </p:cNvPr>
          <p:cNvSpPr/>
          <p:nvPr/>
        </p:nvSpPr>
        <p:spPr>
          <a:xfrm>
            <a:off x="4434840" y="1764792"/>
            <a:ext cx="3931920" cy="329184"/>
          </a:xfrm>
          <a:prstGeom prst="rect">
            <a:avLst/>
          </a:prstGeom>
          <a:noFill/>
          <a:ln/>
        </p:spPr>
        <p:txBody>
          <a:bodyPr wrap="square" lIns="0" tIns="0" rIns="0" bIns="0" rtlCol="0" anchor="ctr"/>
          <a:lstStyle/>
          <a:p>
            <a:pPr marL="0" indent="0">
              <a:buNone/>
            </a:pPr>
            <a:r>
              <a:rPr lang="en-US" b="1" kern="0" spc="100" dirty="0">
                <a:solidFill>
                  <a:srgbClr val="FFFFFF"/>
                </a:solidFill>
                <a:latin typeface="Calibri" pitchFamily="34" charset="0"/>
                <a:ea typeface="Calibri" pitchFamily="34" charset="-122"/>
                <a:cs typeface="Calibri" pitchFamily="34" charset="-120"/>
              </a:rPr>
              <a:t>TRADITIONAL ML BENCHMARK</a:t>
            </a:r>
            <a:endParaRPr lang="en-US" spc="100" dirty="0"/>
          </a:p>
        </p:txBody>
      </p:sp>
      <p:sp>
        <p:nvSpPr>
          <p:cNvPr id="12" name="Text 10">
            <a:extLst>
              <a:ext uri="{FF2B5EF4-FFF2-40B4-BE49-F238E27FC236}">
                <a16:creationId xmlns:a16="http://schemas.microsoft.com/office/drawing/2014/main" id="{B33C35BD-5F91-E5A8-6880-B6BA8944EB60}"/>
              </a:ext>
            </a:extLst>
          </p:cNvPr>
          <p:cNvSpPr/>
          <p:nvPr/>
        </p:nvSpPr>
        <p:spPr>
          <a:xfrm>
            <a:off x="4480560" y="2240280"/>
            <a:ext cx="3200400" cy="457200"/>
          </a:xfrm>
          <a:prstGeom prst="rect">
            <a:avLst/>
          </a:prstGeom>
          <a:noFill/>
          <a:ln/>
        </p:spPr>
        <p:txBody>
          <a:bodyPr wrap="square" lIns="0" tIns="0" rIns="0" bIns="0" rtlCol="0" anchor="ctr"/>
          <a:lstStyle/>
          <a:p>
            <a:pPr marL="0" indent="0">
              <a:buNone/>
            </a:pPr>
            <a:r>
              <a:rPr lang="en-US" sz="1800" b="1" dirty="0">
                <a:solidFill>
                  <a:srgbClr val="1A1F2E"/>
                </a:solidFill>
                <a:latin typeface="Georgia" pitchFamily="34" charset="0"/>
                <a:ea typeface="Georgia" pitchFamily="34" charset="-122"/>
                <a:cs typeface="Georgia" pitchFamily="34" charset="-120"/>
              </a:rPr>
              <a:t>Linear Regression</a:t>
            </a:r>
            <a:endParaRPr lang="en-US" sz="1800" dirty="0"/>
          </a:p>
        </p:txBody>
      </p:sp>
      <p:sp>
        <p:nvSpPr>
          <p:cNvPr id="13" name="Text 11">
            <a:extLst>
              <a:ext uri="{FF2B5EF4-FFF2-40B4-BE49-F238E27FC236}">
                <a16:creationId xmlns:a16="http://schemas.microsoft.com/office/drawing/2014/main" id="{C97F988D-68B2-E5AA-2576-F9319EBC274C}"/>
              </a:ext>
            </a:extLst>
          </p:cNvPr>
          <p:cNvSpPr/>
          <p:nvPr/>
        </p:nvSpPr>
        <p:spPr>
          <a:xfrm>
            <a:off x="4480560" y="2697480"/>
            <a:ext cx="3200400" cy="141732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Scikit-Learn. Accepts a flattened sliding window as its input vector each historical day treated as an independent variable.</a:t>
            </a:r>
            <a:endParaRPr lang="en-US" dirty="0"/>
          </a:p>
        </p:txBody>
      </p:sp>
      <p:sp>
        <p:nvSpPr>
          <p:cNvPr id="14" name="Shape 12">
            <a:extLst>
              <a:ext uri="{FF2B5EF4-FFF2-40B4-BE49-F238E27FC236}">
                <a16:creationId xmlns:a16="http://schemas.microsoft.com/office/drawing/2014/main" id="{04D0E175-33C4-06C8-C138-C9EA9BBA997B}"/>
              </a:ext>
            </a:extLst>
          </p:cNvPr>
          <p:cNvSpPr/>
          <p:nvPr/>
        </p:nvSpPr>
        <p:spPr>
          <a:xfrm>
            <a:off x="7955280" y="1691640"/>
            <a:ext cx="3657600" cy="2468880"/>
          </a:xfrm>
          <a:prstGeom prst="rect">
            <a:avLst/>
          </a:prstGeom>
          <a:solidFill>
            <a:srgbClr val="FFFFFF"/>
          </a:solidFill>
          <a:ln w="9525">
            <a:solidFill>
              <a:srgbClr val="E5E7EB"/>
            </a:solidFill>
            <a:prstDash val="solid"/>
          </a:ln>
        </p:spPr>
      </p:sp>
      <p:sp>
        <p:nvSpPr>
          <p:cNvPr id="15" name="Shape 13">
            <a:extLst>
              <a:ext uri="{FF2B5EF4-FFF2-40B4-BE49-F238E27FC236}">
                <a16:creationId xmlns:a16="http://schemas.microsoft.com/office/drawing/2014/main" id="{1A9192A7-147A-24D3-69D8-A5D87FE2BA0E}"/>
              </a:ext>
            </a:extLst>
          </p:cNvPr>
          <p:cNvSpPr/>
          <p:nvPr/>
        </p:nvSpPr>
        <p:spPr>
          <a:xfrm>
            <a:off x="7955280" y="1691640"/>
            <a:ext cx="3657600" cy="457200"/>
          </a:xfrm>
          <a:prstGeom prst="rect">
            <a:avLst/>
          </a:prstGeom>
          <a:solidFill>
            <a:srgbClr val="C2410C"/>
          </a:solidFill>
          <a:ln w="12700">
            <a:solidFill>
              <a:srgbClr val="C2410C"/>
            </a:solidFill>
            <a:prstDash val="solid"/>
          </a:ln>
        </p:spPr>
      </p:sp>
      <p:sp>
        <p:nvSpPr>
          <p:cNvPr id="16" name="Text 14">
            <a:extLst>
              <a:ext uri="{FF2B5EF4-FFF2-40B4-BE49-F238E27FC236}">
                <a16:creationId xmlns:a16="http://schemas.microsoft.com/office/drawing/2014/main" id="{37E69976-6F45-565F-B472-197ABDCB73FE}"/>
              </a:ext>
            </a:extLst>
          </p:cNvPr>
          <p:cNvSpPr/>
          <p:nvPr/>
        </p:nvSpPr>
        <p:spPr>
          <a:xfrm>
            <a:off x="8183880" y="1764792"/>
            <a:ext cx="3200400" cy="320040"/>
          </a:xfrm>
          <a:prstGeom prst="rect">
            <a:avLst/>
          </a:prstGeom>
          <a:noFill/>
          <a:ln/>
        </p:spPr>
        <p:txBody>
          <a:bodyPr wrap="square" lIns="0" tIns="0" rIns="0" bIns="0" rtlCol="0" anchor="ctr"/>
          <a:lstStyle/>
          <a:p>
            <a:pPr marL="0" indent="0">
              <a:buNone/>
            </a:pPr>
            <a:r>
              <a:rPr lang="en-US" b="1" kern="0" spc="100" dirty="0">
                <a:solidFill>
                  <a:srgbClr val="FFFFFF"/>
                </a:solidFill>
                <a:latin typeface="Calibri" pitchFamily="34" charset="0"/>
                <a:ea typeface="Calibri" pitchFamily="34" charset="-122"/>
                <a:cs typeface="Calibri" pitchFamily="34" charset="-120"/>
              </a:rPr>
              <a:t>SEQUENTIAL DEEP MODEL</a:t>
            </a:r>
            <a:endParaRPr lang="en-US" spc="100" dirty="0"/>
          </a:p>
        </p:txBody>
      </p:sp>
      <p:sp>
        <p:nvSpPr>
          <p:cNvPr id="17" name="Text 15">
            <a:extLst>
              <a:ext uri="{FF2B5EF4-FFF2-40B4-BE49-F238E27FC236}">
                <a16:creationId xmlns:a16="http://schemas.microsoft.com/office/drawing/2014/main" id="{3C7D0DFC-2E46-BBB3-C3FD-7CF2D90A381E}"/>
              </a:ext>
            </a:extLst>
          </p:cNvPr>
          <p:cNvSpPr/>
          <p:nvPr/>
        </p:nvSpPr>
        <p:spPr>
          <a:xfrm>
            <a:off x="8183880" y="2240280"/>
            <a:ext cx="3200400" cy="457200"/>
          </a:xfrm>
          <a:prstGeom prst="rect">
            <a:avLst/>
          </a:prstGeom>
          <a:noFill/>
          <a:ln/>
        </p:spPr>
        <p:txBody>
          <a:bodyPr wrap="square" lIns="0" tIns="0" rIns="0" bIns="0" rtlCol="0" anchor="ctr"/>
          <a:lstStyle/>
          <a:p>
            <a:pPr marL="0" indent="0">
              <a:buNone/>
            </a:pPr>
            <a:r>
              <a:rPr lang="en-US" sz="1800" b="1" dirty="0">
                <a:solidFill>
                  <a:srgbClr val="1A1F2E"/>
                </a:solidFill>
                <a:latin typeface="Georgia" pitchFamily="34" charset="0"/>
                <a:ea typeface="Georgia" pitchFamily="34" charset="-122"/>
                <a:cs typeface="Georgia" pitchFamily="34" charset="-120"/>
              </a:rPr>
              <a:t>LSTM (Many-to-One)</a:t>
            </a:r>
            <a:endParaRPr lang="en-US" sz="1800" dirty="0"/>
          </a:p>
        </p:txBody>
      </p:sp>
      <p:sp>
        <p:nvSpPr>
          <p:cNvPr id="18" name="Text 16">
            <a:extLst>
              <a:ext uri="{FF2B5EF4-FFF2-40B4-BE49-F238E27FC236}">
                <a16:creationId xmlns:a16="http://schemas.microsoft.com/office/drawing/2014/main" id="{7F129C32-6090-8004-773B-78224B5501A9}"/>
              </a:ext>
            </a:extLst>
          </p:cNvPr>
          <p:cNvSpPr/>
          <p:nvPr/>
        </p:nvSpPr>
        <p:spPr>
          <a:xfrm>
            <a:off x="8183880" y="2697480"/>
            <a:ext cx="3200400" cy="141732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Keras / TensorFlow. Glorot-uniform kernels, orthogonal recurrent weights, gradient clipping (norm 1.0), Adam (lr=1e-4), early stopping.</a:t>
            </a:r>
            <a:endParaRPr lang="en-US" dirty="0"/>
          </a:p>
        </p:txBody>
      </p:sp>
      <p:sp>
        <p:nvSpPr>
          <p:cNvPr id="20" name="Shape 18">
            <a:extLst>
              <a:ext uri="{FF2B5EF4-FFF2-40B4-BE49-F238E27FC236}">
                <a16:creationId xmlns:a16="http://schemas.microsoft.com/office/drawing/2014/main" id="{CF0C2233-2FCF-6654-264E-8CAE5A36EF51}"/>
              </a:ext>
            </a:extLst>
          </p:cNvPr>
          <p:cNvSpPr/>
          <p:nvPr/>
        </p:nvSpPr>
        <p:spPr>
          <a:xfrm>
            <a:off x="548640" y="4343399"/>
            <a:ext cx="45719" cy="2093975"/>
          </a:xfrm>
          <a:prstGeom prst="rect">
            <a:avLst/>
          </a:prstGeom>
          <a:solidFill>
            <a:srgbClr val="C2410C"/>
          </a:solidFill>
          <a:ln w="12700">
            <a:solidFill>
              <a:srgbClr val="C2410C"/>
            </a:solidFill>
            <a:prstDash val="solid"/>
          </a:ln>
        </p:spPr>
      </p:sp>
      <p:sp>
        <p:nvSpPr>
          <p:cNvPr id="21" name="Text 19">
            <a:extLst>
              <a:ext uri="{FF2B5EF4-FFF2-40B4-BE49-F238E27FC236}">
                <a16:creationId xmlns:a16="http://schemas.microsoft.com/office/drawing/2014/main" id="{55C4461D-84AC-A10D-AA6D-9CCFCE539124}"/>
              </a:ext>
            </a:extLst>
          </p:cNvPr>
          <p:cNvSpPr/>
          <p:nvPr/>
        </p:nvSpPr>
        <p:spPr>
          <a:xfrm>
            <a:off x="777240" y="4416552"/>
            <a:ext cx="5486400" cy="256032"/>
          </a:xfrm>
          <a:prstGeom prst="rect">
            <a:avLst/>
          </a:prstGeom>
          <a:noFill/>
          <a:ln/>
        </p:spPr>
        <p:txBody>
          <a:bodyPr wrap="square" lIns="0" tIns="0" rIns="0" bIns="0" rtlCol="0" anchor="ctr"/>
          <a:lstStyle/>
          <a:p>
            <a:pPr marL="0" indent="0">
              <a:buNone/>
            </a:pPr>
            <a:r>
              <a:rPr lang="en-US" sz="900" b="1" kern="0" spc="400" dirty="0">
                <a:solidFill>
                  <a:srgbClr val="C2410C"/>
                </a:solidFill>
                <a:latin typeface="Calibri" pitchFamily="34" charset="0"/>
                <a:ea typeface="Calibri" pitchFamily="34" charset="-122"/>
                <a:cs typeface="Calibri" pitchFamily="34" charset="-120"/>
              </a:rPr>
              <a:t>FROM eval.py</a:t>
            </a:r>
            <a:endParaRPr lang="en-US" sz="900" dirty="0"/>
          </a:p>
        </p:txBody>
      </p:sp>
      <p:sp>
        <p:nvSpPr>
          <p:cNvPr id="22" name="Text 20">
            <a:extLst>
              <a:ext uri="{FF2B5EF4-FFF2-40B4-BE49-F238E27FC236}">
                <a16:creationId xmlns:a16="http://schemas.microsoft.com/office/drawing/2014/main" id="{C1A0C68C-639F-A94B-07A8-930C7FAB2725}"/>
              </a:ext>
            </a:extLst>
          </p:cNvPr>
          <p:cNvSpPr/>
          <p:nvPr/>
        </p:nvSpPr>
        <p:spPr>
          <a:xfrm>
            <a:off x="777240" y="4709160"/>
            <a:ext cx="3520440" cy="1371600"/>
          </a:xfrm>
          <a:prstGeom prst="rect">
            <a:avLst/>
          </a:prstGeom>
          <a:noFill/>
          <a:ln/>
        </p:spPr>
        <p:txBody>
          <a:bodyPr wrap="square" lIns="0" tIns="0" rIns="0" bIns="0" rtlCol="0" anchor="t"/>
          <a:lstStyle/>
          <a:p>
            <a:pPr marL="0" indent="0">
              <a:buNone/>
            </a:pPr>
            <a:r>
              <a:rPr lang="en-US" spc="-100" dirty="0">
                <a:solidFill>
                  <a:srgbClr val="6B7280"/>
                </a:solidFill>
                <a:latin typeface="Consolas" pitchFamily="34" charset="0"/>
                <a:ea typeface="Consolas" pitchFamily="34" charset="-122"/>
                <a:cs typeface="Consolas" pitchFamily="34" charset="-120"/>
              </a:rPr>
              <a:t># Naive Baseline
</a:t>
            </a:r>
            <a:r>
              <a:rPr lang="en-US" spc="-100" dirty="0">
                <a:solidFill>
                  <a:srgbClr val="2D3343"/>
                </a:solidFill>
                <a:latin typeface="Consolas" pitchFamily="34" charset="0"/>
                <a:ea typeface="Consolas" pitchFamily="34" charset="-122"/>
                <a:cs typeface="Consolas" pitchFamily="34" charset="-120"/>
              </a:rPr>
              <a:t>y_pred = inverse_transform_target(
    scaler, X_test[:, -1, 0])</a:t>
            </a:r>
            <a:endParaRPr lang="en-US" spc="-100" dirty="0"/>
          </a:p>
        </p:txBody>
      </p:sp>
      <p:sp>
        <p:nvSpPr>
          <p:cNvPr id="23" name="Text 21">
            <a:extLst>
              <a:ext uri="{FF2B5EF4-FFF2-40B4-BE49-F238E27FC236}">
                <a16:creationId xmlns:a16="http://schemas.microsoft.com/office/drawing/2014/main" id="{D37FF43C-F560-A8C0-1F98-7F5606F4947E}"/>
              </a:ext>
            </a:extLst>
          </p:cNvPr>
          <p:cNvSpPr/>
          <p:nvPr/>
        </p:nvSpPr>
        <p:spPr>
          <a:xfrm>
            <a:off x="4343399" y="4355592"/>
            <a:ext cx="3611881" cy="2322576"/>
          </a:xfrm>
          <a:prstGeom prst="rect">
            <a:avLst/>
          </a:prstGeom>
          <a:noFill/>
          <a:ln/>
        </p:spPr>
        <p:txBody>
          <a:bodyPr wrap="square" lIns="0" tIns="0" rIns="0" bIns="0" rtlCol="0" anchor="t"/>
          <a:lstStyle/>
          <a:p>
            <a:pPr marL="0" indent="0">
              <a:buNone/>
            </a:pPr>
            <a:r>
              <a:rPr lang="en-US" spc="-50" dirty="0">
                <a:solidFill>
                  <a:srgbClr val="6B7280"/>
                </a:solidFill>
                <a:latin typeface="Consolas" pitchFamily="34" charset="0"/>
                <a:ea typeface="Consolas" pitchFamily="34" charset="-122"/>
                <a:cs typeface="Consolas" pitchFamily="34" charset="-120"/>
              </a:rPr>
              <a:t># Linear Regression
</a:t>
            </a:r>
            <a:r>
              <a:rPr lang="en-US" spc="-50" dirty="0">
                <a:solidFill>
                  <a:srgbClr val="2D3343"/>
                </a:solidFill>
                <a:latin typeface="Consolas" pitchFamily="34" charset="0"/>
                <a:ea typeface="Consolas" pitchFamily="34" charset="-122"/>
                <a:cs typeface="Consolas" pitchFamily="34" charset="-120"/>
              </a:rPr>
              <a:t>lr = LinearRegression()
lr.fit(X_train.reshape(len(X_train), -1), y_train)
y_pred = lr.predict(
    X_test.reshape(len(X_test), -1))</a:t>
            </a:r>
            <a:endParaRPr lang="en-US" spc="-50" dirty="0"/>
          </a:p>
        </p:txBody>
      </p:sp>
      <p:sp>
        <p:nvSpPr>
          <p:cNvPr id="24" name="Text 22">
            <a:extLst>
              <a:ext uri="{FF2B5EF4-FFF2-40B4-BE49-F238E27FC236}">
                <a16:creationId xmlns:a16="http://schemas.microsoft.com/office/drawing/2014/main" id="{7AC52AAF-A32B-9FFF-347A-D6D0F1B0066F}"/>
              </a:ext>
            </a:extLst>
          </p:cNvPr>
          <p:cNvSpPr/>
          <p:nvPr/>
        </p:nvSpPr>
        <p:spPr>
          <a:xfrm>
            <a:off x="8122615" y="4315968"/>
            <a:ext cx="3520440" cy="2362200"/>
          </a:xfrm>
          <a:prstGeom prst="rect">
            <a:avLst/>
          </a:prstGeom>
          <a:noFill/>
          <a:ln/>
        </p:spPr>
        <p:txBody>
          <a:bodyPr wrap="square" lIns="0" tIns="0" rIns="0" bIns="0" rtlCol="0" anchor="t"/>
          <a:lstStyle/>
          <a:p>
            <a:pPr marL="0" indent="0">
              <a:buNone/>
            </a:pPr>
            <a:r>
              <a:rPr lang="en-US" spc="-20" dirty="0">
                <a:solidFill>
                  <a:srgbClr val="2D3343"/>
                </a:solidFill>
                <a:latin typeface="Consolas" pitchFamily="34" charset="0"/>
                <a:ea typeface="Consolas" pitchFamily="34" charset="-122"/>
                <a:cs typeface="Consolas" pitchFamily="34" charset="-120"/>
              </a:rPr>
              <a:t>model = Sequential([
    Input(shape=(window, n_features)),
    LSTM(32, kernel_initializer='</a:t>
            </a:r>
            <a:r>
              <a:rPr lang="en-US" spc="-20" dirty="0" err="1">
                <a:solidFill>
                  <a:srgbClr val="2D3343"/>
                </a:solidFill>
                <a:latin typeface="Consolas" pitchFamily="34" charset="0"/>
                <a:ea typeface="Consolas" pitchFamily="34" charset="-122"/>
                <a:cs typeface="Consolas" pitchFamily="34" charset="-120"/>
              </a:rPr>
              <a:t>glorot_uniform</a:t>
            </a:r>
            <a:r>
              <a:rPr lang="en-US" spc="-20" dirty="0">
                <a:solidFill>
                  <a:srgbClr val="2D3343"/>
                </a:solidFill>
                <a:latin typeface="Consolas" pitchFamily="34" charset="0"/>
                <a:ea typeface="Consolas" pitchFamily="34" charset="-122"/>
                <a:cs typeface="Consolas" pitchFamily="34" charset="-120"/>
              </a:rPr>
              <a:t>',         recurrent_initializer='orthogonal'),
    Dropout(0.2),
    Dense(1)])</a:t>
            </a:r>
            <a:endParaRPr lang="en-US" spc="-20" dirty="0"/>
          </a:p>
        </p:txBody>
      </p:sp>
      <p:sp>
        <p:nvSpPr>
          <p:cNvPr id="25" name="Text 23">
            <a:extLst>
              <a:ext uri="{FF2B5EF4-FFF2-40B4-BE49-F238E27FC236}">
                <a16:creationId xmlns:a16="http://schemas.microsoft.com/office/drawing/2014/main" id="{805EA365-89FE-2192-5807-05B146703DCB}"/>
              </a:ext>
            </a:extLst>
          </p:cNvPr>
          <p:cNvSpPr/>
          <p:nvPr/>
        </p:nvSpPr>
        <p:spPr>
          <a:xfrm>
            <a:off x="548640" y="6144768"/>
            <a:ext cx="10362895" cy="274320"/>
          </a:xfrm>
          <a:prstGeom prst="rect">
            <a:avLst/>
          </a:prstGeom>
          <a:noFill/>
          <a:ln/>
        </p:spPr>
        <p:txBody>
          <a:bodyPr wrap="square" lIns="0" tIns="0" rIns="0" bIns="0" rtlCol="0" anchor="ctr"/>
          <a:lstStyle/>
          <a:p>
            <a:pPr marL="0" indent="0">
              <a:buNone/>
            </a:pPr>
            <a:endParaRPr lang="en-US" sz="1000" dirty="0"/>
          </a:p>
        </p:txBody>
      </p:sp>
      <p:sp>
        <p:nvSpPr>
          <p:cNvPr id="26" name="Shape 24">
            <a:extLst>
              <a:ext uri="{FF2B5EF4-FFF2-40B4-BE49-F238E27FC236}">
                <a16:creationId xmlns:a16="http://schemas.microsoft.com/office/drawing/2014/main" id="{F22C7623-8738-1905-50E5-A63961F63DA8}"/>
              </a:ext>
            </a:extLst>
          </p:cNvPr>
          <p:cNvSpPr/>
          <p:nvPr/>
        </p:nvSpPr>
        <p:spPr>
          <a:xfrm>
            <a:off x="548640" y="6678168"/>
            <a:ext cx="11094415" cy="0"/>
          </a:xfrm>
          <a:prstGeom prst="line">
            <a:avLst/>
          </a:prstGeom>
          <a:noFill/>
          <a:ln w="9525">
            <a:solidFill>
              <a:srgbClr val="E5E7EB"/>
            </a:solidFill>
            <a:prstDash val="solid"/>
          </a:ln>
        </p:spPr>
      </p:sp>
      <p:sp>
        <p:nvSpPr>
          <p:cNvPr id="27" name="Text 25">
            <a:extLst>
              <a:ext uri="{FF2B5EF4-FFF2-40B4-BE49-F238E27FC236}">
                <a16:creationId xmlns:a16="http://schemas.microsoft.com/office/drawing/2014/main" id="{78373668-43BB-AFEF-DC46-4FD112E6D7A0}"/>
              </a:ext>
            </a:extLst>
          </p:cNvPr>
          <p:cNvSpPr/>
          <p:nvPr/>
        </p:nvSpPr>
        <p:spPr>
          <a:xfrm>
            <a:off x="11277295" y="6492240"/>
            <a:ext cx="73152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 / 15</a:t>
            </a:r>
            <a:endParaRPr lang="en-US" sz="1000" dirty="0"/>
          </a:p>
        </p:txBody>
      </p:sp>
    </p:spTree>
    <p:extLst>
      <p:ext uri="{BB962C8B-B14F-4D97-AF65-F5344CB8AC3E}">
        <p14:creationId xmlns:p14="http://schemas.microsoft.com/office/powerpoint/2010/main" val="1005157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grpId="0" nodeType="clickEffect">
                                  <p:stCondLst>
                                    <p:cond delay="0"/>
                                  </p:stCondLst>
                                  <p:childTnLst>
                                    <p:animMotion origin="layout" path="M 3.125E-6 -3.7037E-7 L 3.125E-6 -0.25 " pathEditMode="relative" rAng="0" ptsTypes="AA">
                                      <p:cBhvr>
                                        <p:cTn id="6" dur="30000" fill="hold"/>
                                        <p:tgtEl>
                                          <p:spTgt spid="24"/>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A51B3-F5D8-A632-9622-092B8DF5508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97C13D0-B1DA-8FB7-962A-C4BEDF0F9067}"/>
              </a:ext>
            </a:extLst>
          </p:cNvPr>
          <p:cNvSpPr/>
          <p:nvPr/>
        </p:nvSpPr>
        <p:spPr>
          <a:xfrm>
            <a:off x="548640" y="64008"/>
            <a:ext cx="10972800" cy="292608"/>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METHODOLOGY · EVALUATION</a:t>
            </a:r>
            <a:endParaRPr lang="en-US" dirty="0"/>
          </a:p>
        </p:txBody>
      </p:sp>
      <p:sp>
        <p:nvSpPr>
          <p:cNvPr id="3" name="Text 1">
            <a:extLst>
              <a:ext uri="{FF2B5EF4-FFF2-40B4-BE49-F238E27FC236}">
                <a16:creationId xmlns:a16="http://schemas.microsoft.com/office/drawing/2014/main" id="{41F1750A-357F-DD74-32E2-2FD16CB258CA}"/>
              </a:ext>
            </a:extLst>
          </p:cNvPr>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A1F2E"/>
                </a:solidFill>
                <a:latin typeface="Georgia" pitchFamily="34" charset="0"/>
                <a:ea typeface="Georgia" pitchFamily="34" charset="-122"/>
                <a:cs typeface="Georgia" pitchFamily="34" charset="-120"/>
              </a:rPr>
              <a:t>How performance was measured and why</a:t>
            </a:r>
            <a:endParaRPr lang="en-US" sz="3000" dirty="0"/>
          </a:p>
        </p:txBody>
      </p:sp>
      <p:sp>
        <p:nvSpPr>
          <p:cNvPr id="4" name="Shape 2">
            <a:extLst>
              <a:ext uri="{FF2B5EF4-FFF2-40B4-BE49-F238E27FC236}">
                <a16:creationId xmlns:a16="http://schemas.microsoft.com/office/drawing/2014/main" id="{154DACA0-A314-79CC-6814-FC8302BB9315}"/>
              </a:ext>
            </a:extLst>
          </p:cNvPr>
          <p:cNvSpPr/>
          <p:nvPr/>
        </p:nvSpPr>
        <p:spPr>
          <a:xfrm>
            <a:off x="548640" y="1691640"/>
            <a:ext cx="5577840" cy="2553116"/>
          </a:xfrm>
          <a:prstGeom prst="rect">
            <a:avLst/>
          </a:prstGeom>
          <a:solidFill>
            <a:srgbClr val="F7F8FA"/>
          </a:solidFill>
          <a:ln w="9525">
            <a:solidFill>
              <a:srgbClr val="E5E7EB"/>
            </a:solidFill>
            <a:prstDash val="solid"/>
          </a:ln>
        </p:spPr>
        <p:txBody>
          <a:bodyPr/>
          <a:lstStyle/>
          <a:p>
            <a:endParaRPr lang="en-US" dirty="0"/>
          </a:p>
        </p:txBody>
      </p:sp>
      <p:sp>
        <p:nvSpPr>
          <p:cNvPr id="5" name="Text 3">
            <a:extLst>
              <a:ext uri="{FF2B5EF4-FFF2-40B4-BE49-F238E27FC236}">
                <a16:creationId xmlns:a16="http://schemas.microsoft.com/office/drawing/2014/main" id="{C6D6A5FD-E699-C7D2-049F-C3F0F282D5F6}"/>
              </a:ext>
            </a:extLst>
          </p:cNvPr>
          <p:cNvSpPr/>
          <p:nvPr/>
        </p:nvSpPr>
        <p:spPr>
          <a:xfrm>
            <a:off x="777240" y="1783080"/>
            <a:ext cx="5120640" cy="280342"/>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DESIGN</a:t>
            </a:r>
            <a:endParaRPr lang="en-US" dirty="0"/>
          </a:p>
        </p:txBody>
      </p:sp>
      <p:sp>
        <p:nvSpPr>
          <p:cNvPr id="6" name="Text 4">
            <a:extLst>
              <a:ext uri="{FF2B5EF4-FFF2-40B4-BE49-F238E27FC236}">
                <a16:creationId xmlns:a16="http://schemas.microsoft.com/office/drawing/2014/main" id="{2C5C4F3B-A746-1D05-6B2B-A53F5B4A6C2F}"/>
              </a:ext>
            </a:extLst>
          </p:cNvPr>
          <p:cNvSpPr/>
          <p:nvPr/>
        </p:nvSpPr>
        <p:spPr>
          <a:xfrm>
            <a:off x="777240" y="2029968"/>
            <a:ext cx="5120640" cy="450550"/>
          </a:xfrm>
          <a:prstGeom prst="rect">
            <a:avLst/>
          </a:prstGeom>
          <a:noFill/>
          <a:ln/>
        </p:spPr>
        <p:txBody>
          <a:bodyPr wrap="square" lIns="0" tIns="0" rIns="0" bIns="0" rtlCol="0" anchor="ctr"/>
          <a:lstStyle/>
          <a:p>
            <a:pPr marL="0" indent="0">
              <a:buNone/>
            </a:pPr>
            <a:r>
              <a:rPr lang="en-US" b="1" dirty="0">
                <a:solidFill>
                  <a:srgbClr val="1A1F2E"/>
                </a:solidFill>
                <a:latin typeface="Georgia" pitchFamily="34" charset="0"/>
                <a:ea typeface="Georgia" pitchFamily="34" charset="-122"/>
                <a:cs typeface="Georgia" pitchFamily="34" charset="-120"/>
              </a:rPr>
              <a:t>k = 10 TimeSeriesSplit</a:t>
            </a:r>
            <a:endParaRPr lang="en-US" dirty="0"/>
          </a:p>
        </p:txBody>
      </p:sp>
      <p:sp>
        <p:nvSpPr>
          <p:cNvPr id="7" name="Text 5">
            <a:extLst>
              <a:ext uri="{FF2B5EF4-FFF2-40B4-BE49-F238E27FC236}">
                <a16:creationId xmlns:a16="http://schemas.microsoft.com/office/drawing/2014/main" id="{2D5E1749-1649-450D-D121-B851E0864EA9}"/>
              </a:ext>
            </a:extLst>
          </p:cNvPr>
          <p:cNvSpPr/>
          <p:nvPr/>
        </p:nvSpPr>
        <p:spPr>
          <a:xfrm>
            <a:off x="777240" y="2468880"/>
            <a:ext cx="5120640" cy="1652016"/>
          </a:xfrm>
          <a:prstGeom prst="rect">
            <a:avLst/>
          </a:prstGeom>
          <a:noFill/>
          <a:ln/>
        </p:spPr>
        <p:txBody>
          <a:bodyPr wrap="square" lIns="0" tIns="0" rIns="0" bIns="0" rtlCol="0" anchor="ctr"/>
          <a:lstStyle/>
          <a:p>
            <a:pPr marL="0" indent="0">
              <a:buNone/>
            </a:pPr>
            <a:r>
              <a:rPr lang="en-US" b="1" dirty="0">
                <a:solidFill>
                  <a:srgbClr val="2D3343"/>
                </a:solidFill>
                <a:latin typeface="Georgia" panose="02040502050405020303" pitchFamily="18" charset="0"/>
                <a:ea typeface="Calibri" pitchFamily="34" charset="-122"/>
                <a:cs typeface="Calibri" pitchFamily="34" charset="-120"/>
              </a:rPr>
              <a:t>Chronological 70 / 15 / 15 </a:t>
            </a:r>
            <a:r>
              <a:rPr lang="en-US" dirty="0">
                <a:solidFill>
                  <a:srgbClr val="2D3343"/>
                </a:solidFill>
                <a:latin typeface="Georgia" panose="02040502050405020303" pitchFamily="18" charset="0"/>
                <a:ea typeface="Calibri" pitchFamily="34" charset="-122"/>
                <a:cs typeface="Calibri" pitchFamily="34" charset="-120"/>
              </a:rPr>
              <a:t>split — preserves temporal order.</a:t>
            </a:r>
            <a:endParaRPr lang="en-US" dirty="0">
              <a:latin typeface="Georgia" panose="02040502050405020303" pitchFamily="18" charset="0"/>
            </a:endParaRPr>
          </a:p>
          <a:p>
            <a:pPr marL="0" indent="0">
              <a:buNone/>
            </a:pPr>
            <a:r>
              <a:rPr lang="en-US" b="1" dirty="0">
                <a:solidFill>
                  <a:srgbClr val="2D3343"/>
                </a:solidFill>
                <a:latin typeface="Georgia" panose="02040502050405020303" pitchFamily="18" charset="0"/>
                <a:ea typeface="Calibri" pitchFamily="34" charset="-122"/>
                <a:cs typeface="Calibri" pitchFamily="34" charset="-120"/>
              </a:rPr>
              <a:t>Walk-forward folds </a:t>
            </a:r>
            <a:r>
              <a:rPr lang="en-US" dirty="0">
                <a:solidFill>
                  <a:srgbClr val="2D3343"/>
                </a:solidFill>
                <a:latin typeface="Georgia" panose="02040502050405020303" pitchFamily="18" charset="0"/>
                <a:ea typeface="Calibri" pitchFamily="34" charset="-122"/>
                <a:cs typeface="Calibri" pitchFamily="34" charset="-120"/>
              </a:rPr>
              <a:t>simulate real-world forecasting; prevent look-ahead bias.</a:t>
            </a:r>
            <a:endParaRPr lang="en-US" dirty="0">
              <a:latin typeface="Georgia" panose="02040502050405020303" pitchFamily="18" charset="0"/>
            </a:endParaRPr>
          </a:p>
          <a:p>
            <a:pPr marL="0" indent="0">
              <a:buNone/>
            </a:pPr>
            <a:r>
              <a:rPr lang="en-US" b="1" dirty="0">
                <a:solidFill>
                  <a:srgbClr val="2D3343"/>
                </a:solidFill>
                <a:latin typeface="Georgia" panose="02040502050405020303" pitchFamily="18" charset="0"/>
                <a:ea typeface="Calibri" pitchFamily="34" charset="-122"/>
                <a:cs typeface="Calibri" pitchFamily="34" charset="-120"/>
              </a:rPr>
              <a:t>Three seeds {42, 99, 123} </a:t>
            </a:r>
            <a:r>
              <a:rPr lang="en-US" dirty="0">
                <a:solidFill>
                  <a:srgbClr val="2D3343"/>
                </a:solidFill>
                <a:latin typeface="Georgia" panose="02040502050405020303" pitchFamily="18" charset="0"/>
                <a:ea typeface="Calibri" pitchFamily="34" charset="-122"/>
                <a:cs typeface="Calibri" pitchFamily="34" charset="-120"/>
              </a:rPr>
              <a:t>for stochastic LSTM weight initialization.</a:t>
            </a:r>
            <a:endParaRPr lang="en-US" dirty="0">
              <a:latin typeface="Georgia" panose="02040502050405020303" pitchFamily="18" charset="0"/>
            </a:endParaRPr>
          </a:p>
          <a:p>
            <a:pPr marL="0" indent="0">
              <a:buNone/>
            </a:pPr>
            <a:r>
              <a:rPr lang="en-US" b="1" dirty="0">
                <a:solidFill>
                  <a:srgbClr val="2D3343"/>
                </a:solidFill>
                <a:latin typeface="Georgia" panose="02040502050405020303" pitchFamily="18" charset="0"/>
                <a:ea typeface="Calibri" pitchFamily="34" charset="-122"/>
                <a:cs typeface="Calibri" pitchFamily="34" charset="-120"/>
              </a:rPr>
              <a:t>Scaler fit on train only </a:t>
            </a:r>
            <a:r>
              <a:rPr lang="en-US" dirty="0">
                <a:solidFill>
                  <a:srgbClr val="2D3343"/>
                </a:solidFill>
                <a:latin typeface="Georgia" panose="02040502050405020303" pitchFamily="18" charset="0"/>
                <a:ea typeface="Calibri" pitchFamily="34" charset="-122"/>
                <a:cs typeface="Calibri" pitchFamily="34" charset="-120"/>
              </a:rPr>
              <a:t>→ no leakage.</a:t>
            </a:r>
            <a:endParaRPr lang="en-US" dirty="0">
              <a:latin typeface="Georgia" panose="02040502050405020303" pitchFamily="18" charset="0"/>
            </a:endParaRPr>
          </a:p>
        </p:txBody>
      </p:sp>
      <p:sp>
        <p:nvSpPr>
          <p:cNvPr id="8" name="Shape 6">
            <a:extLst>
              <a:ext uri="{FF2B5EF4-FFF2-40B4-BE49-F238E27FC236}">
                <a16:creationId xmlns:a16="http://schemas.microsoft.com/office/drawing/2014/main" id="{AE5E3401-B629-ED67-52F4-373C8E3CD722}"/>
              </a:ext>
            </a:extLst>
          </p:cNvPr>
          <p:cNvSpPr/>
          <p:nvPr/>
        </p:nvSpPr>
        <p:spPr>
          <a:xfrm>
            <a:off x="579120" y="4367784"/>
            <a:ext cx="5577840" cy="2057400"/>
          </a:xfrm>
          <a:prstGeom prst="rect">
            <a:avLst/>
          </a:prstGeom>
          <a:solidFill>
            <a:srgbClr val="F4F6F9"/>
          </a:solidFill>
          <a:ln w="6350">
            <a:solidFill>
              <a:srgbClr val="E5E7EB"/>
            </a:solidFill>
            <a:prstDash val="solid"/>
          </a:ln>
        </p:spPr>
      </p:sp>
      <p:sp>
        <p:nvSpPr>
          <p:cNvPr id="9" name="Shape 7">
            <a:extLst>
              <a:ext uri="{FF2B5EF4-FFF2-40B4-BE49-F238E27FC236}">
                <a16:creationId xmlns:a16="http://schemas.microsoft.com/office/drawing/2014/main" id="{271B1724-5794-1103-4FB7-5456600D50AF}"/>
              </a:ext>
            </a:extLst>
          </p:cNvPr>
          <p:cNvSpPr/>
          <p:nvPr/>
        </p:nvSpPr>
        <p:spPr>
          <a:xfrm>
            <a:off x="579120" y="4367784"/>
            <a:ext cx="91440" cy="2057400"/>
          </a:xfrm>
          <a:prstGeom prst="rect">
            <a:avLst/>
          </a:prstGeom>
          <a:solidFill>
            <a:srgbClr val="C2410C"/>
          </a:solidFill>
          <a:ln w="12700">
            <a:solidFill>
              <a:srgbClr val="C2410C"/>
            </a:solidFill>
            <a:prstDash val="solid"/>
          </a:ln>
        </p:spPr>
      </p:sp>
      <p:sp>
        <p:nvSpPr>
          <p:cNvPr id="10" name="Text 8">
            <a:extLst>
              <a:ext uri="{FF2B5EF4-FFF2-40B4-BE49-F238E27FC236}">
                <a16:creationId xmlns:a16="http://schemas.microsoft.com/office/drawing/2014/main" id="{FEAB6013-79F3-A61F-BD0D-C5E5E3A3DF41}"/>
              </a:ext>
            </a:extLst>
          </p:cNvPr>
          <p:cNvSpPr/>
          <p:nvPr/>
        </p:nvSpPr>
        <p:spPr>
          <a:xfrm>
            <a:off x="807720" y="4431792"/>
            <a:ext cx="5303520" cy="256032"/>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FROM eval.py — run_kfold()</a:t>
            </a:r>
            <a:endParaRPr lang="en-US" dirty="0"/>
          </a:p>
        </p:txBody>
      </p:sp>
      <p:sp>
        <p:nvSpPr>
          <p:cNvPr id="11" name="Text 9">
            <a:extLst>
              <a:ext uri="{FF2B5EF4-FFF2-40B4-BE49-F238E27FC236}">
                <a16:creationId xmlns:a16="http://schemas.microsoft.com/office/drawing/2014/main" id="{14C4FF86-0032-9029-E4FB-71A8BAE158B9}"/>
              </a:ext>
            </a:extLst>
          </p:cNvPr>
          <p:cNvSpPr/>
          <p:nvPr/>
        </p:nvSpPr>
        <p:spPr>
          <a:xfrm>
            <a:off x="807720" y="4706112"/>
            <a:ext cx="5303520" cy="1691640"/>
          </a:xfrm>
          <a:prstGeom prst="rect">
            <a:avLst/>
          </a:prstGeom>
          <a:solidFill>
            <a:schemeClr val="bg2"/>
          </a:solidFill>
          <a:ln/>
        </p:spPr>
        <p:txBody>
          <a:bodyPr wrap="square" lIns="0" tIns="0" rIns="0" bIns="0" rtlCol="0" anchor="t"/>
          <a:lstStyle/>
          <a:p>
            <a:pPr marL="0" indent="0">
              <a:buNone/>
            </a:pPr>
            <a:r>
              <a:rPr lang="en-US" dirty="0">
                <a:solidFill>
                  <a:srgbClr val="2D3343"/>
                </a:solidFill>
                <a:latin typeface="Consolas" pitchFamily="34" charset="0"/>
                <a:ea typeface="Consolas" pitchFamily="34" charset="-122"/>
                <a:cs typeface="Consolas" pitchFamily="34" charset="-120"/>
              </a:rPr>
              <a:t>tscv = TimeSeriesSplit(n_splits=10)
for train_idx, test_idx in tscv.split(X_raw):
    fold_scaler = MinMaxScaler()
</a:t>
            </a:r>
            <a:r>
              <a:rPr lang="en-US" b="1" dirty="0">
                <a:solidFill>
                  <a:srgbClr val="C2410C"/>
                </a:solidFill>
                <a:latin typeface="Consolas" pitchFamily="34" charset="0"/>
                <a:ea typeface="Consolas" pitchFamily="34" charset="-122"/>
                <a:cs typeface="Consolas" pitchFamily="34" charset="-120"/>
              </a:rPr>
              <a:t>    train_scaled = fold_scaler.fit_transform(
                       X_raw[train_idx])  </a:t>
            </a:r>
            <a:r>
              <a:rPr lang="en-US" i="1" dirty="0">
                <a:solidFill>
                  <a:srgbClr val="6B7280"/>
                </a:solidFill>
                <a:latin typeface="Consolas" pitchFamily="34" charset="0"/>
                <a:ea typeface="Consolas" pitchFamily="34" charset="-122"/>
                <a:cs typeface="Consolas" pitchFamily="34" charset="-120"/>
              </a:rPr>
              <a:t># fit on train</a:t>
            </a:r>
            <a:endParaRPr lang="en-US" dirty="0"/>
          </a:p>
          <a:p>
            <a:pPr marL="0" indent="0">
              <a:buNone/>
            </a:pPr>
            <a:r>
              <a:rPr lang="en-US" dirty="0">
                <a:solidFill>
                  <a:srgbClr val="2D3343"/>
                </a:solidFill>
                <a:latin typeface="Consolas" pitchFamily="34" charset="0"/>
                <a:ea typeface="Consolas" pitchFamily="34" charset="-122"/>
                <a:cs typeface="Consolas" pitchFamily="34" charset="-120"/>
              </a:rPr>
              <a:t>    test_scaled  = fold_scaler.transform(
                       X_raw[test_idx])</a:t>
            </a:r>
            <a:endParaRPr lang="en-US" dirty="0"/>
          </a:p>
        </p:txBody>
      </p:sp>
      <p:sp>
        <p:nvSpPr>
          <p:cNvPr id="12" name="Shape 10">
            <a:extLst>
              <a:ext uri="{FF2B5EF4-FFF2-40B4-BE49-F238E27FC236}">
                <a16:creationId xmlns:a16="http://schemas.microsoft.com/office/drawing/2014/main" id="{16C0AFD7-4099-95B8-8D45-9D60A9979B53}"/>
              </a:ext>
            </a:extLst>
          </p:cNvPr>
          <p:cNvSpPr/>
          <p:nvPr/>
        </p:nvSpPr>
        <p:spPr>
          <a:xfrm>
            <a:off x="6355080" y="1691640"/>
            <a:ext cx="5257800" cy="4526280"/>
          </a:xfrm>
          <a:prstGeom prst="rect">
            <a:avLst/>
          </a:prstGeom>
          <a:solidFill>
            <a:srgbClr val="FFFFFF"/>
          </a:solidFill>
          <a:ln w="9525">
            <a:solidFill>
              <a:srgbClr val="E5E7EB"/>
            </a:solidFill>
            <a:prstDash val="solid"/>
          </a:ln>
        </p:spPr>
      </p:sp>
      <p:sp>
        <p:nvSpPr>
          <p:cNvPr id="13" name="Text 11">
            <a:extLst>
              <a:ext uri="{FF2B5EF4-FFF2-40B4-BE49-F238E27FC236}">
                <a16:creationId xmlns:a16="http://schemas.microsoft.com/office/drawing/2014/main" id="{0B0608A3-F8F6-543F-53EB-044B4955FED8}"/>
              </a:ext>
            </a:extLst>
          </p:cNvPr>
          <p:cNvSpPr/>
          <p:nvPr/>
        </p:nvSpPr>
        <p:spPr>
          <a:xfrm>
            <a:off x="6583680" y="1828800"/>
            <a:ext cx="4937760" cy="274320"/>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METRICS</a:t>
            </a:r>
            <a:endParaRPr lang="en-US" dirty="0"/>
          </a:p>
        </p:txBody>
      </p:sp>
      <p:sp>
        <p:nvSpPr>
          <p:cNvPr id="14" name="Text 12">
            <a:extLst>
              <a:ext uri="{FF2B5EF4-FFF2-40B4-BE49-F238E27FC236}">
                <a16:creationId xmlns:a16="http://schemas.microsoft.com/office/drawing/2014/main" id="{673A309D-1D36-0FA1-09B9-5319AD5E7DF2}"/>
              </a:ext>
            </a:extLst>
          </p:cNvPr>
          <p:cNvSpPr/>
          <p:nvPr/>
        </p:nvSpPr>
        <p:spPr>
          <a:xfrm>
            <a:off x="6583680" y="2194560"/>
            <a:ext cx="1280160" cy="457200"/>
          </a:xfrm>
          <a:prstGeom prst="rect">
            <a:avLst/>
          </a:prstGeom>
          <a:noFill/>
          <a:ln/>
        </p:spPr>
        <p:txBody>
          <a:bodyPr wrap="square" lIns="0" tIns="0" rIns="0" bIns="0" rtlCol="0" anchor="ctr"/>
          <a:lstStyle/>
          <a:p>
            <a:pPr marL="0" indent="0">
              <a:buNone/>
            </a:pPr>
            <a:r>
              <a:rPr lang="en-US" sz="2200" b="1" dirty="0">
                <a:solidFill>
                  <a:srgbClr val="6B7280"/>
                </a:solidFill>
                <a:latin typeface="Georgia" pitchFamily="34" charset="0"/>
                <a:ea typeface="Georgia" pitchFamily="34" charset="-122"/>
                <a:cs typeface="Georgia" pitchFamily="34" charset="-120"/>
              </a:rPr>
              <a:t>MAE</a:t>
            </a:r>
            <a:endParaRPr lang="en-US" sz="2200" dirty="0"/>
          </a:p>
        </p:txBody>
      </p:sp>
      <p:sp>
        <p:nvSpPr>
          <p:cNvPr id="15" name="Text 13">
            <a:extLst>
              <a:ext uri="{FF2B5EF4-FFF2-40B4-BE49-F238E27FC236}">
                <a16:creationId xmlns:a16="http://schemas.microsoft.com/office/drawing/2014/main" id="{1047D2EA-DA6D-CE41-FFA6-AAD014C97E86}"/>
              </a:ext>
            </a:extLst>
          </p:cNvPr>
          <p:cNvSpPr/>
          <p:nvPr/>
        </p:nvSpPr>
        <p:spPr>
          <a:xfrm>
            <a:off x="7955280" y="2194560"/>
            <a:ext cx="3520440" cy="96012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Mean Absolute Error -  interpretable dollar-value error.</a:t>
            </a:r>
            <a:endParaRPr lang="en-US" dirty="0"/>
          </a:p>
        </p:txBody>
      </p:sp>
      <p:sp>
        <p:nvSpPr>
          <p:cNvPr id="16" name="Text 14">
            <a:extLst>
              <a:ext uri="{FF2B5EF4-FFF2-40B4-BE49-F238E27FC236}">
                <a16:creationId xmlns:a16="http://schemas.microsoft.com/office/drawing/2014/main" id="{2E2C2451-EE96-5F16-C23E-B6EC854E8508}"/>
              </a:ext>
            </a:extLst>
          </p:cNvPr>
          <p:cNvSpPr/>
          <p:nvPr/>
        </p:nvSpPr>
        <p:spPr>
          <a:xfrm>
            <a:off x="6583680" y="3246120"/>
            <a:ext cx="1280160" cy="457200"/>
          </a:xfrm>
          <a:prstGeom prst="rect">
            <a:avLst/>
          </a:prstGeom>
          <a:noFill/>
          <a:ln/>
        </p:spPr>
        <p:txBody>
          <a:bodyPr wrap="square" lIns="0" tIns="0" rIns="0" bIns="0" rtlCol="0" anchor="ctr"/>
          <a:lstStyle/>
          <a:p>
            <a:pPr marL="0" indent="0">
              <a:buNone/>
            </a:pPr>
            <a:r>
              <a:rPr lang="en-US" sz="2200" b="1" dirty="0">
                <a:solidFill>
                  <a:srgbClr val="6B7280"/>
                </a:solidFill>
                <a:latin typeface="Georgia" pitchFamily="34" charset="0"/>
                <a:ea typeface="Georgia" pitchFamily="34" charset="-122"/>
                <a:cs typeface="Georgia" pitchFamily="34" charset="-120"/>
              </a:rPr>
              <a:t>RMSE</a:t>
            </a:r>
            <a:endParaRPr lang="en-US" sz="2200" dirty="0"/>
          </a:p>
        </p:txBody>
      </p:sp>
      <p:sp>
        <p:nvSpPr>
          <p:cNvPr id="17" name="Text 15">
            <a:extLst>
              <a:ext uri="{FF2B5EF4-FFF2-40B4-BE49-F238E27FC236}">
                <a16:creationId xmlns:a16="http://schemas.microsoft.com/office/drawing/2014/main" id="{A48368A8-4E92-7EFA-7618-422996F20A48}"/>
              </a:ext>
            </a:extLst>
          </p:cNvPr>
          <p:cNvSpPr/>
          <p:nvPr/>
        </p:nvSpPr>
        <p:spPr>
          <a:xfrm>
            <a:off x="7955280" y="3246120"/>
            <a:ext cx="3520440" cy="96012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Root Mean Squared Error -  penalizes large outlier errors more heavily.</a:t>
            </a:r>
            <a:endParaRPr lang="en-US" dirty="0"/>
          </a:p>
        </p:txBody>
      </p:sp>
      <p:sp>
        <p:nvSpPr>
          <p:cNvPr id="18" name="Text 16">
            <a:extLst>
              <a:ext uri="{FF2B5EF4-FFF2-40B4-BE49-F238E27FC236}">
                <a16:creationId xmlns:a16="http://schemas.microsoft.com/office/drawing/2014/main" id="{EA71C1B0-09EE-0346-E730-FCA4AC3FF715}"/>
              </a:ext>
            </a:extLst>
          </p:cNvPr>
          <p:cNvSpPr/>
          <p:nvPr/>
        </p:nvSpPr>
        <p:spPr>
          <a:xfrm>
            <a:off x="6583680" y="4297680"/>
            <a:ext cx="1280160" cy="457200"/>
          </a:xfrm>
          <a:prstGeom prst="rect">
            <a:avLst/>
          </a:prstGeom>
          <a:noFill/>
          <a:ln/>
        </p:spPr>
        <p:txBody>
          <a:bodyPr wrap="square" lIns="0" tIns="0" rIns="0" bIns="0" rtlCol="0" anchor="ctr"/>
          <a:lstStyle/>
          <a:p>
            <a:pPr marL="0" indent="0">
              <a:buNone/>
            </a:pPr>
            <a:r>
              <a:rPr lang="en-US" sz="2200" b="1" dirty="0">
                <a:solidFill>
                  <a:srgbClr val="C2410C"/>
                </a:solidFill>
                <a:latin typeface="Georgia" pitchFamily="34" charset="0"/>
                <a:ea typeface="Georgia" pitchFamily="34" charset="-122"/>
                <a:cs typeface="Georgia" pitchFamily="34" charset="-120"/>
              </a:rPr>
              <a:t>MAPE</a:t>
            </a:r>
            <a:endParaRPr lang="en-US" sz="2200" dirty="0"/>
          </a:p>
        </p:txBody>
      </p:sp>
      <p:sp>
        <p:nvSpPr>
          <p:cNvPr id="19" name="Text 17">
            <a:extLst>
              <a:ext uri="{FF2B5EF4-FFF2-40B4-BE49-F238E27FC236}">
                <a16:creationId xmlns:a16="http://schemas.microsoft.com/office/drawing/2014/main" id="{7C4B4D6E-F73A-DF86-B547-A10F922D714D}"/>
              </a:ext>
            </a:extLst>
          </p:cNvPr>
          <p:cNvSpPr/>
          <p:nvPr/>
        </p:nvSpPr>
        <p:spPr>
          <a:xfrm>
            <a:off x="6583680" y="4800600"/>
            <a:ext cx="1280160" cy="228600"/>
          </a:xfrm>
          <a:prstGeom prst="rect">
            <a:avLst/>
          </a:prstGeom>
          <a:noFill/>
          <a:ln/>
        </p:spPr>
        <p:txBody>
          <a:bodyPr wrap="square" lIns="0" tIns="0" rIns="0" bIns="0" rtlCol="0" anchor="ctr"/>
          <a:lstStyle/>
          <a:p>
            <a:pPr marL="0" indent="0">
              <a:buNone/>
            </a:pPr>
            <a:r>
              <a:rPr lang="en-US" sz="900" b="1" kern="0" spc="300" dirty="0">
                <a:solidFill>
                  <a:srgbClr val="C2410C"/>
                </a:solidFill>
                <a:latin typeface="Calibri" pitchFamily="34" charset="0"/>
                <a:ea typeface="Calibri" pitchFamily="34" charset="-122"/>
                <a:cs typeface="Calibri" pitchFamily="34" charset="-120"/>
              </a:rPr>
              <a:t>PRIMARY</a:t>
            </a:r>
            <a:endParaRPr lang="en-US" sz="900" dirty="0"/>
          </a:p>
        </p:txBody>
      </p:sp>
      <p:sp>
        <p:nvSpPr>
          <p:cNvPr id="20" name="Text 18">
            <a:extLst>
              <a:ext uri="{FF2B5EF4-FFF2-40B4-BE49-F238E27FC236}">
                <a16:creationId xmlns:a16="http://schemas.microsoft.com/office/drawing/2014/main" id="{0BAF5902-FE7F-0BC8-566B-2552ED99B80B}"/>
              </a:ext>
            </a:extLst>
          </p:cNvPr>
          <p:cNvSpPr/>
          <p:nvPr/>
        </p:nvSpPr>
        <p:spPr>
          <a:xfrm>
            <a:off x="7955280" y="4297680"/>
            <a:ext cx="3520440" cy="96012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Mean Absolute Percentage Error — primary metric. Scale-independent so we can compare across stocks at very different price levels.</a:t>
            </a:r>
            <a:endParaRPr lang="en-US" dirty="0"/>
          </a:p>
        </p:txBody>
      </p:sp>
      <p:sp>
        <p:nvSpPr>
          <p:cNvPr id="21" name="Shape 19">
            <a:extLst>
              <a:ext uri="{FF2B5EF4-FFF2-40B4-BE49-F238E27FC236}">
                <a16:creationId xmlns:a16="http://schemas.microsoft.com/office/drawing/2014/main" id="{1CD90525-739C-15F8-A7B0-14B041928B01}"/>
              </a:ext>
            </a:extLst>
          </p:cNvPr>
          <p:cNvSpPr/>
          <p:nvPr/>
        </p:nvSpPr>
        <p:spPr>
          <a:xfrm>
            <a:off x="6583680" y="5486400"/>
            <a:ext cx="4846320" cy="594360"/>
          </a:xfrm>
          <a:prstGeom prst="rect">
            <a:avLst/>
          </a:prstGeom>
          <a:solidFill>
            <a:srgbClr val="F7F8FA"/>
          </a:solidFill>
          <a:ln w="6350">
            <a:solidFill>
              <a:srgbClr val="E5E7EB"/>
            </a:solidFill>
            <a:prstDash val="solid"/>
          </a:ln>
        </p:spPr>
      </p:sp>
      <p:sp>
        <p:nvSpPr>
          <p:cNvPr id="22" name="Text 20">
            <a:extLst>
              <a:ext uri="{FF2B5EF4-FFF2-40B4-BE49-F238E27FC236}">
                <a16:creationId xmlns:a16="http://schemas.microsoft.com/office/drawing/2014/main" id="{18B6B6C7-0783-0246-DC8D-4CB18531ADC3}"/>
              </a:ext>
            </a:extLst>
          </p:cNvPr>
          <p:cNvSpPr/>
          <p:nvPr/>
        </p:nvSpPr>
        <p:spPr>
          <a:xfrm>
            <a:off x="6675120" y="5532120"/>
            <a:ext cx="4663440" cy="502920"/>
          </a:xfrm>
          <a:prstGeom prst="rect">
            <a:avLst/>
          </a:prstGeom>
          <a:noFill/>
          <a:ln/>
        </p:spPr>
        <p:txBody>
          <a:bodyPr wrap="square" lIns="0" tIns="0" rIns="0" bIns="0" rtlCol="0" anchor="ctr"/>
          <a:lstStyle/>
          <a:p>
            <a:pPr marL="0" indent="0">
              <a:buNone/>
            </a:pPr>
            <a:r>
              <a:rPr lang="en-US" b="1" dirty="0">
                <a:solidFill>
                  <a:srgbClr val="1A1F2E"/>
                </a:solidFill>
                <a:latin typeface="Calibri" pitchFamily="34" charset="0"/>
                <a:ea typeface="Calibri" pitchFamily="34" charset="-122"/>
                <a:cs typeface="Calibri" pitchFamily="34" charset="-120"/>
              </a:rPr>
              <a:t>Test: </a:t>
            </a:r>
            <a:r>
              <a:rPr lang="en-US" dirty="0">
                <a:solidFill>
                  <a:srgbClr val="2D3343"/>
                </a:solidFill>
                <a:latin typeface="Calibri" pitchFamily="34" charset="0"/>
                <a:ea typeface="Calibri" pitchFamily="34" charset="-122"/>
                <a:cs typeface="Calibri" pitchFamily="34" charset="-120"/>
              </a:rPr>
              <a:t>one-sided paired t-test  ·  α = 0.05 → 0.0083 </a:t>
            </a:r>
            <a:r>
              <a:rPr lang="en-US" i="1" dirty="0">
                <a:solidFill>
                  <a:srgbClr val="6B7280"/>
                </a:solidFill>
                <a:latin typeface="Calibri" pitchFamily="34" charset="0"/>
                <a:ea typeface="Calibri" pitchFamily="34" charset="-122"/>
                <a:cs typeface="Calibri" pitchFamily="34" charset="-120"/>
              </a:rPr>
              <a:t>(Bonferroni)</a:t>
            </a:r>
            <a:endParaRPr lang="en-US" dirty="0"/>
          </a:p>
        </p:txBody>
      </p:sp>
      <p:sp>
        <p:nvSpPr>
          <p:cNvPr id="23" name="Shape 21">
            <a:extLst>
              <a:ext uri="{FF2B5EF4-FFF2-40B4-BE49-F238E27FC236}">
                <a16:creationId xmlns:a16="http://schemas.microsoft.com/office/drawing/2014/main" id="{1FAAF35E-290B-5319-C5D3-B6EEB8C22E74}"/>
              </a:ext>
            </a:extLst>
          </p:cNvPr>
          <p:cNvSpPr/>
          <p:nvPr/>
        </p:nvSpPr>
        <p:spPr>
          <a:xfrm>
            <a:off x="548640" y="6446520"/>
            <a:ext cx="11094415" cy="0"/>
          </a:xfrm>
          <a:prstGeom prst="line">
            <a:avLst/>
          </a:prstGeom>
          <a:noFill/>
          <a:ln w="9525">
            <a:solidFill>
              <a:srgbClr val="E5E7EB"/>
            </a:solidFill>
            <a:prstDash val="solid"/>
          </a:ln>
        </p:spPr>
      </p:sp>
      <p:sp>
        <p:nvSpPr>
          <p:cNvPr id="24" name="Text 22">
            <a:extLst>
              <a:ext uri="{FF2B5EF4-FFF2-40B4-BE49-F238E27FC236}">
                <a16:creationId xmlns:a16="http://schemas.microsoft.com/office/drawing/2014/main" id="{EEFE3EC3-BE53-5495-BD3A-829C428F173D}"/>
              </a:ext>
            </a:extLst>
          </p:cNvPr>
          <p:cNvSpPr/>
          <p:nvPr/>
        </p:nvSpPr>
        <p:spPr>
          <a:xfrm>
            <a:off x="11277295" y="6492240"/>
            <a:ext cx="73152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 / 15</a:t>
            </a:r>
            <a:endParaRPr lang="en-US" sz="1000" dirty="0"/>
          </a:p>
        </p:txBody>
      </p:sp>
    </p:spTree>
    <p:extLst>
      <p:ext uri="{BB962C8B-B14F-4D97-AF65-F5344CB8AC3E}">
        <p14:creationId xmlns:p14="http://schemas.microsoft.com/office/powerpoint/2010/main" val="1250620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grpId="0" nodeType="clickEffect">
                                  <p:stCondLst>
                                    <p:cond delay="0"/>
                                  </p:stCondLst>
                                  <p:childTnLst>
                                    <p:animMotion origin="layout" path="M 0 0 L 0 -0.25 E" pathEditMode="relative" ptsTypes="">
                                      <p:cBhvr>
                                        <p:cTn id="6" dur="20000" fill="hold"/>
                                        <p:tgtEl>
                                          <p:spTgt spid="1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A28DD-7973-ADE7-467B-2675782B810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CC78826-E798-7844-2927-A9372F562FF8}"/>
              </a:ext>
            </a:extLst>
          </p:cNvPr>
          <p:cNvSpPr/>
          <p:nvPr/>
        </p:nvSpPr>
        <p:spPr>
          <a:xfrm>
            <a:off x="548640" y="196597"/>
            <a:ext cx="10972800" cy="292608"/>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RESULTS · SINGLE HOLDOUT</a:t>
            </a:r>
            <a:endParaRPr lang="en-US" dirty="0"/>
          </a:p>
        </p:txBody>
      </p:sp>
      <p:sp>
        <p:nvSpPr>
          <p:cNvPr id="3" name="Text 1">
            <a:extLst>
              <a:ext uri="{FF2B5EF4-FFF2-40B4-BE49-F238E27FC236}">
                <a16:creationId xmlns:a16="http://schemas.microsoft.com/office/drawing/2014/main" id="{30FB4827-C69A-ECB0-120D-4447D98C5B40}"/>
              </a:ext>
            </a:extLst>
          </p:cNvPr>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A1F2E"/>
                </a:solidFill>
                <a:latin typeface="Georgia" pitchFamily="34" charset="0"/>
                <a:ea typeface="Georgia" pitchFamily="34" charset="-122"/>
                <a:cs typeface="Georgia" pitchFamily="34" charset="-120"/>
              </a:rPr>
              <a:t>Single-holdout results — first signal</a:t>
            </a:r>
            <a:endParaRPr lang="en-US" sz="3000" dirty="0"/>
          </a:p>
        </p:txBody>
      </p:sp>
      <p:graphicFrame>
        <p:nvGraphicFramePr>
          <p:cNvPr id="4" name="Table 0">
            <a:extLst>
              <a:ext uri="{FF2B5EF4-FFF2-40B4-BE49-F238E27FC236}">
                <a16:creationId xmlns:a16="http://schemas.microsoft.com/office/drawing/2014/main" id="{AD2D5D12-CDAF-4C43-12C3-CC21FBDBEC07}"/>
              </a:ext>
            </a:extLst>
          </p:cNvPr>
          <p:cNvGraphicFramePr>
            <a:graphicFrameLocks noGrp="1"/>
          </p:cNvGraphicFramePr>
          <p:nvPr>
            <p:extLst>
              <p:ext uri="{D42A27DB-BD31-4B8C-83A1-F6EECF244321}">
                <p14:modId xmlns:p14="http://schemas.microsoft.com/office/powerpoint/2010/main" val="1267791346"/>
              </p:ext>
            </p:extLst>
          </p:nvPr>
        </p:nvGraphicFramePr>
        <p:xfrm>
          <a:off x="548640" y="1691640"/>
          <a:ext cx="7040880" cy="4507990"/>
        </p:xfrm>
        <a:graphic>
          <a:graphicData uri="http://schemas.openxmlformats.org/drawingml/2006/table">
            <a:tbl>
              <a:tblPr/>
              <a:tblGrid>
                <a:gridCol w="10058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450799">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Stock</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F2E"/>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Model</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F2E"/>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W = 10</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F2E"/>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W = 30</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F2E"/>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W = 60</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F2E"/>
                    </a:solidFill>
                  </a:tcPr>
                </a:tc>
                <a:extLst>
                  <a:ext uri="{0D108BD9-81ED-4DB2-BD59-A6C34878D82A}">
                    <a16:rowId xmlns:a16="http://schemas.microsoft.com/office/drawing/2014/main" val="10000"/>
                  </a:ext>
                </a:extLst>
              </a:tr>
              <a:tr h="450799">
                <a:tc rowSpan="3">
                  <a:txBody>
                    <a:bodyPr/>
                    <a:lstStyle/>
                    <a:p>
                      <a:pPr marL="0" indent="0">
                        <a:buNone/>
                      </a:pPr>
                      <a:r>
                        <a:rPr lang="en-US" sz="1800" b="1" dirty="0">
                          <a:solidFill>
                            <a:srgbClr val="1A1F2E"/>
                          </a:solidFill>
                          <a:latin typeface="Calibri" pitchFamily="34" charset="0"/>
                          <a:ea typeface="Calibri" pitchFamily="34" charset="-122"/>
                          <a:cs typeface="Calibri" pitchFamily="34" charset="-120"/>
                        </a:rPr>
                        <a:t>ORCL</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E2A4A"/>
                          </a:solidFill>
                          <a:latin typeface="Calibri" pitchFamily="34" charset="0"/>
                          <a:ea typeface="Calibri" pitchFamily="34" charset="-122"/>
                          <a:cs typeface="Calibri" pitchFamily="34" charset="-120"/>
                        </a:rPr>
                        <a:t>Naive Baseline</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b="1" dirty="0">
                          <a:solidFill>
                            <a:srgbClr val="2D3343"/>
                          </a:solidFill>
                          <a:latin typeface="Calibri" pitchFamily="34" charset="0"/>
                          <a:ea typeface="Calibri" pitchFamily="34" charset="-122"/>
                          <a:cs typeface="Calibri" pitchFamily="34" charset="-120"/>
                        </a:rPr>
                        <a:t>1.27%</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1.25%</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1.25%</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50799">
                <a:tc vMerge="1">
                  <a:txBody>
                    <a:bodyPr/>
                    <a:lstStyle/>
                    <a:p>
                      <a:endParaRPr lang="en-US"/>
                    </a:p>
                  </a:txBody>
                  <a:tcPr/>
                </a:tc>
                <a:tc>
                  <a:txBody>
                    <a:bodyPr/>
                    <a:lstStyle/>
                    <a:p>
                      <a:pPr marL="0" indent="0">
                        <a:buNone/>
                      </a:pPr>
                      <a:r>
                        <a:rPr lang="en-US" sz="1800" dirty="0">
                          <a:solidFill>
                            <a:srgbClr val="0F766E"/>
                          </a:solidFill>
                          <a:latin typeface="Calibri" pitchFamily="34" charset="0"/>
                          <a:ea typeface="Calibri" pitchFamily="34" charset="-122"/>
                          <a:cs typeface="Calibri" pitchFamily="34" charset="-120"/>
                        </a:rPr>
                        <a:t>Linear Regression</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1.32%</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1.32%</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1.40%</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50799">
                <a:tc vMerge="1">
                  <a:txBody>
                    <a:bodyPr/>
                    <a:lstStyle/>
                    <a:p>
                      <a:endParaRPr lang="en-US"/>
                    </a:p>
                  </a:txBody>
                  <a:tcPr/>
                </a:tc>
                <a:tc>
                  <a:txBody>
                    <a:bodyPr/>
                    <a:lstStyle/>
                    <a:p>
                      <a:pPr marL="0" indent="0">
                        <a:buNone/>
                      </a:pPr>
                      <a:r>
                        <a:rPr lang="en-US" sz="1800" dirty="0">
                          <a:solidFill>
                            <a:srgbClr val="C2410C"/>
                          </a:solidFill>
                          <a:latin typeface="Calibri" pitchFamily="34" charset="0"/>
                          <a:ea typeface="Calibri" pitchFamily="34" charset="-122"/>
                          <a:cs typeface="Calibri" pitchFamily="34" charset="-120"/>
                        </a:rPr>
                        <a:t>LSTM</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b="1" dirty="0">
                          <a:solidFill>
                            <a:srgbClr val="C2410C"/>
                          </a:solidFill>
                          <a:latin typeface="Calibri" pitchFamily="34" charset="0"/>
                          <a:ea typeface="Calibri" pitchFamily="34" charset="-122"/>
                          <a:cs typeface="Calibri" pitchFamily="34" charset="-120"/>
                        </a:rPr>
                        <a:t>16.70%</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i="1" dirty="0">
                          <a:solidFill>
                            <a:srgbClr val="6B7280"/>
                          </a:solidFill>
                          <a:latin typeface="Calibri" pitchFamily="34" charset="0"/>
                          <a:ea typeface="Calibri" pitchFamily="34" charset="-122"/>
                          <a:cs typeface="Calibri" pitchFamily="34" charset="-120"/>
                        </a:rPr>
                        <a:t>N/A</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i="1" dirty="0">
                          <a:solidFill>
                            <a:srgbClr val="6B7280"/>
                          </a:solidFill>
                          <a:latin typeface="Calibri" pitchFamily="34" charset="0"/>
                          <a:ea typeface="Calibri" pitchFamily="34" charset="-122"/>
                          <a:cs typeface="Calibri" pitchFamily="34" charset="-120"/>
                        </a:rPr>
                        <a:t>N/A</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50799">
                <a:tc rowSpan="3">
                  <a:txBody>
                    <a:bodyPr/>
                    <a:lstStyle/>
                    <a:p>
                      <a:pPr marL="0" indent="0">
                        <a:buNone/>
                      </a:pPr>
                      <a:r>
                        <a:rPr lang="en-US" sz="1800" b="1" dirty="0">
                          <a:solidFill>
                            <a:srgbClr val="1A1F2E"/>
                          </a:solidFill>
                          <a:latin typeface="Calibri" pitchFamily="34" charset="0"/>
                          <a:ea typeface="Calibri" pitchFamily="34" charset="-122"/>
                          <a:cs typeface="Calibri" pitchFamily="34" charset="-120"/>
                        </a:rPr>
                        <a:t>MRK</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E2A4A"/>
                          </a:solidFill>
                          <a:latin typeface="Calibri" pitchFamily="34" charset="0"/>
                          <a:ea typeface="Calibri" pitchFamily="34" charset="-122"/>
                          <a:cs typeface="Calibri" pitchFamily="34" charset="-120"/>
                        </a:rPr>
                        <a:t>Naive Baseline</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b="1" dirty="0">
                          <a:solidFill>
                            <a:srgbClr val="2D3343"/>
                          </a:solidFill>
                          <a:latin typeface="Calibri" pitchFamily="34" charset="0"/>
                          <a:ea typeface="Calibri" pitchFamily="34" charset="-122"/>
                          <a:cs typeface="Calibri" pitchFamily="34" charset="-120"/>
                        </a:rPr>
                        <a:t>0.91%</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0.90%</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0.89%</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450799">
                <a:tc vMerge="1">
                  <a:txBody>
                    <a:bodyPr/>
                    <a:lstStyle/>
                    <a:p>
                      <a:endParaRPr lang="en-US"/>
                    </a:p>
                  </a:txBody>
                  <a:tcPr/>
                </a:tc>
                <a:tc>
                  <a:txBody>
                    <a:bodyPr/>
                    <a:lstStyle/>
                    <a:p>
                      <a:pPr marL="0" indent="0">
                        <a:buNone/>
                      </a:pPr>
                      <a:r>
                        <a:rPr lang="en-US" sz="1800" dirty="0">
                          <a:solidFill>
                            <a:srgbClr val="0F766E"/>
                          </a:solidFill>
                          <a:latin typeface="Calibri" pitchFamily="34" charset="0"/>
                          <a:ea typeface="Calibri" pitchFamily="34" charset="-122"/>
                          <a:cs typeface="Calibri" pitchFamily="34" charset="-120"/>
                        </a:rPr>
                        <a:t>Linear Regression</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0.97%</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0.97%</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1.01%</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450799">
                <a:tc vMerge="1">
                  <a:txBody>
                    <a:bodyPr/>
                    <a:lstStyle/>
                    <a:p>
                      <a:endParaRPr lang="en-US"/>
                    </a:p>
                  </a:txBody>
                  <a:tcPr/>
                </a:tc>
                <a:tc>
                  <a:txBody>
                    <a:bodyPr/>
                    <a:lstStyle/>
                    <a:p>
                      <a:pPr marL="0" indent="0">
                        <a:buNone/>
                      </a:pPr>
                      <a:r>
                        <a:rPr lang="en-US" sz="1800" dirty="0">
                          <a:solidFill>
                            <a:srgbClr val="C2410C"/>
                          </a:solidFill>
                          <a:latin typeface="Calibri" pitchFamily="34" charset="0"/>
                          <a:ea typeface="Calibri" pitchFamily="34" charset="-122"/>
                          <a:cs typeface="Calibri" pitchFamily="34" charset="-120"/>
                        </a:rPr>
                        <a:t>LSTM</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b="1" dirty="0">
                          <a:solidFill>
                            <a:srgbClr val="C2410C"/>
                          </a:solidFill>
                          <a:latin typeface="Calibri" pitchFamily="34" charset="0"/>
                          <a:ea typeface="Calibri" pitchFamily="34" charset="-122"/>
                          <a:cs typeface="Calibri" pitchFamily="34" charset="-120"/>
                        </a:rPr>
                        <a:t>17.29%</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i="1" dirty="0">
                          <a:solidFill>
                            <a:srgbClr val="6B7280"/>
                          </a:solidFill>
                          <a:latin typeface="Calibri" pitchFamily="34" charset="0"/>
                          <a:ea typeface="Calibri" pitchFamily="34" charset="-122"/>
                          <a:cs typeface="Calibri" pitchFamily="34" charset="-120"/>
                        </a:rPr>
                        <a:t>N/A</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i="1" dirty="0">
                          <a:solidFill>
                            <a:srgbClr val="6B7280"/>
                          </a:solidFill>
                          <a:latin typeface="Calibri" pitchFamily="34" charset="0"/>
                          <a:ea typeface="Calibri" pitchFamily="34" charset="-122"/>
                          <a:cs typeface="Calibri" pitchFamily="34" charset="-120"/>
                        </a:rPr>
                        <a:t>N/A</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r h="450799">
                <a:tc rowSpan="3">
                  <a:txBody>
                    <a:bodyPr/>
                    <a:lstStyle/>
                    <a:p>
                      <a:pPr marL="0" indent="0">
                        <a:buNone/>
                      </a:pPr>
                      <a:r>
                        <a:rPr lang="en-US" sz="1800" b="1" dirty="0">
                          <a:solidFill>
                            <a:srgbClr val="1A1F2E"/>
                          </a:solidFill>
                          <a:latin typeface="Calibri" pitchFamily="34" charset="0"/>
                          <a:ea typeface="Calibri" pitchFamily="34" charset="-122"/>
                          <a:cs typeface="Calibri" pitchFamily="34" charset="-120"/>
                        </a:rPr>
                        <a:t>PEP</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E2A4A"/>
                          </a:solidFill>
                          <a:latin typeface="Calibri" pitchFamily="34" charset="0"/>
                          <a:ea typeface="Calibri" pitchFamily="34" charset="-122"/>
                          <a:cs typeface="Calibri" pitchFamily="34" charset="-120"/>
                        </a:rPr>
                        <a:t>Naive Baseline</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b="1" dirty="0">
                          <a:solidFill>
                            <a:srgbClr val="2D3343"/>
                          </a:solidFill>
                          <a:latin typeface="Calibri" pitchFamily="34" charset="0"/>
                          <a:ea typeface="Calibri" pitchFamily="34" charset="-122"/>
                          <a:cs typeface="Calibri" pitchFamily="34" charset="-120"/>
                        </a:rPr>
                        <a:t>0.75%</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0.73%</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0.73%</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7"/>
                  </a:ext>
                </a:extLst>
              </a:tr>
              <a:tr h="450799">
                <a:tc vMerge="1">
                  <a:txBody>
                    <a:bodyPr/>
                    <a:lstStyle/>
                    <a:p>
                      <a:endParaRPr lang="en-US"/>
                    </a:p>
                  </a:txBody>
                  <a:tcPr/>
                </a:tc>
                <a:tc>
                  <a:txBody>
                    <a:bodyPr/>
                    <a:lstStyle/>
                    <a:p>
                      <a:pPr marL="0" indent="0">
                        <a:buNone/>
                      </a:pPr>
                      <a:r>
                        <a:rPr lang="en-US" sz="1800" dirty="0">
                          <a:solidFill>
                            <a:srgbClr val="0F766E"/>
                          </a:solidFill>
                          <a:latin typeface="Calibri" pitchFamily="34" charset="0"/>
                          <a:ea typeface="Calibri" pitchFamily="34" charset="-122"/>
                          <a:cs typeface="Calibri" pitchFamily="34" charset="-120"/>
                        </a:rPr>
                        <a:t>Linear Regression</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0.83%</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0.87%</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0.90%</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8"/>
                  </a:ext>
                </a:extLst>
              </a:tr>
              <a:tr h="450799">
                <a:tc vMerge="1">
                  <a:txBody>
                    <a:bodyPr/>
                    <a:lstStyle/>
                    <a:p>
                      <a:endParaRPr lang="en-US"/>
                    </a:p>
                  </a:txBody>
                  <a:tcPr/>
                </a:tc>
                <a:tc>
                  <a:txBody>
                    <a:bodyPr/>
                    <a:lstStyle/>
                    <a:p>
                      <a:pPr marL="0" indent="0">
                        <a:buNone/>
                      </a:pPr>
                      <a:r>
                        <a:rPr lang="en-US" sz="1800" dirty="0">
                          <a:solidFill>
                            <a:srgbClr val="C2410C"/>
                          </a:solidFill>
                          <a:latin typeface="Calibri" pitchFamily="34" charset="0"/>
                          <a:ea typeface="Calibri" pitchFamily="34" charset="-122"/>
                          <a:cs typeface="Calibri" pitchFamily="34" charset="-120"/>
                        </a:rPr>
                        <a:t>LSTM</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b="1" dirty="0">
                          <a:solidFill>
                            <a:srgbClr val="C2410C"/>
                          </a:solidFill>
                          <a:latin typeface="Calibri" pitchFamily="34" charset="0"/>
                          <a:ea typeface="Calibri" pitchFamily="34" charset="-122"/>
                          <a:cs typeface="Calibri" pitchFamily="34" charset="-120"/>
                        </a:rPr>
                        <a:t>10.15%</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i="1" dirty="0">
                          <a:solidFill>
                            <a:srgbClr val="6B7280"/>
                          </a:solidFill>
                          <a:latin typeface="Calibri" pitchFamily="34" charset="0"/>
                          <a:ea typeface="Calibri" pitchFamily="34" charset="-122"/>
                          <a:cs typeface="Calibri" pitchFamily="34" charset="-120"/>
                        </a:rPr>
                        <a:t>N/A</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i="1" dirty="0">
                          <a:solidFill>
                            <a:srgbClr val="6B7280"/>
                          </a:solidFill>
                          <a:latin typeface="Calibri" pitchFamily="34" charset="0"/>
                          <a:ea typeface="Calibri" pitchFamily="34" charset="-122"/>
                          <a:cs typeface="Calibri" pitchFamily="34" charset="-120"/>
                        </a:rPr>
                        <a:t>N/A</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a:extLst>
              <a:ext uri="{FF2B5EF4-FFF2-40B4-BE49-F238E27FC236}">
                <a16:creationId xmlns:a16="http://schemas.microsoft.com/office/drawing/2014/main" id="{A3B2DB8F-845F-5D8B-22C7-9B1B36970494}"/>
              </a:ext>
            </a:extLst>
          </p:cNvPr>
          <p:cNvSpPr/>
          <p:nvPr/>
        </p:nvSpPr>
        <p:spPr>
          <a:xfrm>
            <a:off x="548640" y="5440680"/>
            <a:ext cx="7040880" cy="640080"/>
          </a:xfrm>
          <a:prstGeom prst="rect">
            <a:avLst/>
          </a:prstGeom>
          <a:noFill/>
          <a:ln/>
        </p:spPr>
        <p:txBody>
          <a:bodyPr wrap="square" lIns="0" tIns="0" rIns="0" bIns="0" rtlCol="0" anchor="ctr"/>
          <a:lstStyle/>
          <a:p>
            <a:pPr marL="0" indent="0">
              <a:buNone/>
            </a:pPr>
            <a:endParaRPr lang="en-US" sz="1000" dirty="0"/>
          </a:p>
        </p:txBody>
      </p:sp>
      <p:sp>
        <p:nvSpPr>
          <p:cNvPr id="6" name="Shape 3">
            <a:extLst>
              <a:ext uri="{FF2B5EF4-FFF2-40B4-BE49-F238E27FC236}">
                <a16:creationId xmlns:a16="http://schemas.microsoft.com/office/drawing/2014/main" id="{51A61B4D-102C-8FC6-394F-905C4C158564}"/>
              </a:ext>
            </a:extLst>
          </p:cNvPr>
          <p:cNvSpPr/>
          <p:nvPr/>
        </p:nvSpPr>
        <p:spPr>
          <a:xfrm>
            <a:off x="7818120" y="1691640"/>
            <a:ext cx="3794760" cy="4526280"/>
          </a:xfrm>
          <a:prstGeom prst="rect">
            <a:avLst/>
          </a:prstGeom>
          <a:solidFill>
            <a:srgbClr val="F7F8FA"/>
          </a:solidFill>
          <a:ln w="9525">
            <a:solidFill>
              <a:srgbClr val="E5E7EB"/>
            </a:solidFill>
            <a:prstDash val="solid"/>
          </a:ln>
        </p:spPr>
      </p:sp>
      <p:sp>
        <p:nvSpPr>
          <p:cNvPr id="7" name="Text 4">
            <a:extLst>
              <a:ext uri="{FF2B5EF4-FFF2-40B4-BE49-F238E27FC236}">
                <a16:creationId xmlns:a16="http://schemas.microsoft.com/office/drawing/2014/main" id="{6183E895-9636-2698-6078-96664CA2BA14}"/>
              </a:ext>
            </a:extLst>
          </p:cNvPr>
          <p:cNvSpPr/>
          <p:nvPr/>
        </p:nvSpPr>
        <p:spPr>
          <a:xfrm>
            <a:off x="8046720" y="1828800"/>
            <a:ext cx="3383280" cy="274320"/>
          </a:xfrm>
          <a:prstGeom prst="rect">
            <a:avLst/>
          </a:prstGeom>
          <a:noFill/>
          <a:ln/>
        </p:spPr>
        <p:txBody>
          <a:bodyPr wrap="square" lIns="0" tIns="0" rIns="0" bIns="0" rtlCol="0" anchor="ctr"/>
          <a:lstStyle/>
          <a:p>
            <a:pPr marL="0" indent="0">
              <a:buNone/>
            </a:pPr>
            <a:r>
              <a:rPr lang="en-US" sz="1100" b="1" kern="0" spc="400" dirty="0">
                <a:solidFill>
                  <a:srgbClr val="C2410C"/>
                </a:solidFill>
                <a:latin typeface="Calibri" pitchFamily="34" charset="0"/>
                <a:ea typeface="Calibri" pitchFamily="34" charset="-122"/>
                <a:cs typeface="Calibri" pitchFamily="34" charset="-120"/>
              </a:rPr>
              <a:t>WHAT THIS TELLS US</a:t>
            </a:r>
            <a:endParaRPr lang="en-US" sz="1100" dirty="0"/>
          </a:p>
        </p:txBody>
      </p:sp>
      <p:sp>
        <p:nvSpPr>
          <p:cNvPr id="8" name="Text 5">
            <a:extLst>
              <a:ext uri="{FF2B5EF4-FFF2-40B4-BE49-F238E27FC236}">
                <a16:creationId xmlns:a16="http://schemas.microsoft.com/office/drawing/2014/main" id="{DD842730-8DE2-7F19-A6D8-53A880B00858}"/>
              </a:ext>
            </a:extLst>
          </p:cNvPr>
          <p:cNvSpPr/>
          <p:nvPr/>
        </p:nvSpPr>
        <p:spPr>
          <a:xfrm>
            <a:off x="8046720" y="2194560"/>
            <a:ext cx="3383280" cy="3931920"/>
          </a:xfrm>
          <a:prstGeom prst="rect">
            <a:avLst/>
          </a:prstGeom>
          <a:noFill/>
          <a:ln/>
        </p:spPr>
        <p:txBody>
          <a:bodyPr wrap="square" lIns="0" tIns="0" rIns="0" bIns="0" rtlCol="0" anchor="ctr"/>
          <a:lstStyle/>
          <a:p>
            <a:pPr marL="0" indent="0">
              <a:buNone/>
            </a:pPr>
            <a:r>
              <a:rPr lang="en-US" b="1" dirty="0">
                <a:solidFill>
                  <a:srgbClr val="1A1F2E"/>
                </a:solidFill>
                <a:latin typeface="Calibri" pitchFamily="34" charset="0"/>
                <a:ea typeface="Calibri" pitchFamily="34" charset="-122"/>
                <a:cs typeface="Calibri" pitchFamily="34" charset="-120"/>
              </a:rPr>
              <a:t>Naive Baseline already MAPE under 1.3%</a:t>
            </a:r>
            <a:endParaRPr lang="en-US" dirty="0"/>
          </a:p>
          <a:p>
            <a:pPr marL="0" indent="0">
              <a:spcAft>
                <a:spcPts val="1200"/>
              </a:spcAft>
              <a:buNone/>
            </a:pPr>
            <a:r>
              <a:rPr lang="en-US" dirty="0">
                <a:solidFill>
                  <a:srgbClr val="2D3343"/>
                </a:solidFill>
                <a:latin typeface="Calibri" pitchFamily="34" charset="0"/>
                <a:ea typeface="Calibri" pitchFamily="34" charset="-122"/>
                <a:cs typeface="Calibri" pitchFamily="34" charset="-120"/>
              </a:rPr>
              <a:t>across every stock and window: tough floor to beat.</a:t>
            </a:r>
            <a:endParaRPr lang="en-US" dirty="0"/>
          </a:p>
          <a:p>
            <a:pPr marL="0" indent="0">
              <a:buNone/>
            </a:pPr>
            <a:r>
              <a:rPr lang="en-US" b="1" dirty="0">
                <a:solidFill>
                  <a:srgbClr val="C2410C"/>
                </a:solidFill>
                <a:latin typeface="Calibri" pitchFamily="34" charset="0"/>
                <a:ea typeface="Calibri" pitchFamily="34" charset="-122"/>
                <a:cs typeface="Calibri" pitchFamily="34" charset="-120"/>
              </a:rPr>
              <a:t>LSTM 10–17× worse on a single seed</a:t>
            </a:r>
            <a:endParaRPr lang="en-US" dirty="0"/>
          </a:p>
          <a:p>
            <a:pPr marL="0" indent="0">
              <a:spcAft>
                <a:spcPts val="1200"/>
              </a:spcAft>
              <a:buNone/>
            </a:pPr>
            <a:r>
              <a:rPr lang="en-US" dirty="0">
                <a:solidFill>
                  <a:srgbClr val="2D3343"/>
                </a:solidFill>
                <a:latin typeface="Calibri" pitchFamily="34" charset="0"/>
                <a:ea typeface="Calibri" pitchFamily="34" charset="-122"/>
                <a:cs typeface="Calibri" pitchFamily="34" charset="-120"/>
              </a:rPr>
              <a:t>but this is one seed without the multi-seed CV that follows.</a:t>
            </a:r>
            <a:endParaRPr lang="en-US" dirty="0"/>
          </a:p>
          <a:p>
            <a:pPr marL="0" indent="0">
              <a:buNone/>
            </a:pPr>
            <a:r>
              <a:rPr lang="en-US" b="1" dirty="0">
                <a:solidFill>
                  <a:srgbClr val="1A1F2E"/>
                </a:solidFill>
                <a:latin typeface="Calibri" pitchFamily="34" charset="0"/>
                <a:ea typeface="Calibri" pitchFamily="34" charset="-122"/>
                <a:cs typeface="Calibri" pitchFamily="34" charset="-120"/>
              </a:rPr>
              <a:t>30 / 60-day windows failed to converge</a:t>
            </a:r>
            <a:endParaRPr lang="en-US" dirty="0"/>
          </a:p>
          <a:p>
            <a:pPr marL="0" indent="0">
              <a:buNone/>
            </a:pPr>
            <a:r>
              <a:rPr lang="en-US" dirty="0">
                <a:solidFill>
                  <a:srgbClr val="2D3343"/>
                </a:solidFill>
                <a:latin typeface="Calibri" pitchFamily="34" charset="0"/>
                <a:ea typeface="Calibri" pitchFamily="34" charset="-122"/>
                <a:cs typeface="Calibri" pitchFamily="34" charset="-120"/>
              </a:rPr>
              <a:t>consistent with Saud &amp; Shakya (2020): windows beyond ~10–15 days actively degrade short-horizon prediction.</a:t>
            </a:r>
            <a:endParaRPr lang="en-US" dirty="0"/>
          </a:p>
        </p:txBody>
      </p:sp>
      <p:sp>
        <p:nvSpPr>
          <p:cNvPr id="9" name="Text 6">
            <a:extLst>
              <a:ext uri="{FF2B5EF4-FFF2-40B4-BE49-F238E27FC236}">
                <a16:creationId xmlns:a16="http://schemas.microsoft.com/office/drawing/2014/main" id="{D04EBD48-2032-A590-BCCD-BBA760B6D06A}"/>
              </a:ext>
            </a:extLst>
          </p:cNvPr>
          <p:cNvSpPr/>
          <p:nvPr/>
        </p:nvSpPr>
        <p:spPr>
          <a:xfrm>
            <a:off x="548640" y="6144768"/>
            <a:ext cx="10362895" cy="27432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Convergence behavior at longer windows aligns with Saud &amp; Shakya, Procedia Computer Science (2020).</a:t>
            </a:r>
            <a:endParaRPr lang="en-US" sz="1000" dirty="0"/>
          </a:p>
        </p:txBody>
      </p:sp>
      <p:sp>
        <p:nvSpPr>
          <p:cNvPr id="10" name="Shape 7">
            <a:extLst>
              <a:ext uri="{FF2B5EF4-FFF2-40B4-BE49-F238E27FC236}">
                <a16:creationId xmlns:a16="http://schemas.microsoft.com/office/drawing/2014/main" id="{2328E09E-2C89-0F1C-6E37-7ECC43B9168D}"/>
              </a:ext>
            </a:extLst>
          </p:cNvPr>
          <p:cNvSpPr/>
          <p:nvPr/>
        </p:nvSpPr>
        <p:spPr>
          <a:xfrm>
            <a:off x="548640" y="6446520"/>
            <a:ext cx="11094415" cy="0"/>
          </a:xfrm>
          <a:prstGeom prst="line">
            <a:avLst/>
          </a:prstGeom>
          <a:noFill/>
          <a:ln w="9525">
            <a:solidFill>
              <a:srgbClr val="E5E7EB"/>
            </a:solidFill>
            <a:prstDash val="solid"/>
          </a:ln>
        </p:spPr>
      </p:sp>
      <p:sp>
        <p:nvSpPr>
          <p:cNvPr id="11" name="Text 8">
            <a:extLst>
              <a:ext uri="{FF2B5EF4-FFF2-40B4-BE49-F238E27FC236}">
                <a16:creationId xmlns:a16="http://schemas.microsoft.com/office/drawing/2014/main" id="{CB5DCFAB-C7C4-8207-684A-1DBBFE72C118}"/>
              </a:ext>
            </a:extLst>
          </p:cNvPr>
          <p:cNvSpPr/>
          <p:nvPr/>
        </p:nvSpPr>
        <p:spPr>
          <a:xfrm>
            <a:off x="11277295" y="6492240"/>
            <a:ext cx="73152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 / 15</a:t>
            </a:r>
            <a:endParaRPr lang="en-US" sz="1000" dirty="0"/>
          </a:p>
        </p:txBody>
      </p:sp>
    </p:spTree>
    <p:extLst>
      <p:ext uri="{BB962C8B-B14F-4D97-AF65-F5344CB8AC3E}">
        <p14:creationId xmlns:p14="http://schemas.microsoft.com/office/powerpoint/2010/main" val="4085850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C5F50-B3C5-661D-1A8D-2BC9BBAA849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26DC9A1-6F0F-F106-03CD-A360250AA47D}"/>
              </a:ext>
            </a:extLst>
          </p:cNvPr>
          <p:cNvSpPr/>
          <p:nvPr/>
        </p:nvSpPr>
        <p:spPr>
          <a:xfrm>
            <a:off x="548640" y="137160"/>
            <a:ext cx="10972800" cy="292608"/>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RESULTS · K = 10 TIMESERIESSPLIT</a:t>
            </a:r>
            <a:endParaRPr lang="en-US" dirty="0"/>
          </a:p>
        </p:txBody>
      </p:sp>
      <p:sp>
        <p:nvSpPr>
          <p:cNvPr id="3" name="Text 1">
            <a:extLst>
              <a:ext uri="{FF2B5EF4-FFF2-40B4-BE49-F238E27FC236}">
                <a16:creationId xmlns:a16="http://schemas.microsoft.com/office/drawing/2014/main" id="{15E42616-517C-334C-33A8-A54C3E15D7A3}"/>
              </a:ext>
            </a:extLst>
          </p:cNvPr>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A1F2E"/>
                </a:solidFill>
                <a:latin typeface="Georgia" pitchFamily="34" charset="0"/>
                <a:ea typeface="Georgia" pitchFamily="34" charset="-122"/>
                <a:cs typeface="Georgia" pitchFamily="34" charset="-120"/>
              </a:rPr>
              <a:t>K-fold cross-validation — per-fold MAPE</a:t>
            </a:r>
            <a:endParaRPr lang="en-US" sz="3000" dirty="0"/>
          </a:p>
        </p:txBody>
      </p:sp>
      <p:pic>
        <p:nvPicPr>
          <p:cNvPr id="4" name="Image 0" descr="/home/claude/deck/kfold_mape_ORCL.png">
            <a:extLst>
              <a:ext uri="{FF2B5EF4-FFF2-40B4-BE49-F238E27FC236}">
                <a16:creationId xmlns:a16="http://schemas.microsoft.com/office/drawing/2014/main" id="{50666039-F5CD-CB99-E10D-D5D58FF395B9}"/>
              </a:ext>
            </a:extLst>
          </p:cNvPr>
          <p:cNvPicPr>
            <a:picLocks noChangeAspect="1"/>
          </p:cNvPicPr>
          <p:nvPr/>
        </p:nvPicPr>
        <p:blipFill>
          <a:blip r:embed="rId3"/>
          <a:stretch>
            <a:fillRect/>
          </a:stretch>
        </p:blipFill>
        <p:spPr>
          <a:xfrm>
            <a:off x="548640" y="1554480"/>
            <a:ext cx="7863840" cy="2194560"/>
          </a:xfrm>
          <a:prstGeom prst="rect">
            <a:avLst/>
          </a:prstGeom>
        </p:spPr>
      </p:pic>
      <p:sp>
        <p:nvSpPr>
          <p:cNvPr id="5" name="Text 2">
            <a:extLst>
              <a:ext uri="{FF2B5EF4-FFF2-40B4-BE49-F238E27FC236}">
                <a16:creationId xmlns:a16="http://schemas.microsoft.com/office/drawing/2014/main" id="{7E076082-69B9-A27B-F18A-F4A548CBE685}"/>
              </a:ext>
            </a:extLst>
          </p:cNvPr>
          <p:cNvSpPr/>
          <p:nvPr/>
        </p:nvSpPr>
        <p:spPr>
          <a:xfrm>
            <a:off x="548640" y="3776472"/>
            <a:ext cx="7863840" cy="27432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Fig. 1.  ORCL — K-fold MAPE by fold across seeds 42 / 99 / 123 (W = 10).  X-axis: fold index (F1–F10).  Y-axis: MAPE (%).</a:t>
            </a:r>
            <a:endParaRPr lang="en-US" sz="1000" dirty="0"/>
          </a:p>
        </p:txBody>
      </p:sp>
      <p:pic>
        <p:nvPicPr>
          <p:cNvPr id="6" name="Image 1" descr="/home/claude/deck/kfold_mape_PEP.png">
            <a:extLst>
              <a:ext uri="{FF2B5EF4-FFF2-40B4-BE49-F238E27FC236}">
                <a16:creationId xmlns:a16="http://schemas.microsoft.com/office/drawing/2014/main" id="{D46A5B71-3AA7-243B-5D14-016280011A0F}"/>
              </a:ext>
            </a:extLst>
          </p:cNvPr>
          <p:cNvPicPr>
            <a:picLocks noChangeAspect="1"/>
          </p:cNvPicPr>
          <p:nvPr/>
        </p:nvPicPr>
        <p:blipFill>
          <a:blip r:embed="rId4"/>
          <a:stretch>
            <a:fillRect/>
          </a:stretch>
        </p:blipFill>
        <p:spPr>
          <a:xfrm>
            <a:off x="548640" y="4114800"/>
            <a:ext cx="7863840" cy="1828800"/>
          </a:xfrm>
          <a:prstGeom prst="rect">
            <a:avLst/>
          </a:prstGeom>
        </p:spPr>
      </p:pic>
      <p:sp>
        <p:nvSpPr>
          <p:cNvPr id="7" name="Text 3">
            <a:extLst>
              <a:ext uri="{FF2B5EF4-FFF2-40B4-BE49-F238E27FC236}">
                <a16:creationId xmlns:a16="http://schemas.microsoft.com/office/drawing/2014/main" id="{56B8C1D6-F8CF-994E-41EE-8F57E50DD531}"/>
              </a:ext>
            </a:extLst>
          </p:cNvPr>
          <p:cNvSpPr/>
          <p:nvPr/>
        </p:nvSpPr>
        <p:spPr>
          <a:xfrm>
            <a:off x="548640" y="5989320"/>
            <a:ext cx="7863840" cy="27432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Fig. 2.  PEP — K-fold MAPE by fold across seeds (W = 10).  Same axes.</a:t>
            </a:r>
            <a:endParaRPr lang="en-US" sz="1000" dirty="0"/>
          </a:p>
        </p:txBody>
      </p:sp>
      <p:sp>
        <p:nvSpPr>
          <p:cNvPr id="8" name="Shape 4">
            <a:extLst>
              <a:ext uri="{FF2B5EF4-FFF2-40B4-BE49-F238E27FC236}">
                <a16:creationId xmlns:a16="http://schemas.microsoft.com/office/drawing/2014/main" id="{D195D5C1-41DA-FC20-5BFB-42A64EC80A65}"/>
              </a:ext>
            </a:extLst>
          </p:cNvPr>
          <p:cNvSpPr/>
          <p:nvPr/>
        </p:nvSpPr>
        <p:spPr>
          <a:xfrm>
            <a:off x="8595360" y="1600200"/>
            <a:ext cx="3017520" cy="4572000"/>
          </a:xfrm>
          <a:prstGeom prst="rect">
            <a:avLst/>
          </a:prstGeom>
          <a:solidFill>
            <a:srgbClr val="F7F8FA"/>
          </a:solidFill>
          <a:ln w="9525">
            <a:solidFill>
              <a:srgbClr val="E5E7EB"/>
            </a:solidFill>
            <a:prstDash val="solid"/>
          </a:ln>
        </p:spPr>
      </p:sp>
      <p:sp>
        <p:nvSpPr>
          <p:cNvPr id="9" name="Text 5">
            <a:extLst>
              <a:ext uri="{FF2B5EF4-FFF2-40B4-BE49-F238E27FC236}">
                <a16:creationId xmlns:a16="http://schemas.microsoft.com/office/drawing/2014/main" id="{8930E38E-07CA-7A05-4BAE-BAAC65843E3C}"/>
              </a:ext>
            </a:extLst>
          </p:cNvPr>
          <p:cNvSpPr/>
          <p:nvPr/>
        </p:nvSpPr>
        <p:spPr>
          <a:xfrm>
            <a:off x="8732520" y="1737360"/>
            <a:ext cx="2743200" cy="274320"/>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READ THE GAP</a:t>
            </a:r>
            <a:endParaRPr lang="en-US" dirty="0"/>
          </a:p>
        </p:txBody>
      </p:sp>
      <p:sp>
        <p:nvSpPr>
          <p:cNvPr id="10" name="Text 6">
            <a:extLst>
              <a:ext uri="{FF2B5EF4-FFF2-40B4-BE49-F238E27FC236}">
                <a16:creationId xmlns:a16="http://schemas.microsoft.com/office/drawing/2014/main" id="{9E9DD587-1B81-579C-FC61-02ADA83242EB}"/>
              </a:ext>
            </a:extLst>
          </p:cNvPr>
          <p:cNvSpPr/>
          <p:nvPr/>
        </p:nvSpPr>
        <p:spPr>
          <a:xfrm>
            <a:off x="8732520" y="2057400"/>
            <a:ext cx="2743200" cy="169164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In every fold, Naive (navy) and Linear Regression (teal) sit flat near the floor. LSTM (orange) spikes forever and the spikes move around between seeds.</a:t>
            </a:r>
            <a:endParaRPr lang="en-US" dirty="0"/>
          </a:p>
        </p:txBody>
      </p:sp>
      <p:sp>
        <p:nvSpPr>
          <p:cNvPr id="11" name="Shape 7">
            <a:extLst>
              <a:ext uri="{FF2B5EF4-FFF2-40B4-BE49-F238E27FC236}">
                <a16:creationId xmlns:a16="http://schemas.microsoft.com/office/drawing/2014/main" id="{099CC2F1-F864-DB61-37AA-4C5B39953B1E}"/>
              </a:ext>
            </a:extLst>
          </p:cNvPr>
          <p:cNvSpPr/>
          <p:nvPr/>
        </p:nvSpPr>
        <p:spPr>
          <a:xfrm>
            <a:off x="8732520" y="3794760"/>
            <a:ext cx="1371600" cy="0"/>
          </a:xfrm>
          <a:prstGeom prst="line">
            <a:avLst/>
          </a:prstGeom>
          <a:noFill/>
          <a:ln w="12700">
            <a:solidFill>
              <a:srgbClr val="E5E7EB"/>
            </a:solidFill>
            <a:prstDash val="solid"/>
          </a:ln>
        </p:spPr>
      </p:sp>
      <p:sp>
        <p:nvSpPr>
          <p:cNvPr id="12" name="Text 8">
            <a:extLst>
              <a:ext uri="{FF2B5EF4-FFF2-40B4-BE49-F238E27FC236}">
                <a16:creationId xmlns:a16="http://schemas.microsoft.com/office/drawing/2014/main" id="{A3EF005B-5228-EF26-48FE-4C179189BD35}"/>
              </a:ext>
            </a:extLst>
          </p:cNvPr>
          <p:cNvSpPr/>
          <p:nvPr/>
        </p:nvSpPr>
        <p:spPr>
          <a:xfrm>
            <a:off x="8732520" y="3931920"/>
            <a:ext cx="2743200" cy="2194560"/>
          </a:xfrm>
          <a:prstGeom prst="rect">
            <a:avLst/>
          </a:prstGeom>
          <a:noFill/>
          <a:ln/>
        </p:spPr>
        <p:txBody>
          <a:bodyPr wrap="square" lIns="0" tIns="0" rIns="0" bIns="0" rtlCol="0" anchor="ctr"/>
          <a:lstStyle/>
          <a:p>
            <a:pPr marL="0" indent="0">
              <a:spcAft>
                <a:spcPts val="600"/>
              </a:spcAft>
              <a:buNone/>
            </a:pPr>
            <a:r>
              <a:rPr lang="en-US" b="1" dirty="0">
                <a:solidFill>
                  <a:srgbClr val="1A1F2E"/>
                </a:solidFill>
                <a:latin typeface="Consolas" pitchFamily="34" charset="0"/>
                <a:ea typeface="Consolas" pitchFamily="34" charset="-122"/>
                <a:cs typeface="Consolas" pitchFamily="34" charset="-120"/>
              </a:rPr>
              <a:t>Mean MAPE (across seeds)</a:t>
            </a:r>
            <a:endParaRPr lang="en-US" dirty="0"/>
          </a:p>
          <a:p>
            <a:pPr marL="0" indent="0">
              <a:buNone/>
            </a:pPr>
            <a:r>
              <a:rPr lang="en-US" dirty="0">
                <a:solidFill>
                  <a:srgbClr val="6B7280"/>
                </a:solidFill>
                <a:latin typeface="Consolas" pitchFamily="34" charset="0"/>
                <a:ea typeface="Consolas" pitchFamily="34" charset="-122"/>
                <a:cs typeface="Consolas" pitchFamily="34" charset="-120"/>
              </a:rPr>
              <a:t>ORCL  </a:t>
            </a:r>
            <a:r>
              <a:rPr lang="en-US" b="1" dirty="0">
                <a:solidFill>
                  <a:srgbClr val="C2410C"/>
                </a:solidFill>
                <a:latin typeface="Consolas" pitchFamily="34" charset="0"/>
                <a:ea typeface="Consolas" pitchFamily="34" charset="-122"/>
                <a:cs typeface="Consolas" pitchFamily="34" charset="-120"/>
              </a:rPr>
              <a:t>3.21%</a:t>
            </a:r>
            <a:endParaRPr lang="en-US" dirty="0"/>
          </a:p>
          <a:p>
            <a:pPr marL="0" indent="0">
              <a:buNone/>
            </a:pPr>
            <a:r>
              <a:rPr lang="en-US" dirty="0">
                <a:solidFill>
                  <a:srgbClr val="6B7280"/>
                </a:solidFill>
                <a:latin typeface="Consolas" pitchFamily="34" charset="0"/>
                <a:ea typeface="Consolas" pitchFamily="34" charset="-122"/>
                <a:cs typeface="Consolas" pitchFamily="34" charset="-120"/>
              </a:rPr>
              <a:t>MRK   </a:t>
            </a:r>
            <a:r>
              <a:rPr lang="en-US" b="1" dirty="0">
                <a:solidFill>
                  <a:srgbClr val="C2410C"/>
                </a:solidFill>
                <a:latin typeface="Consolas" pitchFamily="34" charset="0"/>
                <a:ea typeface="Consolas" pitchFamily="34" charset="-122"/>
                <a:cs typeface="Consolas" pitchFamily="34" charset="-120"/>
              </a:rPr>
              <a:t>3.25%</a:t>
            </a:r>
            <a:endParaRPr lang="en-US" dirty="0"/>
          </a:p>
          <a:p>
            <a:pPr marL="0" indent="0">
              <a:buNone/>
            </a:pPr>
            <a:r>
              <a:rPr lang="en-US" dirty="0">
                <a:solidFill>
                  <a:srgbClr val="6B7280"/>
                </a:solidFill>
                <a:latin typeface="Consolas" pitchFamily="34" charset="0"/>
                <a:ea typeface="Consolas" pitchFamily="34" charset="-122"/>
                <a:cs typeface="Consolas" pitchFamily="34" charset="-120"/>
              </a:rPr>
              <a:t>PEP   </a:t>
            </a:r>
            <a:r>
              <a:rPr lang="en-US" b="1" dirty="0">
                <a:solidFill>
                  <a:srgbClr val="C2410C"/>
                </a:solidFill>
                <a:latin typeface="Consolas" pitchFamily="34" charset="0"/>
                <a:ea typeface="Consolas" pitchFamily="34" charset="-122"/>
                <a:cs typeface="Consolas" pitchFamily="34" charset="-120"/>
              </a:rPr>
              <a:t>3.19%</a:t>
            </a:r>
            <a:endParaRPr lang="en-US" dirty="0"/>
          </a:p>
          <a:p>
            <a:pPr marL="0" indent="0">
              <a:buNone/>
            </a:pPr>
            <a:r>
              <a:rPr lang="en-US" dirty="0">
                <a:solidFill>
                  <a:srgbClr val="000000"/>
                </a:solidFill>
                <a:latin typeface="Consolas" pitchFamily="34" charset="0"/>
                <a:ea typeface="Consolas" pitchFamily="34" charset="-122"/>
                <a:cs typeface="Consolas" pitchFamily="34" charset="-120"/>
              </a:rPr>
              <a:t> </a:t>
            </a:r>
            <a:endParaRPr lang="en-US" dirty="0"/>
          </a:p>
          <a:p>
            <a:pPr marL="0" indent="0">
              <a:buNone/>
            </a:pPr>
            <a:r>
              <a:rPr lang="en-US" i="1" dirty="0">
                <a:solidFill>
                  <a:srgbClr val="6B7280"/>
                </a:solidFill>
                <a:latin typeface="Consolas" pitchFamily="34" charset="0"/>
                <a:ea typeface="Consolas" pitchFamily="34" charset="-122"/>
                <a:cs typeface="Consolas" pitchFamily="34" charset="-120"/>
              </a:rPr>
              <a:t>vs. Naive: 0.74%–1.12%</a:t>
            </a:r>
            <a:endParaRPr lang="en-US" dirty="0"/>
          </a:p>
        </p:txBody>
      </p:sp>
      <p:sp>
        <p:nvSpPr>
          <p:cNvPr id="13" name="Shape 9">
            <a:extLst>
              <a:ext uri="{FF2B5EF4-FFF2-40B4-BE49-F238E27FC236}">
                <a16:creationId xmlns:a16="http://schemas.microsoft.com/office/drawing/2014/main" id="{A3D0F828-FE13-CD18-3E27-9002500EF71A}"/>
              </a:ext>
            </a:extLst>
          </p:cNvPr>
          <p:cNvSpPr/>
          <p:nvPr/>
        </p:nvSpPr>
        <p:spPr>
          <a:xfrm>
            <a:off x="548640" y="6446520"/>
            <a:ext cx="11094415" cy="0"/>
          </a:xfrm>
          <a:prstGeom prst="line">
            <a:avLst/>
          </a:prstGeom>
          <a:noFill/>
          <a:ln w="9525">
            <a:solidFill>
              <a:srgbClr val="E5E7EB"/>
            </a:solidFill>
            <a:prstDash val="solid"/>
          </a:ln>
        </p:spPr>
      </p:sp>
      <p:sp>
        <p:nvSpPr>
          <p:cNvPr id="14" name="Text 10">
            <a:extLst>
              <a:ext uri="{FF2B5EF4-FFF2-40B4-BE49-F238E27FC236}">
                <a16:creationId xmlns:a16="http://schemas.microsoft.com/office/drawing/2014/main" id="{0F1E6A70-2A7B-8BC4-4726-B6BF3E87BA85}"/>
              </a:ext>
            </a:extLst>
          </p:cNvPr>
          <p:cNvSpPr/>
          <p:nvPr/>
        </p:nvSpPr>
        <p:spPr>
          <a:xfrm>
            <a:off x="11277295" y="6492240"/>
            <a:ext cx="73152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8 / 15</a:t>
            </a:r>
            <a:endParaRPr lang="en-US" sz="1000" dirty="0"/>
          </a:p>
        </p:txBody>
      </p:sp>
    </p:spTree>
    <p:extLst>
      <p:ext uri="{BB962C8B-B14F-4D97-AF65-F5344CB8AC3E}">
        <p14:creationId xmlns:p14="http://schemas.microsoft.com/office/powerpoint/2010/main" val="3331418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8B8F7-E8B2-9A86-0B04-7729328FFF3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6A10213-E97C-4C52-901B-35B9BE715933}"/>
              </a:ext>
            </a:extLst>
          </p:cNvPr>
          <p:cNvSpPr/>
          <p:nvPr/>
        </p:nvSpPr>
        <p:spPr>
          <a:xfrm>
            <a:off x="548640" y="91440"/>
            <a:ext cx="10972800" cy="292608"/>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RESULTS · SEED SENSITIVITY</a:t>
            </a:r>
            <a:endParaRPr lang="en-US" dirty="0"/>
          </a:p>
        </p:txBody>
      </p:sp>
      <p:sp>
        <p:nvSpPr>
          <p:cNvPr id="3" name="Text 1">
            <a:extLst>
              <a:ext uri="{FF2B5EF4-FFF2-40B4-BE49-F238E27FC236}">
                <a16:creationId xmlns:a16="http://schemas.microsoft.com/office/drawing/2014/main" id="{DB53A5F4-E907-6531-A288-1A9C13E02B3B}"/>
              </a:ext>
            </a:extLst>
          </p:cNvPr>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A1F2E"/>
                </a:solidFill>
                <a:latin typeface="Georgia" pitchFamily="34" charset="0"/>
                <a:ea typeface="Georgia" pitchFamily="34" charset="-122"/>
                <a:cs typeface="Georgia" pitchFamily="34" charset="-120"/>
              </a:rPr>
              <a:t>Cross-seed stability: only the LSTM wobbles</a:t>
            </a:r>
            <a:endParaRPr lang="en-US" sz="3000" dirty="0"/>
          </a:p>
        </p:txBody>
      </p:sp>
      <p:pic>
        <p:nvPicPr>
          <p:cNvPr id="4" name="Image 0" descr="/home/claude/deck/kfold_summary_combined.png">
            <a:extLst>
              <a:ext uri="{FF2B5EF4-FFF2-40B4-BE49-F238E27FC236}">
                <a16:creationId xmlns:a16="http://schemas.microsoft.com/office/drawing/2014/main" id="{0138C42C-CD35-9DDD-75BF-465F27389108}"/>
              </a:ext>
            </a:extLst>
          </p:cNvPr>
          <p:cNvPicPr>
            <a:picLocks noChangeAspect="1"/>
          </p:cNvPicPr>
          <p:nvPr/>
        </p:nvPicPr>
        <p:blipFill>
          <a:blip r:embed="rId3"/>
          <a:stretch>
            <a:fillRect/>
          </a:stretch>
        </p:blipFill>
        <p:spPr>
          <a:xfrm>
            <a:off x="548640" y="1600200"/>
            <a:ext cx="7680960" cy="2377440"/>
          </a:xfrm>
          <a:prstGeom prst="rect">
            <a:avLst/>
          </a:prstGeom>
        </p:spPr>
      </p:pic>
      <p:sp>
        <p:nvSpPr>
          <p:cNvPr id="5" name="Text 2">
            <a:extLst>
              <a:ext uri="{FF2B5EF4-FFF2-40B4-BE49-F238E27FC236}">
                <a16:creationId xmlns:a16="http://schemas.microsoft.com/office/drawing/2014/main" id="{C33E777E-90E0-A464-F225-DE35A61F045C}"/>
              </a:ext>
            </a:extLst>
          </p:cNvPr>
          <p:cNvSpPr/>
          <p:nvPr/>
        </p:nvSpPr>
        <p:spPr>
          <a:xfrm>
            <a:off x="548640" y="4005072"/>
            <a:ext cx="7680960" cy="36576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Fig. 3.  Mean MAPE across seeds — k = 10 fold, window = 10.  Bars: per-seed mean MAPE for each model.  Y-axis: Mean MAPE (%).  X-axis: seed (42, 99, 123).</a:t>
            </a:r>
            <a:endParaRPr lang="en-US" sz="1000" dirty="0"/>
          </a:p>
        </p:txBody>
      </p:sp>
      <p:sp>
        <p:nvSpPr>
          <p:cNvPr id="6" name="Text 3">
            <a:extLst>
              <a:ext uri="{FF2B5EF4-FFF2-40B4-BE49-F238E27FC236}">
                <a16:creationId xmlns:a16="http://schemas.microsoft.com/office/drawing/2014/main" id="{BABBCBC1-F6F1-D9D4-2471-7891ED7A8C3E}"/>
              </a:ext>
            </a:extLst>
          </p:cNvPr>
          <p:cNvSpPr/>
          <p:nvPr/>
        </p:nvSpPr>
        <p:spPr>
          <a:xfrm>
            <a:off x="548640" y="4572000"/>
            <a:ext cx="7680960" cy="320040"/>
          </a:xfrm>
          <a:prstGeom prst="rect">
            <a:avLst/>
          </a:prstGeom>
          <a:noFill/>
          <a:ln/>
        </p:spPr>
        <p:txBody>
          <a:bodyPr wrap="square" lIns="0" tIns="0" rIns="0" bIns="0" rtlCol="0" anchor="ctr"/>
          <a:lstStyle/>
          <a:p>
            <a:pPr marL="0" indent="0">
              <a:buNone/>
            </a:pPr>
            <a:r>
              <a:rPr lang="en-US" b="1" dirty="0">
                <a:solidFill>
                  <a:srgbClr val="1A1F2E"/>
                </a:solidFill>
                <a:latin typeface="Calibri" pitchFamily="34" charset="0"/>
                <a:ea typeface="Calibri" pitchFamily="34" charset="-122"/>
                <a:cs typeface="Calibri" pitchFamily="34" charset="-120"/>
              </a:rPr>
              <a:t>Cross-seed standard deviation of mean MAPE (%)</a:t>
            </a:r>
            <a:endParaRPr lang="en-US" dirty="0"/>
          </a:p>
        </p:txBody>
      </p:sp>
      <p:graphicFrame>
        <p:nvGraphicFramePr>
          <p:cNvPr id="7" name="Table 0">
            <a:extLst>
              <a:ext uri="{FF2B5EF4-FFF2-40B4-BE49-F238E27FC236}">
                <a16:creationId xmlns:a16="http://schemas.microsoft.com/office/drawing/2014/main" id="{10506538-E804-6E71-69E1-3D3A3517370C}"/>
              </a:ext>
            </a:extLst>
          </p:cNvPr>
          <p:cNvGraphicFramePr>
            <a:graphicFrameLocks noGrp="1"/>
          </p:cNvGraphicFramePr>
          <p:nvPr>
            <p:extLst>
              <p:ext uri="{D42A27DB-BD31-4B8C-83A1-F6EECF244321}">
                <p14:modId xmlns:p14="http://schemas.microsoft.com/office/powerpoint/2010/main" val="2401650094"/>
              </p:ext>
            </p:extLst>
          </p:nvPr>
        </p:nvGraphicFramePr>
        <p:xfrm>
          <a:off x="548640" y="4937760"/>
          <a:ext cx="7680960" cy="1463040"/>
        </p:xfrm>
        <a:graphic>
          <a:graphicData uri="http://schemas.openxmlformats.org/drawingml/2006/table">
            <a:tbl>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47472">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Model</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F2E"/>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ORCL σ</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F2E"/>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MRK σ</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F2E"/>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PEP σ</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F2E"/>
                    </a:solidFill>
                  </a:tcPr>
                </a:tc>
                <a:extLst>
                  <a:ext uri="{0D108BD9-81ED-4DB2-BD59-A6C34878D82A}">
                    <a16:rowId xmlns:a16="http://schemas.microsoft.com/office/drawing/2014/main" val="10000"/>
                  </a:ext>
                </a:extLst>
              </a:tr>
              <a:tr h="347472">
                <a:tc>
                  <a:txBody>
                    <a:bodyPr/>
                    <a:lstStyle/>
                    <a:p>
                      <a:pPr marL="0" indent="0">
                        <a:buNone/>
                      </a:pPr>
                      <a:r>
                        <a:rPr lang="en-US" sz="1800" dirty="0">
                          <a:solidFill>
                            <a:srgbClr val="1E2A4A"/>
                          </a:solidFill>
                          <a:latin typeface="Calibri" pitchFamily="34" charset="0"/>
                          <a:ea typeface="Calibri" pitchFamily="34" charset="-122"/>
                          <a:cs typeface="Calibri" pitchFamily="34" charset="-120"/>
                        </a:rPr>
                        <a:t>Naive Baseline</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0.00</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0.00</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0.00</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800" dirty="0">
                          <a:solidFill>
                            <a:srgbClr val="0F766E"/>
                          </a:solidFill>
                          <a:latin typeface="Calibri" pitchFamily="34" charset="0"/>
                          <a:ea typeface="Calibri" pitchFamily="34" charset="-122"/>
                          <a:cs typeface="Calibri" pitchFamily="34" charset="-120"/>
                        </a:rPr>
                        <a:t>Linear Regression</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0.00</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0.00</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0.00</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800" b="1" dirty="0">
                          <a:solidFill>
                            <a:srgbClr val="C2410C"/>
                          </a:solidFill>
                          <a:latin typeface="Calibri" pitchFamily="34" charset="0"/>
                          <a:ea typeface="Calibri" pitchFamily="34" charset="-122"/>
                          <a:cs typeface="Calibri" pitchFamily="34" charset="-120"/>
                        </a:rPr>
                        <a:t>LSTM</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C2410C"/>
                          </a:solidFill>
                          <a:latin typeface="Calibri" pitchFamily="34" charset="0"/>
                          <a:ea typeface="Calibri" pitchFamily="34" charset="-122"/>
                          <a:cs typeface="Calibri" pitchFamily="34" charset="-120"/>
                        </a:rPr>
                        <a:t>0.69</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C2410C"/>
                          </a:solidFill>
                          <a:latin typeface="Calibri" pitchFamily="34" charset="0"/>
                          <a:ea typeface="Calibri" pitchFamily="34" charset="-122"/>
                          <a:cs typeface="Calibri" pitchFamily="34" charset="-120"/>
                        </a:rPr>
                        <a:t>0.30</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C2410C"/>
                          </a:solidFill>
                          <a:latin typeface="Calibri" pitchFamily="34" charset="0"/>
                          <a:ea typeface="Calibri" pitchFamily="34" charset="-122"/>
                          <a:cs typeface="Calibri" pitchFamily="34" charset="-120"/>
                        </a:rPr>
                        <a:t>0.95</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Shape 4">
            <a:extLst>
              <a:ext uri="{FF2B5EF4-FFF2-40B4-BE49-F238E27FC236}">
                <a16:creationId xmlns:a16="http://schemas.microsoft.com/office/drawing/2014/main" id="{DBB3726E-6F68-B501-A9CB-35273A7F9126}"/>
              </a:ext>
            </a:extLst>
          </p:cNvPr>
          <p:cNvSpPr/>
          <p:nvPr/>
        </p:nvSpPr>
        <p:spPr>
          <a:xfrm>
            <a:off x="8412480" y="1600200"/>
            <a:ext cx="3200400" cy="4572000"/>
          </a:xfrm>
          <a:prstGeom prst="rect">
            <a:avLst/>
          </a:prstGeom>
          <a:solidFill>
            <a:srgbClr val="F7F8FA"/>
          </a:solidFill>
          <a:ln w="9525">
            <a:solidFill>
              <a:srgbClr val="E5E7EB"/>
            </a:solidFill>
            <a:prstDash val="solid"/>
          </a:ln>
        </p:spPr>
      </p:sp>
      <p:sp>
        <p:nvSpPr>
          <p:cNvPr id="9" name="Text 5">
            <a:extLst>
              <a:ext uri="{FF2B5EF4-FFF2-40B4-BE49-F238E27FC236}">
                <a16:creationId xmlns:a16="http://schemas.microsoft.com/office/drawing/2014/main" id="{EAEF785A-BFB3-F354-B0E7-A195B63CE083}"/>
              </a:ext>
            </a:extLst>
          </p:cNvPr>
          <p:cNvSpPr/>
          <p:nvPr/>
        </p:nvSpPr>
        <p:spPr>
          <a:xfrm>
            <a:off x="8595360" y="1737360"/>
            <a:ext cx="2926080" cy="274320"/>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THE TAKEAWAY</a:t>
            </a:r>
            <a:endParaRPr lang="en-US" dirty="0"/>
          </a:p>
        </p:txBody>
      </p:sp>
      <p:sp>
        <p:nvSpPr>
          <p:cNvPr id="10" name="Text 6">
            <a:extLst>
              <a:ext uri="{FF2B5EF4-FFF2-40B4-BE49-F238E27FC236}">
                <a16:creationId xmlns:a16="http://schemas.microsoft.com/office/drawing/2014/main" id="{656D4956-5C0F-EB98-4204-6D3E128A9A75}"/>
              </a:ext>
            </a:extLst>
          </p:cNvPr>
          <p:cNvSpPr/>
          <p:nvPr/>
        </p:nvSpPr>
        <p:spPr>
          <a:xfrm>
            <a:off x="8595360" y="2057400"/>
            <a:ext cx="2926080" cy="4023360"/>
          </a:xfrm>
          <a:prstGeom prst="rect">
            <a:avLst/>
          </a:prstGeom>
          <a:noFill/>
          <a:ln/>
        </p:spPr>
        <p:txBody>
          <a:bodyPr wrap="square" lIns="0" tIns="0" rIns="0" bIns="0" rtlCol="0" anchor="ctr"/>
          <a:lstStyle/>
          <a:p>
            <a:pPr marL="0" indent="0">
              <a:buNone/>
            </a:pPr>
            <a:r>
              <a:rPr lang="en-US" b="1" dirty="0">
                <a:solidFill>
                  <a:srgbClr val="1A1F2E"/>
                </a:solidFill>
                <a:latin typeface="Calibri" pitchFamily="34" charset="0"/>
                <a:ea typeface="Calibri" pitchFamily="34" charset="-122"/>
                <a:cs typeface="Calibri" pitchFamily="34" charset="-120"/>
              </a:rPr>
              <a:t>Naive &amp; Linear are deterministic.</a:t>
            </a:r>
            <a:endParaRPr lang="en-US" dirty="0"/>
          </a:p>
          <a:p>
            <a:pPr marL="0" indent="0">
              <a:spcAft>
                <a:spcPts val="1000"/>
              </a:spcAft>
              <a:buNone/>
            </a:pPr>
            <a:r>
              <a:rPr lang="en-US" dirty="0">
                <a:solidFill>
                  <a:srgbClr val="2D3343"/>
                </a:solidFill>
                <a:latin typeface="Calibri" pitchFamily="34" charset="0"/>
                <a:ea typeface="Calibri" pitchFamily="34" charset="-122"/>
                <a:cs typeface="Calibri" pitchFamily="34" charset="-120"/>
              </a:rPr>
              <a:t>Identical across seeds — σ = 0.</a:t>
            </a:r>
            <a:endParaRPr lang="en-US" dirty="0"/>
          </a:p>
          <a:p>
            <a:pPr marL="0" indent="0">
              <a:buNone/>
            </a:pPr>
            <a:r>
              <a:rPr lang="en-US" b="1" dirty="0">
                <a:solidFill>
                  <a:srgbClr val="C2410C"/>
                </a:solidFill>
                <a:latin typeface="Calibri" pitchFamily="34" charset="0"/>
                <a:ea typeface="Calibri" pitchFamily="34" charset="-122"/>
                <a:cs typeface="Calibri" pitchFamily="34" charset="-120"/>
              </a:rPr>
              <a:t>LSTM swings.</a:t>
            </a:r>
            <a:endParaRPr lang="en-US" dirty="0"/>
          </a:p>
          <a:p>
            <a:pPr marL="0" indent="0">
              <a:spcAft>
                <a:spcPts val="1000"/>
              </a:spcAft>
              <a:buNone/>
            </a:pPr>
            <a:r>
              <a:rPr lang="en-US" dirty="0">
                <a:solidFill>
                  <a:srgbClr val="2D3343"/>
                </a:solidFill>
                <a:latin typeface="Calibri" pitchFamily="34" charset="0"/>
                <a:ea typeface="Calibri" pitchFamily="34" charset="-122"/>
                <a:cs typeface="Calibri" pitchFamily="34" charset="-120"/>
              </a:rPr>
              <a:t>PEP σ = 0.95% — large relative to a 0.74% baseline.</a:t>
            </a:r>
            <a:endParaRPr lang="en-US" dirty="0"/>
          </a:p>
          <a:p>
            <a:pPr marL="0" indent="0">
              <a:buNone/>
            </a:pPr>
            <a:r>
              <a:rPr lang="en-US" i="1" dirty="0">
                <a:solidFill>
                  <a:srgbClr val="1A1F2E"/>
                </a:solidFill>
                <a:latin typeface="Calibri" pitchFamily="34" charset="0"/>
                <a:ea typeface="Calibri" pitchFamily="34" charset="-122"/>
                <a:cs typeface="Calibri" pitchFamily="34" charset="-120"/>
              </a:rPr>
              <a:t>Seed 42 was the worst case</a:t>
            </a:r>
            <a:endParaRPr lang="en-US" dirty="0"/>
          </a:p>
          <a:p>
            <a:pPr marL="0" indent="0">
              <a:buNone/>
            </a:pPr>
            <a:r>
              <a:rPr lang="en-US" dirty="0">
                <a:solidFill>
                  <a:srgbClr val="2D3343"/>
                </a:solidFill>
                <a:latin typeface="Calibri" pitchFamily="34" charset="0"/>
                <a:ea typeface="Calibri" pitchFamily="34" charset="-122"/>
                <a:cs typeface="Calibri" pitchFamily="34" charset="-120"/>
              </a:rPr>
              <a:t>across all three stocks — single-seed evals would have been misleading.</a:t>
            </a:r>
            <a:endParaRPr lang="en-US" dirty="0"/>
          </a:p>
        </p:txBody>
      </p:sp>
      <p:sp>
        <p:nvSpPr>
          <p:cNvPr id="11" name="Shape 7">
            <a:extLst>
              <a:ext uri="{FF2B5EF4-FFF2-40B4-BE49-F238E27FC236}">
                <a16:creationId xmlns:a16="http://schemas.microsoft.com/office/drawing/2014/main" id="{2EAC982D-AC39-5326-8C57-234DD01C3625}"/>
              </a:ext>
            </a:extLst>
          </p:cNvPr>
          <p:cNvSpPr/>
          <p:nvPr/>
        </p:nvSpPr>
        <p:spPr>
          <a:xfrm>
            <a:off x="548640" y="6446520"/>
            <a:ext cx="11094415" cy="0"/>
          </a:xfrm>
          <a:prstGeom prst="line">
            <a:avLst/>
          </a:prstGeom>
          <a:noFill/>
          <a:ln w="9525">
            <a:solidFill>
              <a:srgbClr val="E5E7EB"/>
            </a:solidFill>
            <a:prstDash val="solid"/>
          </a:ln>
        </p:spPr>
      </p:sp>
      <p:sp>
        <p:nvSpPr>
          <p:cNvPr id="12" name="Text 8">
            <a:extLst>
              <a:ext uri="{FF2B5EF4-FFF2-40B4-BE49-F238E27FC236}">
                <a16:creationId xmlns:a16="http://schemas.microsoft.com/office/drawing/2014/main" id="{8877E2A5-6361-7469-80ED-449AD24FD35B}"/>
              </a:ext>
            </a:extLst>
          </p:cNvPr>
          <p:cNvSpPr/>
          <p:nvPr/>
        </p:nvSpPr>
        <p:spPr>
          <a:xfrm>
            <a:off x="11277295" y="6492240"/>
            <a:ext cx="73152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9 / 15</a:t>
            </a:r>
            <a:endParaRPr lang="en-US" sz="1000" dirty="0"/>
          </a:p>
        </p:txBody>
      </p:sp>
    </p:spTree>
    <p:extLst>
      <p:ext uri="{BB962C8B-B14F-4D97-AF65-F5344CB8AC3E}">
        <p14:creationId xmlns:p14="http://schemas.microsoft.com/office/powerpoint/2010/main" val="2161576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D2B3F-55C7-F181-B1C4-C39C11394AE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68D00CC-9000-4D75-1E9D-7E7676C7E146}"/>
              </a:ext>
            </a:extLst>
          </p:cNvPr>
          <p:cNvSpPr/>
          <p:nvPr/>
        </p:nvSpPr>
        <p:spPr>
          <a:xfrm>
            <a:off x="548640" y="134112"/>
            <a:ext cx="10972800" cy="292608"/>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STATISTICAL SIGNIFICANCE</a:t>
            </a:r>
            <a:endParaRPr lang="en-US" dirty="0"/>
          </a:p>
        </p:txBody>
      </p:sp>
      <p:sp>
        <p:nvSpPr>
          <p:cNvPr id="3" name="Text 1">
            <a:extLst>
              <a:ext uri="{FF2B5EF4-FFF2-40B4-BE49-F238E27FC236}">
                <a16:creationId xmlns:a16="http://schemas.microsoft.com/office/drawing/2014/main" id="{93A4584B-EEE8-5172-8DD4-1A0911C887CA}"/>
              </a:ext>
            </a:extLst>
          </p:cNvPr>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A1F2E"/>
                </a:solidFill>
                <a:latin typeface="Georgia" pitchFamily="34" charset="0"/>
                <a:ea typeface="Georgia" pitchFamily="34" charset="-122"/>
                <a:cs typeface="Georgia" pitchFamily="34" charset="-120"/>
              </a:rPr>
              <a:t>Hypothesis verdict — H0 cannot be rejected</a:t>
            </a:r>
            <a:endParaRPr lang="en-US" sz="3000" dirty="0"/>
          </a:p>
        </p:txBody>
      </p:sp>
      <p:sp>
        <p:nvSpPr>
          <p:cNvPr id="4" name="Shape 2">
            <a:extLst>
              <a:ext uri="{FF2B5EF4-FFF2-40B4-BE49-F238E27FC236}">
                <a16:creationId xmlns:a16="http://schemas.microsoft.com/office/drawing/2014/main" id="{4D4F04D5-E588-0918-3ACE-E4E80CBD8E1C}"/>
              </a:ext>
            </a:extLst>
          </p:cNvPr>
          <p:cNvSpPr/>
          <p:nvPr/>
        </p:nvSpPr>
        <p:spPr>
          <a:xfrm>
            <a:off x="548640" y="1691640"/>
            <a:ext cx="11064240" cy="960120"/>
          </a:xfrm>
          <a:prstGeom prst="rect">
            <a:avLst/>
          </a:prstGeom>
          <a:solidFill>
            <a:srgbClr val="991B1B"/>
          </a:solidFill>
          <a:ln w="12700">
            <a:solidFill>
              <a:srgbClr val="991B1B"/>
            </a:solidFill>
            <a:prstDash val="solid"/>
          </a:ln>
        </p:spPr>
      </p:sp>
      <p:sp>
        <p:nvSpPr>
          <p:cNvPr id="5" name="Text 3">
            <a:extLst>
              <a:ext uri="{FF2B5EF4-FFF2-40B4-BE49-F238E27FC236}">
                <a16:creationId xmlns:a16="http://schemas.microsoft.com/office/drawing/2014/main" id="{7D541136-C612-4DA1-3912-EFFC11EA8119}"/>
              </a:ext>
            </a:extLst>
          </p:cNvPr>
          <p:cNvSpPr/>
          <p:nvPr/>
        </p:nvSpPr>
        <p:spPr>
          <a:xfrm>
            <a:off x="777240" y="1783080"/>
            <a:ext cx="4572000" cy="320040"/>
          </a:xfrm>
          <a:prstGeom prst="rect">
            <a:avLst/>
          </a:prstGeom>
          <a:noFill/>
          <a:ln/>
        </p:spPr>
        <p:txBody>
          <a:bodyPr wrap="square" lIns="0" tIns="0" rIns="0" bIns="0" rtlCol="0" anchor="ctr"/>
          <a:lstStyle/>
          <a:p>
            <a:pPr marL="0" indent="0">
              <a:buNone/>
            </a:pPr>
            <a:r>
              <a:rPr lang="en-US" sz="1200" b="1" kern="0" spc="500" dirty="0">
                <a:solidFill>
                  <a:srgbClr val="FFD7D7"/>
                </a:solidFill>
                <a:latin typeface="Calibri" pitchFamily="34" charset="0"/>
                <a:ea typeface="Calibri" pitchFamily="34" charset="-122"/>
                <a:cs typeface="Calibri" pitchFamily="34" charset="-120"/>
              </a:rPr>
              <a:t>FAIL TO REJECT H0</a:t>
            </a:r>
            <a:endParaRPr lang="en-US" sz="1200" dirty="0"/>
          </a:p>
        </p:txBody>
      </p:sp>
      <p:sp>
        <p:nvSpPr>
          <p:cNvPr id="6" name="Text 4">
            <a:extLst>
              <a:ext uri="{FF2B5EF4-FFF2-40B4-BE49-F238E27FC236}">
                <a16:creationId xmlns:a16="http://schemas.microsoft.com/office/drawing/2014/main" id="{1DEB7726-52A1-A878-EF65-011E6F0BFF7C}"/>
              </a:ext>
            </a:extLst>
          </p:cNvPr>
          <p:cNvSpPr/>
          <p:nvPr/>
        </p:nvSpPr>
        <p:spPr>
          <a:xfrm>
            <a:off x="777240" y="2103120"/>
            <a:ext cx="10607040" cy="54864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Across all stocks, all seeds, all windows — neither LSTM nor Linear Regression beat the Naive Baseline. p-values ranged 0.9657 → 0.9999.</a:t>
            </a:r>
            <a:endParaRPr lang="en-US" sz="1600" dirty="0"/>
          </a:p>
        </p:txBody>
      </p:sp>
      <p:sp>
        <p:nvSpPr>
          <p:cNvPr id="7" name="Text 5">
            <a:extLst>
              <a:ext uri="{FF2B5EF4-FFF2-40B4-BE49-F238E27FC236}">
                <a16:creationId xmlns:a16="http://schemas.microsoft.com/office/drawing/2014/main" id="{45941EBE-F324-6E95-31B1-13958038D6EB}"/>
              </a:ext>
            </a:extLst>
          </p:cNvPr>
          <p:cNvSpPr/>
          <p:nvPr/>
        </p:nvSpPr>
        <p:spPr>
          <a:xfrm>
            <a:off x="548640" y="2880360"/>
            <a:ext cx="10972800" cy="320040"/>
          </a:xfrm>
          <a:prstGeom prst="rect">
            <a:avLst/>
          </a:prstGeom>
          <a:noFill/>
          <a:ln/>
        </p:spPr>
        <p:txBody>
          <a:bodyPr wrap="square" lIns="0" tIns="0" rIns="0" bIns="0" rtlCol="0" anchor="ctr"/>
          <a:lstStyle/>
          <a:p>
            <a:pPr marL="0" indent="0">
              <a:buNone/>
            </a:pPr>
            <a:r>
              <a:rPr lang="en-US" b="1" dirty="0">
                <a:solidFill>
                  <a:srgbClr val="1A1F2E"/>
                </a:solidFill>
                <a:latin typeface="Calibri" pitchFamily="34" charset="0"/>
                <a:ea typeface="Calibri" pitchFamily="34" charset="-122"/>
                <a:cs typeface="Calibri" pitchFamily="34" charset="-120"/>
              </a:rPr>
              <a:t>Combined paired t-test results (averaged across seeds, vs. Naive Baseline)</a:t>
            </a:r>
            <a:endParaRPr lang="en-US" dirty="0"/>
          </a:p>
        </p:txBody>
      </p:sp>
      <p:graphicFrame>
        <p:nvGraphicFramePr>
          <p:cNvPr id="8" name="Table 0">
            <a:extLst>
              <a:ext uri="{FF2B5EF4-FFF2-40B4-BE49-F238E27FC236}">
                <a16:creationId xmlns:a16="http://schemas.microsoft.com/office/drawing/2014/main" id="{4CE6C5CC-067E-6876-9D7E-246E48F4A950}"/>
              </a:ext>
            </a:extLst>
          </p:cNvPr>
          <p:cNvGraphicFramePr>
            <a:graphicFrameLocks noGrp="1"/>
          </p:cNvGraphicFramePr>
          <p:nvPr>
            <p:extLst>
              <p:ext uri="{D42A27DB-BD31-4B8C-83A1-F6EECF244321}">
                <p14:modId xmlns:p14="http://schemas.microsoft.com/office/powerpoint/2010/main" val="2651645385"/>
              </p:ext>
            </p:extLst>
          </p:nvPr>
        </p:nvGraphicFramePr>
        <p:xfrm>
          <a:off x="548640" y="3200400"/>
          <a:ext cx="6949440" cy="2560320"/>
        </p:xfrm>
        <a:graphic>
          <a:graphicData uri="http://schemas.openxmlformats.org/drawingml/2006/table">
            <a:tbl>
              <a:tblPr/>
              <a:tblGrid>
                <a:gridCol w="77724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29184">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Stock</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F2E"/>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Comparison</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F2E"/>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t-stat</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F2E"/>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p-value</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F2E"/>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vs. α=.0083</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F2E"/>
                    </a:solidFill>
                  </a:tcPr>
                </a:tc>
                <a:extLst>
                  <a:ext uri="{0D108BD9-81ED-4DB2-BD59-A6C34878D82A}">
                    <a16:rowId xmlns:a16="http://schemas.microsoft.com/office/drawing/2014/main" val="10000"/>
                  </a:ext>
                </a:extLst>
              </a:tr>
              <a:tr h="329184">
                <a:tc>
                  <a:txBody>
                    <a:bodyPr/>
                    <a:lstStyle/>
                    <a:p>
                      <a:pPr marL="0" indent="0" algn="l">
                        <a:buNone/>
                      </a:pPr>
                      <a:r>
                        <a:rPr lang="en-US" sz="1800" b="1" dirty="0">
                          <a:solidFill>
                            <a:srgbClr val="1A1F2E"/>
                          </a:solidFill>
                          <a:latin typeface="Calibri" pitchFamily="34" charset="0"/>
                          <a:ea typeface="Calibri" pitchFamily="34" charset="-122"/>
                          <a:cs typeface="Calibri" pitchFamily="34" charset="-120"/>
                        </a:rPr>
                        <a:t>ORCL</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800" dirty="0">
                          <a:solidFill>
                            <a:srgbClr val="0F766E"/>
                          </a:solidFill>
                          <a:latin typeface="Calibri" pitchFamily="34" charset="0"/>
                          <a:ea typeface="Calibri" pitchFamily="34" charset="-122"/>
                          <a:cs typeface="Calibri" pitchFamily="34" charset="-120"/>
                        </a:rPr>
                        <a:t>LR vs Naive</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3.79</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0.9979</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991B1B"/>
                          </a:solidFill>
                          <a:latin typeface="Calibri" pitchFamily="34" charset="0"/>
                          <a:ea typeface="Calibri" pitchFamily="34" charset="-122"/>
                          <a:cs typeface="Calibri" pitchFamily="34" charset="-120"/>
                        </a:rPr>
                        <a:t>not sig.</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l">
                        <a:buNone/>
                      </a:pP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800" dirty="0">
                          <a:solidFill>
                            <a:srgbClr val="C2410C"/>
                          </a:solidFill>
                          <a:latin typeface="Calibri" pitchFamily="34" charset="0"/>
                          <a:ea typeface="Calibri" pitchFamily="34" charset="-122"/>
                          <a:cs typeface="Calibri" pitchFamily="34" charset="-120"/>
                        </a:rPr>
                        <a:t>LSTM vs Naive</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4.28</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0.9990</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991B1B"/>
                          </a:solidFill>
                          <a:latin typeface="Calibri" pitchFamily="34" charset="0"/>
                          <a:ea typeface="Calibri" pitchFamily="34" charset="-122"/>
                          <a:cs typeface="Calibri" pitchFamily="34" charset="-120"/>
                        </a:rPr>
                        <a:t>not sig.</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1800" b="1" dirty="0">
                          <a:solidFill>
                            <a:srgbClr val="1A1F2E"/>
                          </a:solidFill>
                          <a:latin typeface="Calibri" pitchFamily="34" charset="0"/>
                          <a:ea typeface="Calibri" pitchFamily="34" charset="-122"/>
                          <a:cs typeface="Calibri" pitchFamily="34" charset="-120"/>
                        </a:rPr>
                        <a:t>MRK</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800" dirty="0">
                          <a:solidFill>
                            <a:srgbClr val="0F766E"/>
                          </a:solidFill>
                          <a:latin typeface="Calibri" pitchFamily="34" charset="0"/>
                          <a:ea typeface="Calibri" pitchFamily="34" charset="-122"/>
                          <a:cs typeface="Calibri" pitchFamily="34" charset="-120"/>
                        </a:rPr>
                        <a:t>LR vs Naive</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2.07</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0.9657</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991B1B"/>
                          </a:solidFill>
                          <a:latin typeface="Calibri" pitchFamily="34" charset="0"/>
                          <a:ea typeface="Calibri" pitchFamily="34" charset="-122"/>
                          <a:cs typeface="Calibri" pitchFamily="34" charset="-120"/>
                        </a:rPr>
                        <a:t>not sig.</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l">
                        <a:buNone/>
                      </a:pP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800" dirty="0">
                          <a:solidFill>
                            <a:srgbClr val="C2410C"/>
                          </a:solidFill>
                          <a:latin typeface="Calibri" pitchFamily="34" charset="0"/>
                          <a:ea typeface="Calibri" pitchFamily="34" charset="-122"/>
                          <a:cs typeface="Calibri" pitchFamily="34" charset="-120"/>
                        </a:rPr>
                        <a:t>LSTM vs Naive</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4.99</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0.9996</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991B1B"/>
                          </a:solidFill>
                          <a:latin typeface="Calibri" pitchFamily="34" charset="0"/>
                          <a:ea typeface="Calibri" pitchFamily="34" charset="-122"/>
                          <a:cs typeface="Calibri" pitchFamily="34" charset="-120"/>
                        </a:rPr>
                        <a:t>not sig.</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lgn="l">
                        <a:buNone/>
                      </a:pPr>
                      <a:r>
                        <a:rPr lang="en-US" sz="1800" b="1" dirty="0">
                          <a:solidFill>
                            <a:srgbClr val="1A1F2E"/>
                          </a:solidFill>
                          <a:latin typeface="Calibri" pitchFamily="34" charset="0"/>
                          <a:ea typeface="Calibri" pitchFamily="34" charset="-122"/>
                          <a:cs typeface="Calibri" pitchFamily="34" charset="-120"/>
                        </a:rPr>
                        <a:t>PEP</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800" dirty="0">
                          <a:solidFill>
                            <a:srgbClr val="0F766E"/>
                          </a:solidFill>
                          <a:latin typeface="Calibri" pitchFamily="34" charset="0"/>
                          <a:ea typeface="Calibri" pitchFamily="34" charset="-122"/>
                          <a:cs typeface="Calibri" pitchFamily="34" charset="-120"/>
                        </a:rPr>
                        <a:t>LR vs Naive</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3.62</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0.9972</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991B1B"/>
                          </a:solidFill>
                          <a:latin typeface="Calibri" pitchFamily="34" charset="0"/>
                          <a:ea typeface="Calibri" pitchFamily="34" charset="-122"/>
                          <a:cs typeface="Calibri" pitchFamily="34" charset="-120"/>
                        </a:rPr>
                        <a:t>not sig.</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lgn="l">
                        <a:buNone/>
                      </a:pP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800" dirty="0">
                          <a:solidFill>
                            <a:srgbClr val="C2410C"/>
                          </a:solidFill>
                          <a:latin typeface="Calibri" pitchFamily="34" charset="0"/>
                          <a:ea typeface="Calibri" pitchFamily="34" charset="-122"/>
                          <a:cs typeface="Calibri" pitchFamily="34" charset="-120"/>
                        </a:rPr>
                        <a:t>LSTM vs Naive</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6.22</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2D3343"/>
                          </a:solidFill>
                          <a:latin typeface="Calibri" pitchFamily="34" charset="0"/>
                          <a:ea typeface="Calibri" pitchFamily="34" charset="-122"/>
                          <a:cs typeface="Calibri" pitchFamily="34" charset="-120"/>
                        </a:rPr>
                        <a:t>0.9999</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ctr">
                        <a:buNone/>
                      </a:pPr>
                      <a:r>
                        <a:rPr lang="en-US" sz="1800" dirty="0">
                          <a:solidFill>
                            <a:srgbClr val="991B1B"/>
                          </a:solidFill>
                          <a:latin typeface="Calibri" pitchFamily="34" charset="0"/>
                          <a:ea typeface="Calibri" pitchFamily="34" charset="-122"/>
                          <a:cs typeface="Calibri" pitchFamily="34" charset="-120"/>
                        </a:rPr>
                        <a:t>not sig.</a:t>
                      </a:r>
                      <a:endParaRPr lang="en-US" sz="18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9" name="Text 6">
            <a:extLst>
              <a:ext uri="{FF2B5EF4-FFF2-40B4-BE49-F238E27FC236}">
                <a16:creationId xmlns:a16="http://schemas.microsoft.com/office/drawing/2014/main" id="{DA6FAA14-112C-88AB-6657-31D6E72DFCBE}"/>
              </a:ext>
            </a:extLst>
          </p:cNvPr>
          <p:cNvSpPr/>
          <p:nvPr/>
        </p:nvSpPr>
        <p:spPr>
          <a:xfrm>
            <a:off x="548640" y="5669280"/>
            <a:ext cx="6949440" cy="32004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Table 2.  One-sided paired t-test (alt. = 'less'), Bonferroni α = 0.0083.</a:t>
            </a:r>
            <a:endParaRPr lang="en-US" sz="1000" dirty="0"/>
          </a:p>
        </p:txBody>
      </p:sp>
      <p:sp>
        <p:nvSpPr>
          <p:cNvPr id="10" name="Shape 7">
            <a:extLst>
              <a:ext uri="{FF2B5EF4-FFF2-40B4-BE49-F238E27FC236}">
                <a16:creationId xmlns:a16="http://schemas.microsoft.com/office/drawing/2014/main" id="{110B86A0-AC5F-BD24-DA96-DB6A71B10B32}"/>
              </a:ext>
            </a:extLst>
          </p:cNvPr>
          <p:cNvSpPr/>
          <p:nvPr/>
        </p:nvSpPr>
        <p:spPr>
          <a:xfrm>
            <a:off x="7680960" y="3200400"/>
            <a:ext cx="3931920" cy="2743200"/>
          </a:xfrm>
          <a:prstGeom prst="rect">
            <a:avLst/>
          </a:prstGeom>
          <a:solidFill>
            <a:srgbClr val="F4F6F9"/>
          </a:solidFill>
          <a:ln w="6350">
            <a:solidFill>
              <a:srgbClr val="E5E7EB"/>
            </a:solidFill>
            <a:prstDash val="solid"/>
          </a:ln>
        </p:spPr>
      </p:sp>
      <p:sp>
        <p:nvSpPr>
          <p:cNvPr id="11" name="Shape 8">
            <a:extLst>
              <a:ext uri="{FF2B5EF4-FFF2-40B4-BE49-F238E27FC236}">
                <a16:creationId xmlns:a16="http://schemas.microsoft.com/office/drawing/2014/main" id="{A0C60FDE-A799-1C87-149C-FC91732116CC}"/>
              </a:ext>
            </a:extLst>
          </p:cNvPr>
          <p:cNvSpPr/>
          <p:nvPr/>
        </p:nvSpPr>
        <p:spPr>
          <a:xfrm>
            <a:off x="7680960" y="3200400"/>
            <a:ext cx="91440" cy="2743200"/>
          </a:xfrm>
          <a:prstGeom prst="rect">
            <a:avLst/>
          </a:prstGeom>
          <a:solidFill>
            <a:srgbClr val="C2410C"/>
          </a:solidFill>
          <a:ln w="12700">
            <a:solidFill>
              <a:srgbClr val="C2410C"/>
            </a:solidFill>
            <a:prstDash val="solid"/>
          </a:ln>
        </p:spPr>
      </p:sp>
      <p:sp>
        <p:nvSpPr>
          <p:cNvPr id="12" name="Text 9">
            <a:extLst>
              <a:ext uri="{FF2B5EF4-FFF2-40B4-BE49-F238E27FC236}">
                <a16:creationId xmlns:a16="http://schemas.microsoft.com/office/drawing/2014/main" id="{E9774847-A9D7-D400-18BD-36E4583F4D7D}"/>
              </a:ext>
            </a:extLst>
          </p:cNvPr>
          <p:cNvSpPr/>
          <p:nvPr/>
        </p:nvSpPr>
        <p:spPr>
          <a:xfrm>
            <a:off x="7863840" y="3212592"/>
            <a:ext cx="3657600" cy="256032"/>
          </a:xfrm>
          <a:prstGeom prst="rect">
            <a:avLst/>
          </a:prstGeom>
          <a:noFill/>
          <a:ln/>
        </p:spPr>
        <p:txBody>
          <a:bodyPr wrap="square" lIns="0" tIns="0" rIns="0" bIns="0" rtlCol="0" anchor="ctr"/>
          <a:lstStyle/>
          <a:p>
            <a:pPr marL="0" indent="0">
              <a:buNone/>
            </a:pPr>
            <a:r>
              <a:rPr lang="en-US" sz="900" b="1" kern="0" spc="400" dirty="0">
                <a:solidFill>
                  <a:srgbClr val="C2410C"/>
                </a:solidFill>
                <a:latin typeface="Calibri" pitchFamily="34" charset="0"/>
                <a:ea typeface="Calibri" pitchFamily="34" charset="-122"/>
                <a:cs typeface="Calibri" pitchFamily="34" charset="-120"/>
              </a:rPr>
              <a:t>FROM eval.py</a:t>
            </a:r>
            <a:endParaRPr lang="en-US" sz="900" dirty="0"/>
          </a:p>
        </p:txBody>
      </p:sp>
      <p:sp>
        <p:nvSpPr>
          <p:cNvPr id="13" name="Text 10">
            <a:extLst>
              <a:ext uri="{FF2B5EF4-FFF2-40B4-BE49-F238E27FC236}">
                <a16:creationId xmlns:a16="http://schemas.microsoft.com/office/drawing/2014/main" id="{8D804AF0-290B-B29E-3363-1A48158383F5}"/>
              </a:ext>
            </a:extLst>
          </p:cNvPr>
          <p:cNvSpPr/>
          <p:nvPr/>
        </p:nvSpPr>
        <p:spPr>
          <a:xfrm>
            <a:off x="7863840" y="3429000"/>
            <a:ext cx="3657600" cy="2450592"/>
          </a:xfrm>
          <a:prstGeom prst="rect">
            <a:avLst/>
          </a:prstGeom>
          <a:noFill/>
          <a:ln/>
        </p:spPr>
        <p:txBody>
          <a:bodyPr wrap="square" lIns="0" tIns="0" rIns="0" bIns="0" rtlCol="0" anchor="t"/>
          <a:lstStyle/>
          <a:p>
            <a:pPr marL="0" indent="0">
              <a:buNone/>
            </a:pPr>
            <a:r>
              <a:rPr lang="en-US" dirty="0">
                <a:solidFill>
                  <a:srgbClr val="2D3343"/>
                </a:solidFill>
                <a:latin typeface="Consolas" pitchFamily="34" charset="0"/>
                <a:ea typeface="Consolas" pitchFamily="34" charset="-122"/>
                <a:cs typeface="Consolas" pitchFamily="34" charset="-120"/>
              </a:rPr>
              <a:t>alpha = 0.05
n_comparisons = 6  </a:t>
            </a:r>
            <a:r>
              <a:rPr lang="en-US" i="1" dirty="0">
                <a:solidFill>
                  <a:srgbClr val="6B7280"/>
                </a:solidFill>
                <a:latin typeface="Consolas" pitchFamily="34" charset="0"/>
                <a:ea typeface="Consolas" pitchFamily="34" charset="-122"/>
                <a:cs typeface="Consolas" pitchFamily="34" charset="-120"/>
              </a:rPr>
              <a:t># 2 × 3 stocks
</a:t>
            </a:r>
            <a:r>
              <a:rPr lang="en-US" b="1" dirty="0">
                <a:solidFill>
                  <a:srgbClr val="C2410C"/>
                </a:solidFill>
                <a:latin typeface="Consolas" pitchFamily="34" charset="0"/>
                <a:ea typeface="Consolas" pitchFamily="34" charset="-122"/>
                <a:cs typeface="Consolas" pitchFamily="34" charset="-120"/>
              </a:rPr>
              <a:t>alpha_adj = alpha / n_comparisons
</a:t>
            </a:r>
            <a:r>
              <a:rPr lang="en-US" dirty="0">
                <a:solidFill>
                  <a:srgbClr val="2D3343"/>
                </a:solidFill>
                <a:latin typeface="Consolas" pitchFamily="34" charset="0"/>
                <a:ea typeface="Consolas" pitchFamily="34" charset="-122"/>
                <a:cs typeface="Consolas" pitchFamily="34" charset="-120"/>
              </a:rPr>
              <a:t>
t_stat, p_value = ttest_rel(
    combined_a, combined_b,
</a:t>
            </a:r>
            <a:r>
              <a:rPr lang="en-US" b="1" dirty="0">
                <a:solidFill>
                  <a:srgbClr val="C2410C"/>
                </a:solidFill>
                <a:latin typeface="Consolas" pitchFamily="34" charset="0"/>
                <a:ea typeface="Consolas" pitchFamily="34" charset="-122"/>
                <a:cs typeface="Consolas" pitchFamily="34" charset="-120"/>
              </a:rPr>
              <a:t>    alternative='less')</a:t>
            </a:r>
            <a:endParaRPr lang="en-US" dirty="0"/>
          </a:p>
        </p:txBody>
      </p:sp>
      <p:sp>
        <p:nvSpPr>
          <p:cNvPr id="15" name="Shape 12">
            <a:extLst>
              <a:ext uri="{FF2B5EF4-FFF2-40B4-BE49-F238E27FC236}">
                <a16:creationId xmlns:a16="http://schemas.microsoft.com/office/drawing/2014/main" id="{52B296CC-74F7-71C8-BCB4-137D1EC41C51}"/>
              </a:ext>
            </a:extLst>
          </p:cNvPr>
          <p:cNvSpPr/>
          <p:nvPr/>
        </p:nvSpPr>
        <p:spPr>
          <a:xfrm>
            <a:off x="548640" y="6446520"/>
            <a:ext cx="11094415" cy="0"/>
          </a:xfrm>
          <a:prstGeom prst="line">
            <a:avLst/>
          </a:prstGeom>
          <a:noFill/>
          <a:ln w="9525">
            <a:solidFill>
              <a:srgbClr val="E5E7EB"/>
            </a:solidFill>
            <a:prstDash val="solid"/>
          </a:ln>
        </p:spPr>
      </p:sp>
      <p:sp>
        <p:nvSpPr>
          <p:cNvPr id="16" name="Text 13">
            <a:extLst>
              <a:ext uri="{FF2B5EF4-FFF2-40B4-BE49-F238E27FC236}">
                <a16:creationId xmlns:a16="http://schemas.microsoft.com/office/drawing/2014/main" id="{A2615118-905B-0BA9-BB1E-813480F970EC}"/>
              </a:ext>
            </a:extLst>
          </p:cNvPr>
          <p:cNvSpPr/>
          <p:nvPr/>
        </p:nvSpPr>
        <p:spPr>
          <a:xfrm>
            <a:off x="11277295" y="6492240"/>
            <a:ext cx="73152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 / 15</a:t>
            </a:r>
            <a:endParaRPr lang="en-US" sz="1000" dirty="0"/>
          </a:p>
        </p:txBody>
      </p:sp>
    </p:spTree>
    <p:extLst>
      <p:ext uri="{BB962C8B-B14F-4D97-AF65-F5344CB8AC3E}">
        <p14:creationId xmlns:p14="http://schemas.microsoft.com/office/powerpoint/2010/main" val="3597155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59A91-8FB4-8F3A-3912-BA84DE98C40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4CB7C41-41EA-F369-809F-B4A30D2F5E88}"/>
              </a:ext>
            </a:extLst>
          </p:cNvPr>
          <p:cNvSpPr/>
          <p:nvPr/>
        </p:nvSpPr>
        <p:spPr>
          <a:xfrm>
            <a:off x="548640" y="231648"/>
            <a:ext cx="10972800" cy="292608"/>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DISCUSSION</a:t>
            </a:r>
            <a:endParaRPr lang="en-US" dirty="0"/>
          </a:p>
        </p:txBody>
      </p:sp>
      <p:sp>
        <p:nvSpPr>
          <p:cNvPr id="3" name="Text 1">
            <a:extLst>
              <a:ext uri="{FF2B5EF4-FFF2-40B4-BE49-F238E27FC236}">
                <a16:creationId xmlns:a16="http://schemas.microsoft.com/office/drawing/2014/main" id="{F13C6455-B84C-0C8E-24F1-56BB8EC88B9C}"/>
              </a:ext>
            </a:extLst>
          </p:cNvPr>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A1F2E"/>
                </a:solidFill>
                <a:latin typeface="Georgia" pitchFamily="34" charset="0"/>
                <a:ea typeface="Georgia" pitchFamily="34" charset="-122"/>
                <a:cs typeface="Georgia" pitchFamily="34" charset="-120"/>
              </a:rPr>
              <a:t>What we actually learned</a:t>
            </a:r>
            <a:endParaRPr lang="en-US" sz="3000" dirty="0"/>
          </a:p>
        </p:txBody>
      </p:sp>
      <p:sp>
        <p:nvSpPr>
          <p:cNvPr id="4" name="Shape 2">
            <a:extLst>
              <a:ext uri="{FF2B5EF4-FFF2-40B4-BE49-F238E27FC236}">
                <a16:creationId xmlns:a16="http://schemas.microsoft.com/office/drawing/2014/main" id="{9C22A65A-2404-567C-A163-DEC430E47C28}"/>
              </a:ext>
            </a:extLst>
          </p:cNvPr>
          <p:cNvSpPr/>
          <p:nvPr/>
        </p:nvSpPr>
        <p:spPr>
          <a:xfrm>
            <a:off x="548640" y="1691640"/>
            <a:ext cx="5440680" cy="4526280"/>
          </a:xfrm>
          <a:prstGeom prst="rect">
            <a:avLst/>
          </a:prstGeom>
          <a:solidFill>
            <a:srgbClr val="FFFFFF"/>
          </a:solidFill>
          <a:ln w="9525">
            <a:solidFill>
              <a:srgbClr val="E5E7EB"/>
            </a:solidFill>
            <a:prstDash val="solid"/>
          </a:ln>
        </p:spPr>
      </p:sp>
      <p:sp>
        <p:nvSpPr>
          <p:cNvPr id="5" name="Shape 3">
            <a:extLst>
              <a:ext uri="{FF2B5EF4-FFF2-40B4-BE49-F238E27FC236}">
                <a16:creationId xmlns:a16="http://schemas.microsoft.com/office/drawing/2014/main" id="{0EF8A21E-C11C-B2EC-EB6F-276F77746648}"/>
              </a:ext>
            </a:extLst>
          </p:cNvPr>
          <p:cNvSpPr/>
          <p:nvPr/>
        </p:nvSpPr>
        <p:spPr>
          <a:xfrm>
            <a:off x="548640" y="1691640"/>
            <a:ext cx="5440680" cy="502920"/>
          </a:xfrm>
          <a:prstGeom prst="rect">
            <a:avLst/>
          </a:prstGeom>
          <a:solidFill>
            <a:srgbClr val="065F46"/>
          </a:solidFill>
          <a:ln w="12700">
            <a:solidFill>
              <a:srgbClr val="065F46"/>
            </a:solidFill>
            <a:prstDash val="solid"/>
          </a:ln>
        </p:spPr>
      </p:sp>
      <p:sp>
        <p:nvSpPr>
          <p:cNvPr id="6" name="Text 4">
            <a:extLst>
              <a:ext uri="{FF2B5EF4-FFF2-40B4-BE49-F238E27FC236}">
                <a16:creationId xmlns:a16="http://schemas.microsoft.com/office/drawing/2014/main" id="{9E46251A-5AEA-14D4-29A3-29CA372B291B}"/>
              </a:ext>
            </a:extLst>
          </p:cNvPr>
          <p:cNvSpPr/>
          <p:nvPr/>
        </p:nvSpPr>
        <p:spPr>
          <a:xfrm>
            <a:off x="777240" y="1783080"/>
            <a:ext cx="4937760" cy="320040"/>
          </a:xfrm>
          <a:prstGeom prst="rect">
            <a:avLst/>
          </a:prstGeom>
          <a:noFill/>
          <a:ln/>
        </p:spPr>
        <p:txBody>
          <a:bodyPr wrap="square" lIns="0" tIns="0" rIns="0" bIns="0" rtlCol="0" anchor="ctr"/>
          <a:lstStyle/>
          <a:p>
            <a:pPr marL="0" indent="0">
              <a:buNone/>
            </a:pPr>
            <a:r>
              <a:rPr lang="en-US" b="1" kern="0" spc="400" dirty="0">
                <a:solidFill>
                  <a:srgbClr val="FFFFFF"/>
                </a:solidFill>
                <a:latin typeface="Calibri" pitchFamily="34" charset="0"/>
                <a:ea typeface="Calibri" pitchFamily="34" charset="-122"/>
                <a:cs typeface="Calibri" pitchFamily="34" charset="-120"/>
              </a:rPr>
              <a:t>FINDING 1  ·  EXPECTED</a:t>
            </a:r>
            <a:endParaRPr lang="en-US" dirty="0"/>
          </a:p>
        </p:txBody>
      </p:sp>
      <p:sp>
        <p:nvSpPr>
          <p:cNvPr id="7" name="Text 5">
            <a:extLst>
              <a:ext uri="{FF2B5EF4-FFF2-40B4-BE49-F238E27FC236}">
                <a16:creationId xmlns:a16="http://schemas.microsoft.com/office/drawing/2014/main" id="{5C3C621C-AA55-AEA2-8CD1-330603B5BA26}"/>
              </a:ext>
            </a:extLst>
          </p:cNvPr>
          <p:cNvSpPr/>
          <p:nvPr/>
        </p:nvSpPr>
        <p:spPr>
          <a:xfrm>
            <a:off x="777240" y="2331720"/>
            <a:ext cx="4983480" cy="548640"/>
          </a:xfrm>
          <a:prstGeom prst="rect">
            <a:avLst/>
          </a:prstGeom>
          <a:noFill/>
          <a:ln/>
        </p:spPr>
        <p:txBody>
          <a:bodyPr wrap="square" lIns="0" tIns="0" rIns="0" bIns="0" rtlCol="0" anchor="ctr"/>
          <a:lstStyle/>
          <a:p>
            <a:pPr marL="0" indent="0">
              <a:buNone/>
            </a:pPr>
            <a:r>
              <a:rPr lang="en-US" sz="1900" b="1" dirty="0">
                <a:solidFill>
                  <a:srgbClr val="1A1F2E"/>
                </a:solidFill>
                <a:latin typeface="Georgia" pitchFamily="34" charset="0"/>
                <a:ea typeface="Georgia" pitchFamily="34" charset="-122"/>
                <a:cs typeface="Georgia" pitchFamily="34" charset="-120"/>
              </a:rPr>
              <a:t>EMH weak form — empirically supported</a:t>
            </a:r>
            <a:endParaRPr lang="en-US" sz="1900" dirty="0"/>
          </a:p>
        </p:txBody>
      </p:sp>
      <p:sp>
        <p:nvSpPr>
          <p:cNvPr id="8" name="Text 6">
            <a:extLst>
              <a:ext uri="{FF2B5EF4-FFF2-40B4-BE49-F238E27FC236}">
                <a16:creationId xmlns:a16="http://schemas.microsoft.com/office/drawing/2014/main" id="{DA3F6376-0CA5-035A-B045-A66A7AFD7E0D}"/>
              </a:ext>
            </a:extLst>
          </p:cNvPr>
          <p:cNvSpPr/>
          <p:nvPr/>
        </p:nvSpPr>
        <p:spPr>
          <a:xfrm>
            <a:off x="777240" y="2971800"/>
            <a:ext cx="4983480" cy="3108960"/>
          </a:xfrm>
          <a:prstGeom prst="rect">
            <a:avLst/>
          </a:prstGeom>
          <a:noFill/>
          <a:ln/>
        </p:spPr>
        <p:txBody>
          <a:bodyPr wrap="square" lIns="0" tIns="0" rIns="0" bIns="0" rtlCol="0" anchor="ctr"/>
          <a:lstStyle/>
          <a:p>
            <a:pPr marL="0" indent="0">
              <a:spcAft>
                <a:spcPts val="1200"/>
              </a:spcAft>
              <a:buNone/>
            </a:pPr>
            <a:r>
              <a:rPr lang="en-US" dirty="0">
                <a:solidFill>
                  <a:srgbClr val="2D3343"/>
                </a:solidFill>
                <a:latin typeface="Calibri" pitchFamily="34" charset="0"/>
                <a:ea typeface="Calibri" pitchFamily="34" charset="-122"/>
                <a:cs typeface="Calibri" pitchFamily="34" charset="-120"/>
              </a:rPr>
              <a:t>Yesterday's adjusted close already encodes the information available to predict today's. The 'random walk' nature of these assets neutralized any signal the LSTM tried to extract from past price patterns.</a:t>
            </a:r>
            <a:endParaRPr lang="en-US" dirty="0"/>
          </a:p>
          <a:p>
            <a:pPr marL="0" indent="0">
              <a:buNone/>
            </a:pPr>
            <a:r>
              <a:rPr lang="en-US" b="1" dirty="0">
                <a:solidFill>
                  <a:srgbClr val="1A1F2E"/>
                </a:solidFill>
                <a:latin typeface="Calibri" pitchFamily="34" charset="0"/>
                <a:ea typeface="Calibri" pitchFamily="34" charset="-122"/>
                <a:cs typeface="Calibri" pitchFamily="34" charset="-120"/>
              </a:rPr>
              <a:t>Longer windows made it worse, </a:t>
            </a:r>
            <a:r>
              <a:rPr lang="en-US" dirty="0">
                <a:solidFill>
                  <a:srgbClr val="2D3343"/>
                </a:solidFill>
                <a:latin typeface="Calibri" pitchFamily="34" charset="0"/>
                <a:ea typeface="Calibri" pitchFamily="34" charset="-122"/>
                <a:cs typeface="Calibri" pitchFamily="34" charset="-120"/>
              </a:rPr>
              <a:t>consistent with Saud &amp; Shakya (2020): additional historical context introduced more noise than usable signal.</a:t>
            </a:r>
            <a:endParaRPr lang="en-US" dirty="0"/>
          </a:p>
        </p:txBody>
      </p:sp>
      <p:sp>
        <p:nvSpPr>
          <p:cNvPr id="9" name="Shape 7">
            <a:extLst>
              <a:ext uri="{FF2B5EF4-FFF2-40B4-BE49-F238E27FC236}">
                <a16:creationId xmlns:a16="http://schemas.microsoft.com/office/drawing/2014/main" id="{57BA49C5-9BBE-82E4-B26E-A586D3A96AC4}"/>
              </a:ext>
            </a:extLst>
          </p:cNvPr>
          <p:cNvSpPr/>
          <p:nvPr/>
        </p:nvSpPr>
        <p:spPr>
          <a:xfrm>
            <a:off x="6172200" y="1691640"/>
            <a:ext cx="5440680" cy="4526280"/>
          </a:xfrm>
          <a:prstGeom prst="rect">
            <a:avLst/>
          </a:prstGeom>
          <a:solidFill>
            <a:srgbClr val="FFFFFF"/>
          </a:solidFill>
          <a:ln w="9525">
            <a:solidFill>
              <a:srgbClr val="E5E7EB"/>
            </a:solidFill>
            <a:prstDash val="solid"/>
          </a:ln>
        </p:spPr>
      </p:sp>
      <p:sp>
        <p:nvSpPr>
          <p:cNvPr id="10" name="Shape 8">
            <a:extLst>
              <a:ext uri="{FF2B5EF4-FFF2-40B4-BE49-F238E27FC236}">
                <a16:creationId xmlns:a16="http://schemas.microsoft.com/office/drawing/2014/main" id="{CF93A093-BC15-20A5-0052-2686E82CAA36}"/>
              </a:ext>
            </a:extLst>
          </p:cNvPr>
          <p:cNvSpPr/>
          <p:nvPr/>
        </p:nvSpPr>
        <p:spPr>
          <a:xfrm>
            <a:off x="6172200" y="1691640"/>
            <a:ext cx="5440680" cy="502920"/>
          </a:xfrm>
          <a:prstGeom prst="rect">
            <a:avLst/>
          </a:prstGeom>
          <a:solidFill>
            <a:srgbClr val="C2410C"/>
          </a:solidFill>
          <a:ln w="12700">
            <a:solidFill>
              <a:srgbClr val="C2410C"/>
            </a:solidFill>
            <a:prstDash val="solid"/>
          </a:ln>
        </p:spPr>
      </p:sp>
      <p:sp>
        <p:nvSpPr>
          <p:cNvPr id="11" name="Text 9">
            <a:extLst>
              <a:ext uri="{FF2B5EF4-FFF2-40B4-BE49-F238E27FC236}">
                <a16:creationId xmlns:a16="http://schemas.microsoft.com/office/drawing/2014/main" id="{F749DD5A-A82E-B7B8-F9AE-B1AD33473F08}"/>
              </a:ext>
            </a:extLst>
          </p:cNvPr>
          <p:cNvSpPr/>
          <p:nvPr/>
        </p:nvSpPr>
        <p:spPr>
          <a:xfrm>
            <a:off x="6400800" y="1783080"/>
            <a:ext cx="4937760" cy="320040"/>
          </a:xfrm>
          <a:prstGeom prst="rect">
            <a:avLst/>
          </a:prstGeom>
          <a:noFill/>
          <a:ln/>
        </p:spPr>
        <p:txBody>
          <a:bodyPr wrap="square" lIns="0" tIns="0" rIns="0" bIns="0" rtlCol="0" anchor="ctr"/>
          <a:lstStyle/>
          <a:p>
            <a:pPr marL="0" indent="0">
              <a:buNone/>
            </a:pPr>
            <a:r>
              <a:rPr lang="en-US" b="1" kern="0" spc="400" dirty="0">
                <a:solidFill>
                  <a:srgbClr val="FFFFFF"/>
                </a:solidFill>
                <a:latin typeface="Calibri" pitchFamily="34" charset="0"/>
                <a:ea typeface="Calibri" pitchFamily="34" charset="-122"/>
                <a:cs typeface="Calibri" pitchFamily="34" charset="-120"/>
              </a:rPr>
              <a:t>FINDING 2  ·  COUNTER-INTUITIVE</a:t>
            </a:r>
            <a:endParaRPr lang="en-US" dirty="0"/>
          </a:p>
        </p:txBody>
      </p:sp>
      <p:sp>
        <p:nvSpPr>
          <p:cNvPr id="12" name="Text 10">
            <a:extLst>
              <a:ext uri="{FF2B5EF4-FFF2-40B4-BE49-F238E27FC236}">
                <a16:creationId xmlns:a16="http://schemas.microsoft.com/office/drawing/2014/main" id="{6D2803C4-118F-294C-A808-77CE840B4BEE}"/>
              </a:ext>
            </a:extLst>
          </p:cNvPr>
          <p:cNvSpPr/>
          <p:nvPr/>
        </p:nvSpPr>
        <p:spPr>
          <a:xfrm>
            <a:off x="6400800" y="2331720"/>
            <a:ext cx="4983480" cy="548640"/>
          </a:xfrm>
          <a:prstGeom prst="rect">
            <a:avLst/>
          </a:prstGeom>
          <a:noFill/>
          <a:ln/>
        </p:spPr>
        <p:txBody>
          <a:bodyPr wrap="square" lIns="0" tIns="0" rIns="0" bIns="0" rtlCol="0" anchor="ctr"/>
          <a:lstStyle/>
          <a:p>
            <a:pPr marL="0" indent="0">
              <a:buNone/>
            </a:pPr>
            <a:r>
              <a:rPr lang="en-US" sz="1900" b="1" dirty="0">
                <a:solidFill>
                  <a:srgbClr val="1A1F2E"/>
                </a:solidFill>
                <a:latin typeface="Georgia" pitchFamily="34" charset="0"/>
                <a:ea typeface="Georgia" pitchFamily="34" charset="-122"/>
                <a:cs typeface="Georgia" pitchFamily="34" charset="-120"/>
              </a:rPr>
              <a:t>Volatility was not the whole story</a:t>
            </a:r>
            <a:endParaRPr lang="en-US" sz="1900" dirty="0"/>
          </a:p>
        </p:txBody>
      </p:sp>
      <p:sp>
        <p:nvSpPr>
          <p:cNvPr id="13" name="Text 11">
            <a:extLst>
              <a:ext uri="{FF2B5EF4-FFF2-40B4-BE49-F238E27FC236}">
                <a16:creationId xmlns:a16="http://schemas.microsoft.com/office/drawing/2014/main" id="{2B523353-64A8-3FB3-EA68-9497F2410EBF}"/>
              </a:ext>
            </a:extLst>
          </p:cNvPr>
          <p:cNvSpPr/>
          <p:nvPr/>
        </p:nvSpPr>
        <p:spPr>
          <a:xfrm>
            <a:off x="6400800" y="2971800"/>
            <a:ext cx="4983480" cy="3108960"/>
          </a:xfrm>
          <a:prstGeom prst="rect">
            <a:avLst/>
          </a:prstGeom>
          <a:noFill/>
          <a:ln/>
        </p:spPr>
        <p:txBody>
          <a:bodyPr wrap="square" lIns="0" tIns="0" rIns="0" bIns="0" rtlCol="0" anchor="ctr"/>
          <a:lstStyle/>
          <a:p>
            <a:pPr marL="0" indent="0">
              <a:spcAft>
                <a:spcPts val="1200"/>
              </a:spcAft>
              <a:buNone/>
            </a:pPr>
            <a:r>
              <a:rPr lang="en-US" dirty="0">
                <a:solidFill>
                  <a:srgbClr val="2D3343"/>
                </a:solidFill>
                <a:latin typeface="Calibri" pitchFamily="34" charset="0"/>
                <a:ea typeface="Calibri" pitchFamily="34" charset="-122"/>
                <a:cs typeface="Calibri" pitchFamily="34" charset="-120"/>
              </a:rPr>
              <a:t>ORCL was selected as the highest-volatility stock — yet on several seeds the LSTM produced its lowest MAPE on ORCL, not on the calmer PEP.</a:t>
            </a:r>
            <a:endParaRPr lang="en-US" dirty="0"/>
          </a:p>
          <a:p>
            <a:pPr marL="0" indent="0">
              <a:buNone/>
            </a:pPr>
            <a:r>
              <a:rPr lang="en-US" b="1" dirty="0">
                <a:solidFill>
                  <a:srgbClr val="1A1F2E"/>
                </a:solidFill>
                <a:latin typeface="Calibri" pitchFamily="34" charset="0"/>
                <a:ea typeface="Calibri" pitchFamily="34" charset="-122"/>
                <a:cs typeface="Calibri" pitchFamily="34" charset="-120"/>
              </a:rPr>
              <a:t>Possible explanation: </a:t>
            </a:r>
            <a:r>
              <a:rPr lang="en-US" dirty="0">
                <a:solidFill>
                  <a:srgbClr val="2D3343"/>
                </a:solidFill>
                <a:latin typeface="Calibri" pitchFamily="34" charset="0"/>
                <a:ea typeface="Calibri" pitchFamily="34" charset="-122"/>
                <a:cs typeface="Calibri" pitchFamily="34" charset="-120"/>
              </a:rPr>
              <a:t>Oracle's strong directional trend through 2022–2024 (cloud / AI infrastructure) provided a more learnable momentum signal than PEP's mean-reverting behavior in the same window.</a:t>
            </a:r>
            <a:endParaRPr lang="en-US" dirty="0"/>
          </a:p>
          <a:p>
            <a:pPr marL="0" indent="0">
              <a:buNone/>
            </a:pPr>
            <a:r>
              <a:rPr lang="en-US" i="1" dirty="0">
                <a:solidFill>
                  <a:srgbClr val="6B7280"/>
                </a:solidFill>
                <a:latin typeface="Calibri" pitchFamily="34" charset="0"/>
                <a:ea typeface="Calibri" pitchFamily="34" charset="-122"/>
                <a:cs typeface="Calibri" pitchFamily="34" charset="-120"/>
              </a:rPr>
              <a:t>Implication: market regime and directionality may matter more than raw volatility for LSTM predictability.</a:t>
            </a:r>
            <a:endParaRPr lang="en-US" dirty="0"/>
          </a:p>
        </p:txBody>
      </p:sp>
      <p:sp>
        <p:nvSpPr>
          <p:cNvPr id="14" name="Text 12">
            <a:extLst>
              <a:ext uri="{FF2B5EF4-FFF2-40B4-BE49-F238E27FC236}">
                <a16:creationId xmlns:a16="http://schemas.microsoft.com/office/drawing/2014/main" id="{5F3CAF65-0A7F-884F-BF8F-431A074E4358}"/>
              </a:ext>
            </a:extLst>
          </p:cNvPr>
          <p:cNvSpPr/>
          <p:nvPr/>
        </p:nvSpPr>
        <p:spPr>
          <a:xfrm>
            <a:off x="548640" y="6144768"/>
            <a:ext cx="10362895" cy="27432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Discussion grounded in Fama (1970) and Saud &amp; Shakya (2020); ORCL trend observation specific to 2022–2024 test window.</a:t>
            </a:r>
            <a:endParaRPr lang="en-US" sz="1000" dirty="0"/>
          </a:p>
        </p:txBody>
      </p:sp>
      <p:sp>
        <p:nvSpPr>
          <p:cNvPr id="15" name="Shape 13">
            <a:extLst>
              <a:ext uri="{FF2B5EF4-FFF2-40B4-BE49-F238E27FC236}">
                <a16:creationId xmlns:a16="http://schemas.microsoft.com/office/drawing/2014/main" id="{96488CAC-08E1-BD48-8F59-E92DE965C386}"/>
              </a:ext>
            </a:extLst>
          </p:cNvPr>
          <p:cNvSpPr/>
          <p:nvPr/>
        </p:nvSpPr>
        <p:spPr>
          <a:xfrm>
            <a:off x="548640" y="6446520"/>
            <a:ext cx="11094415" cy="0"/>
          </a:xfrm>
          <a:prstGeom prst="line">
            <a:avLst/>
          </a:prstGeom>
          <a:noFill/>
          <a:ln w="9525">
            <a:solidFill>
              <a:srgbClr val="E5E7EB"/>
            </a:solidFill>
            <a:prstDash val="solid"/>
          </a:ln>
        </p:spPr>
      </p:sp>
      <p:sp>
        <p:nvSpPr>
          <p:cNvPr id="16" name="Text 14">
            <a:extLst>
              <a:ext uri="{FF2B5EF4-FFF2-40B4-BE49-F238E27FC236}">
                <a16:creationId xmlns:a16="http://schemas.microsoft.com/office/drawing/2014/main" id="{D6563CE4-EF79-AFF1-C97A-955756DB95FA}"/>
              </a:ext>
            </a:extLst>
          </p:cNvPr>
          <p:cNvSpPr/>
          <p:nvPr/>
        </p:nvSpPr>
        <p:spPr>
          <a:xfrm>
            <a:off x="11277295" y="6492240"/>
            <a:ext cx="73152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11 / 15</a:t>
            </a:r>
            <a:endParaRPr lang="en-US" sz="1000" dirty="0"/>
          </a:p>
        </p:txBody>
      </p:sp>
    </p:spTree>
    <p:extLst>
      <p:ext uri="{BB962C8B-B14F-4D97-AF65-F5344CB8AC3E}">
        <p14:creationId xmlns:p14="http://schemas.microsoft.com/office/powerpoint/2010/main" val="3410845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42CAA-8EFB-D2D8-E54D-AEA0640C84B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308682F-D608-DAD7-378E-8EB9166213B3}"/>
              </a:ext>
            </a:extLst>
          </p:cNvPr>
          <p:cNvSpPr/>
          <p:nvPr/>
        </p:nvSpPr>
        <p:spPr>
          <a:xfrm>
            <a:off x="548640" y="219456"/>
            <a:ext cx="10972800" cy="292608"/>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LIMITATIONS &amp; FUTURE WORK</a:t>
            </a:r>
            <a:endParaRPr lang="en-US" dirty="0"/>
          </a:p>
        </p:txBody>
      </p:sp>
      <p:sp>
        <p:nvSpPr>
          <p:cNvPr id="3" name="Text 1">
            <a:extLst>
              <a:ext uri="{FF2B5EF4-FFF2-40B4-BE49-F238E27FC236}">
                <a16:creationId xmlns:a16="http://schemas.microsoft.com/office/drawing/2014/main" id="{05B51488-7376-E3BE-445F-C6A5E4149127}"/>
              </a:ext>
            </a:extLst>
          </p:cNvPr>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A1F2E"/>
                </a:solidFill>
                <a:latin typeface="Georgia" pitchFamily="34" charset="0"/>
                <a:ea typeface="Georgia" pitchFamily="34" charset="-122"/>
                <a:cs typeface="Georgia" pitchFamily="34" charset="-120"/>
              </a:rPr>
              <a:t>Limitations and where this goes next</a:t>
            </a:r>
            <a:endParaRPr lang="en-US" sz="3000" dirty="0"/>
          </a:p>
        </p:txBody>
      </p:sp>
      <p:sp>
        <p:nvSpPr>
          <p:cNvPr id="4" name="Text 2">
            <a:extLst>
              <a:ext uri="{FF2B5EF4-FFF2-40B4-BE49-F238E27FC236}">
                <a16:creationId xmlns:a16="http://schemas.microsoft.com/office/drawing/2014/main" id="{FB13D4E1-12F4-89F7-058B-E0452C3FD9A3}"/>
              </a:ext>
            </a:extLst>
          </p:cNvPr>
          <p:cNvSpPr/>
          <p:nvPr/>
        </p:nvSpPr>
        <p:spPr>
          <a:xfrm>
            <a:off x="548640" y="1691640"/>
            <a:ext cx="5486400" cy="274320"/>
          </a:xfrm>
          <a:prstGeom prst="rect">
            <a:avLst/>
          </a:prstGeom>
          <a:noFill/>
          <a:ln/>
        </p:spPr>
        <p:txBody>
          <a:bodyPr wrap="square" lIns="0" tIns="0" rIns="0" bIns="0" rtlCol="0" anchor="ctr"/>
          <a:lstStyle/>
          <a:p>
            <a:pPr marL="0" indent="0">
              <a:buNone/>
            </a:pPr>
            <a:r>
              <a:rPr lang="en-US" b="1" kern="0" spc="400" dirty="0">
                <a:solidFill>
                  <a:srgbClr val="6B7280"/>
                </a:solidFill>
                <a:latin typeface="Calibri" pitchFamily="34" charset="0"/>
                <a:ea typeface="Calibri" pitchFamily="34" charset="-122"/>
                <a:cs typeface="Calibri" pitchFamily="34" charset="-120"/>
              </a:rPr>
              <a:t>LIMITATIONS</a:t>
            </a:r>
            <a:endParaRPr lang="en-US" dirty="0"/>
          </a:p>
        </p:txBody>
      </p:sp>
      <p:sp>
        <p:nvSpPr>
          <p:cNvPr id="5" name="Shape 3">
            <a:extLst>
              <a:ext uri="{FF2B5EF4-FFF2-40B4-BE49-F238E27FC236}">
                <a16:creationId xmlns:a16="http://schemas.microsoft.com/office/drawing/2014/main" id="{170372F3-B512-FEEC-B8C4-8725EC840BDA}"/>
              </a:ext>
            </a:extLst>
          </p:cNvPr>
          <p:cNvSpPr/>
          <p:nvPr/>
        </p:nvSpPr>
        <p:spPr>
          <a:xfrm>
            <a:off x="548640" y="2011680"/>
            <a:ext cx="5440680" cy="0"/>
          </a:xfrm>
          <a:prstGeom prst="line">
            <a:avLst/>
          </a:prstGeom>
          <a:noFill/>
          <a:ln w="12700">
            <a:solidFill>
              <a:srgbClr val="E5E7EB"/>
            </a:solidFill>
            <a:prstDash val="solid"/>
          </a:ln>
        </p:spPr>
      </p:sp>
      <p:sp>
        <p:nvSpPr>
          <p:cNvPr id="6" name="Text 4">
            <a:extLst>
              <a:ext uri="{FF2B5EF4-FFF2-40B4-BE49-F238E27FC236}">
                <a16:creationId xmlns:a16="http://schemas.microsoft.com/office/drawing/2014/main" id="{1F14EAF2-2416-53C2-0EEC-2F4ADF44CBAF}"/>
              </a:ext>
            </a:extLst>
          </p:cNvPr>
          <p:cNvSpPr/>
          <p:nvPr/>
        </p:nvSpPr>
        <p:spPr>
          <a:xfrm>
            <a:off x="548640" y="2148840"/>
            <a:ext cx="5440680" cy="4023360"/>
          </a:xfrm>
          <a:prstGeom prst="rect">
            <a:avLst/>
          </a:prstGeom>
          <a:noFill/>
          <a:ln/>
        </p:spPr>
        <p:txBody>
          <a:bodyPr wrap="square" lIns="0" tIns="0" rIns="0" bIns="0" rtlCol="0" anchor="ctr"/>
          <a:lstStyle/>
          <a:p>
            <a:pPr marL="0" indent="0">
              <a:buNone/>
            </a:pPr>
            <a:r>
              <a:rPr lang="en-US" b="1" dirty="0">
                <a:solidFill>
                  <a:srgbClr val="1A1F2E"/>
                </a:solidFill>
                <a:latin typeface="Calibri" pitchFamily="34" charset="0"/>
                <a:ea typeface="Calibri" pitchFamily="34" charset="-122"/>
                <a:cs typeface="Calibri" pitchFamily="34" charset="-120"/>
              </a:rPr>
              <a:t>Price-only feature set (by design)</a:t>
            </a:r>
            <a:endParaRPr lang="en-US" dirty="0"/>
          </a:p>
          <a:p>
            <a:pPr marL="0" indent="0">
              <a:spcAft>
                <a:spcPts val="1400"/>
              </a:spcAft>
              <a:buNone/>
            </a:pPr>
            <a:r>
              <a:rPr lang="en-US" dirty="0">
                <a:solidFill>
                  <a:srgbClr val="2D3343"/>
                </a:solidFill>
                <a:latin typeface="Calibri" pitchFamily="34" charset="0"/>
                <a:ea typeface="Calibri" pitchFamily="34" charset="-122"/>
                <a:cs typeface="Calibri" pitchFamily="34" charset="-120"/>
              </a:rPr>
              <a:t>No volume, sentiment, or macro signals, so the model couldn't anticipate earnings calls, clinical trial outcomes, or broader market events that drive deviations from the random walk.</a:t>
            </a:r>
            <a:endParaRPr lang="en-US" dirty="0"/>
          </a:p>
          <a:p>
            <a:pPr marL="0" indent="0">
              <a:buNone/>
            </a:pPr>
            <a:r>
              <a:rPr lang="en-US" b="1" dirty="0">
                <a:solidFill>
                  <a:srgbClr val="1A1F2E"/>
                </a:solidFill>
                <a:latin typeface="Calibri" pitchFamily="34" charset="0"/>
                <a:ea typeface="Calibri" pitchFamily="34" charset="-122"/>
                <a:cs typeface="Calibri" pitchFamily="34" charset="-120"/>
              </a:rPr>
              <a:t>Daily granularity only</a:t>
            </a:r>
            <a:endParaRPr lang="en-US" dirty="0"/>
          </a:p>
          <a:p>
            <a:pPr marL="0" indent="0">
              <a:spcAft>
                <a:spcPts val="1400"/>
              </a:spcAft>
              <a:buNone/>
            </a:pPr>
            <a:r>
              <a:rPr lang="en-US" dirty="0">
                <a:solidFill>
                  <a:srgbClr val="2D3343"/>
                </a:solidFill>
                <a:latin typeface="Calibri" pitchFamily="34" charset="0"/>
                <a:ea typeface="Calibri" pitchFamily="34" charset="-122"/>
                <a:cs typeface="Calibri" pitchFamily="34" charset="-120"/>
              </a:rPr>
              <a:t>Intraday data may carry stronger short-term autocorrelation that is better suited to sequence-based prediction. The signal-to-noise ratio at finer intervals could be more favorable for LSTM.</a:t>
            </a:r>
            <a:endParaRPr lang="en-US" dirty="0"/>
          </a:p>
          <a:p>
            <a:pPr marL="0" indent="0">
              <a:buNone/>
            </a:pPr>
            <a:r>
              <a:rPr lang="en-US" b="1" dirty="0">
                <a:solidFill>
                  <a:srgbClr val="1A1F2E"/>
                </a:solidFill>
                <a:latin typeface="Calibri" pitchFamily="34" charset="0"/>
                <a:ea typeface="Calibri" pitchFamily="34" charset="-122"/>
                <a:cs typeface="Calibri" pitchFamily="34" charset="-120"/>
              </a:rPr>
              <a:t>Single architecture, lean model</a:t>
            </a:r>
            <a:endParaRPr lang="en-US" dirty="0"/>
          </a:p>
          <a:p>
            <a:pPr marL="0" indent="0">
              <a:buNone/>
            </a:pPr>
            <a:r>
              <a:rPr lang="en-US" dirty="0">
                <a:solidFill>
                  <a:srgbClr val="2D3343"/>
                </a:solidFill>
                <a:latin typeface="Calibri" pitchFamily="34" charset="0"/>
                <a:ea typeface="Calibri" pitchFamily="34" charset="-122"/>
                <a:cs typeface="Calibri" pitchFamily="34" charset="-120"/>
              </a:rPr>
              <a:t>One Many-to-One LSTM with one hidden layer; no attention, no GRU, no hybrid CNN-LSTM.</a:t>
            </a:r>
            <a:endParaRPr lang="en-US" dirty="0"/>
          </a:p>
        </p:txBody>
      </p:sp>
      <p:sp>
        <p:nvSpPr>
          <p:cNvPr id="7" name="Text 5">
            <a:extLst>
              <a:ext uri="{FF2B5EF4-FFF2-40B4-BE49-F238E27FC236}">
                <a16:creationId xmlns:a16="http://schemas.microsoft.com/office/drawing/2014/main" id="{1DEE7564-7A77-74A5-7721-537DDE169DF8}"/>
              </a:ext>
            </a:extLst>
          </p:cNvPr>
          <p:cNvSpPr/>
          <p:nvPr/>
        </p:nvSpPr>
        <p:spPr>
          <a:xfrm>
            <a:off x="6263640" y="1691640"/>
            <a:ext cx="5486400" cy="274320"/>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FUTURE WORK</a:t>
            </a:r>
            <a:endParaRPr lang="en-US" dirty="0"/>
          </a:p>
        </p:txBody>
      </p:sp>
      <p:sp>
        <p:nvSpPr>
          <p:cNvPr id="8" name="Shape 6">
            <a:extLst>
              <a:ext uri="{FF2B5EF4-FFF2-40B4-BE49-F238E27FC236}">
                <a16:creationId xmlns:a16="http://schemas.microsoft.com/office/drawing/2014/main" id="{6EE39E70-F4BE-3D9B-B98D-FD476819B1C7}"/>
              </a:ext>
            </a:extLst>
          </p:cNvPr>
          <p:cNvSpPr/>
          <p:nvPr/>
        </p:nvSpPr>
        <p:spPr>
          <a:xfrm>
            <a:off x="6263640" y="2011680"/>
            <a:ext cx="5349240" cy="0"/>
          </a:xfrm>
          <a:prstGeom prst="line">
            <a:avLst/>
          </a:prstGeom>
          <a:noFill/>
          <a:ln w="12700">
            <a:solidFill>
              <a:srgbClr val="C2410C"/>
            </a:solidFill>
            <a:prstDash val="solid"/>
          </a:ln>
        </p:spPr>
      </p:sp>
      <p:sp>
        <p:nvSpPr>
          <p:cNvPr id="9" name="Shape 7">
            <a:extLst>
              <a:ext uri="{FF2B5EF4-FFF2-40B4-BE49-F238E27FC236}">
                <a16:creationId xmlns:a16="http://schemas.microsoft.com/office/drawing/2014/main" id="{FCC9AE0F-C3DF-F61B-8460-9EB7B0C0D3FB}"/>
              </a:ext>
            </a:extLst>
          </p:cNvPr>
          <p:cNvSpPr/>
          <p:nvPr/>
        </p:nvSpPr>
        <p:spPr>
          <a:xfrm>
            <a:off x="6263640" y="2194560"/>
            <a:ext cx="457200" cy="457200"/>
          </a:xfrm>
          <a:prstGeom prst="ellipse">
            <a:avLst/>
          </a:prstGeom>
          <a:solidFill>
            <a:srgbClr val="C2410C"/>
          </a:solidFill>
          <a:ln w="12700">
            <a:solidFill>
              <a:srgbClr val="C2410C"/>
            </a:solidFill>
            <a:prstDash val="solid"/>
          </a:ln>
        </p:spPr>
      </p:sp>
      <p:sp>
        <p:nvSpPr>
          <p:cNvPr id="10" name="Text 8">
            <a:extLst>
              <a:ext uri="{FF2B5EF4-FFF2-40B4-BE49-F238E27FC236}">
                <a16:creationId xmlns:a16="http://schemas.microsoft.com/office/drawing/2014/main" id="{3747C506-2123-60C5-B80A-789988DD10EF}"/>
              </a:ext>
            </a:extLst>
          </p:cNvPr>
          <p:cNvSpPr/>
          <p:nvPr/>
        </p:nvSpPr>
        <p:spPr>
          <a:xfrm>
            <a:off x="6263640" y="21945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1" name="Text 9">
            <a:extLst>
              <a:ext uri="{FF2B5EF4-FFF2-40B4-BE49-F238E27FC236}">
                <a16:creationId xmlns:a16="http://schemas.microsoft.com/office/drawing/2014/main" id="{42F292A5-DC13-8678-AB7D-71499B57BCD2}"/>
              </a:ext>
            </a:extLst>
          </p:cNvPr>
          <p:cNvSpPr/>
          <p:nvPr/>
        </p:nvSpPr>
        <p:spPr>
          <a:xfrm>
            <a:off x="6858000" y="2148840"/>
            <a:ext cx="4754880" cy="365760"/>
          </a:xfrm>
          <a:prstGeom prst="rect">
            <a:avLst/>
          </a:prstGeom>
          <a:noFill/>
          <a:ln/>
        </p:spPr>
        <p:txBody>
          <a:bodyPr wrap="square" lIns="0" tIns="0" rIns="0" bIns="0" rtlCol="0" anchor="ctr"/>
          <a:lstStyle/>
          <a:p>
            <a:pPr marL="0" indent="0">
              <a:buNone/>
            </a:pPr>
            <a:r>
              <a:rPr lang="en-US" b="1" dirty="0">
                <a:solidFill>
                  <a:srgbClr val="1A1F2E"/>
                </a:solidFill>
                <a:latin typeface="Calibri" pitchFamily="34" charset="0"/>
                <a:ea typeface="Calibri" pitchFamily="34" charset="-122"/>
                <a:cs typeface="Calibri" pitchFamily="34" charset="-120"/>
              </a:rPr>
              <a:t>Bring in non-price context</a:t>
            </a:r>
            <a:endParaRPr lang="en-US" dirty="0"/>
          </a:p>
        </p:txBody>
      </p:sp>
      <p:sp>
        <p:nvSpPr>
          <p:cNvPr id="12" name="Text 10">
            <a:extLst>
              <a:ext uri="{FF2B5EF4-FFF2-40B4-BE49-F238E27FC236}">
                <a16:creationId xmlns:a16="http://schemas.microsoft.com/office/drawing/2014/main" id="{D4E1317A-94A8-372D-D6FD-83D8F081F1E1}"/>
              </a:ext>
            </a:extLst>
          </p:cNvPr>
          <p:cNvSpPr/>
          <p:nvPr/>
        </p:nvSpPr>
        <p:spPr>
          <a:xfrm>
            <a:off x="6858000" y="2523744"/>
            <a:ext cx="4754880" cy="86868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VADER sentiment scores from financial news and technical indicators (RSI, MACD). Capture info that drives departures from the random walk.</a:t>
            </a:r>
            <a:endParaRPr lang="en-US" dirty="0"/>
          </a:p>
        </p:txBody>
      </p:sp>
      <p:sp>
        <p:nvSpPr>
          <p:cNvPr id="13" name="Shape 11">
            <a:extLst>
              <a:ext uri="{FF2B5EF4-FFF2-40B4-BE49-F238E27FC236}">
                <a16:creationId xmlns:a16="http://schemas.microsoft.com/office/drawing/2014/main" id="{A87A1E20-FEEC-8925-35F5-E41A8089B236}"/>
              </a:ext>
            </a:extLst>
          </p:cNvPr>
          <p:cNvSpPr/>
          <p:nvPr/>
        </p:nvSpPr>
        <p:spPr>
          <a:xfrm>
            <a:off x="6263640" y="3520440"/>
            <a:ext cx="457200" cy="457200"/>
          </a:xfrm>
          <a:prstGeom prst="ellipse">
            <a:avLst/>
          </a:prstGeom>
          <a:solidFill>
            <a:srgbClr val="C2410C"/>
          </a:solidFill>
          <a:ln w="12700">
            <a:solidFill>
              <a:srgbClr val="C2410C"/>
            </a:solidFill>
            <a:prstDash val="solid"/>
          </a:ln>
        </p:spPr>
      </p:sp>
      <p:sp>
        <p:nvSpPr>
          <p:cNvPr id="14" name="Text 12">
            <a:extLst>
              <a:ext uri="{FF2B5EF4-FFF2-40B4-BE49-F238E27FC236}">
                <a16:creationId xmlns:a16="http://schemas.microsoft.com/office/drawing/2014/main" id="{29DB1F4D-96E9-9F2C-8A73-AC39020250C4}"/>
              </a:ext>
            </a:extLst>
          </p:cNvPr>
          <p:cNvSpPr/>
          <p:nvPr/>
        </p:nvSpPr>
        <p:spPr>
          <a:xfrm>
            <a:off x="6263640" y="349605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5" name="Text 13">
            <a:extLst>
              <a:ext uri="{FF2B5EF4-FFF2-40B4-BE49-F238E27FC236}">
                <a16:creationId xmlns:a16="http://schemas.microsoft.com/office/drawing/2014/main" id="{41DFC79F-4523-CB7E-1676-4716AA5ED061}"/>
              </a:ext>
            </a:extLst>
          </p:cNvPr>
          <p:cNvSpPr/>
          <p:nvPr/>
        </p:nvSpPr>
        <p:spPr>
          <a:xfrm>
            <a:off x="6858000" y="3474720"/>
            <a:ext cx="4754880" cy="365760"/>
          </a:xfrm>
          <a:prstGeom prst="rect">
            <a:avLst/>
          </a:prstGeom>
          <a:noFill/>
          <a:ln/>
        </p:spPr>
        <p:txBody>
          <a:bodyPr wrap="square" lIns="0" tIns="0" rIns="0" bIns="0" rtlCol="0" anchor="ctr"/>
          <a:lstStyle/>
          <a:p>
            <a:pPr marL="0" indent="0">
              <a:buNone/>
            </a:pPr>
            <a:r>
              <a:rPr lang="en-US" sz="1400" b="1" dirty="0">
                <a:solidFill>
                  <a:srgbClr val="1A1F2E"/>
                </a:solidFill>
                <a:latin typeface="Calibri" pitchFamily="34" charset="0"/>
                <a:ea typeface="Calibri" pitchFamily="34" charset="-122"/>
                <a:cs typeface="Calibri" pitchFamily="34" charset="-120"/>
              </a:rPr>
              <a:t>Try lighter architectures</a:t>
            </a:r>
            <a:endParaRPr lang="en-US" sz="1400" dirty="0"/>
          </a:p>
        </p:txBody>
      </p:sp>
      <p:sp>
        <p:nvSpPr>
          <p:cNvPr id="16" name="Text 14">
            <a:extLst>
              <a:ext uri="{FF2B5EF4-FFF2-40B4-BE49-F238E27FC236}">
                <a16:creationId xmlns:a16="http://schemas.microsoft.com/office/drawing/2014/main" id="{3AFBF8FD-8A99-6685-3F5D-062FAB1C11FD}"/>
              </a:ext>
            </a:extLst>
          </p:cNvPr>
          <p:cNvSpPr/>
          <p:nvPr/>
        </p:nvSpPr>
        <p:spPr>
          <a:xfrm>
            <a:off x="6858000" y="3813048"/>
            <a:ext cx="4754880" cy="86868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GRU has fewer trainable parameters than LSTM and has been shown to outperform on similar time-series tasks (Saud &amp; Shakya, 2020).</a:t>
            </a:r>
            <a:endParaRPr lang="en-US" dirty="0"/>
          </a:p>
        </p:txBody>
      </p:sp>
      <p:sp>
        <p:nvSpPr>
          <p:cNvPr id="17" name="Shape 15">
            <a:extLst>
              <a:ext uri="{FF2B5EF4-FFF2-40B4-BE49-F238E27FC236}">
                <a16:creationId xmlns:a16="http://schemas.microsoft.com/office/drawing/2014/main" id="{E734577F-90B6-07EE-4A21-4E7EBFF83390}"/>
              </a:ext>
            </a:extLst>
          </p:cNvPr>
          <p:cNvSpPr/>
          <p:nvPr/>
        </p:nvSpPr>
        <p:spPr>
          <a:xfrm>
            <a:off x="6263640" y="4846320"/>
            <a:ext cx="457200" cy="457200"/>
          </a:xfrm>
          <a:prstGeom prst="ellipse">
            <a:avLst/>
          </a:prstGeom>
          <a:solidFill>
            <a:srgbClr val="C2410C"/>
          </a:solidFill>
          <a:ln w="12700">
            <a:solidFill>
              <a:srgbClr val="C2410C"/>
            </a:solidFill>
            <a:prstDash val="solid"/>
          </a:ln>
        </p:spPr>
      </p:sp>
      <p:sp>
        <p:nvSpPr>
          <p:cNvPr id="18" name="Text 16">
            <a:extLst>
              <a:ext uri="{FF2B5EF4-FFF2-40B4-BE49-F238E27FC236}">
                <a16:creationId xmlns:a16="http://schemas.microsoft.com/office/drawing/2014/main" id="{596090CF-4F56-E6F4-5CC0-A2E9CBE134F6}"/>
              </a:ext>
            </a:extLst>
          </p:cNvPr>
          <p:cNvSpPr/>
          <p:nvPr/>
        </p:nvSpPr>
        <p:spPr>
          <a:xfrm>
            <a:off x="6263640" y="48463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9" name="Text 17">
            <a:extLst>
              <a:ext uri="{FF2B5EF4-FFF2-40B4-BE49-F238E27FC236}">
                <a16:creationId xmlns:a16="http://schemas.microsoft.com/office/drawing/2014/main" id="{9F907F97-B879-2C76-F197-0BB8BB46038C}"/>
              </a:ext>
            </a:extLst>
          </p:cNvPr>
          <p:cNvSpPr/>
          <p:nvPr/>
        </p:nvSpPr>
        <p:spPr>
          <a:xfrm>
            <a:off x="6858000" y="4800600"/>
            <a:ext cx="4754880" cy="365760"/>
          </a:xfrm>
          <a:prstGeom prst="rect">
            <a:avLst/>
          </a:prstGeom>
          <a:noFill/>
          <a:ln/>
        </p:spPr>
        <p:txBody>
          <a:bodyPr wrap="square" lIns="0" tIns="0" rIns="0" bIns="0" rtlCol="0" anchor="ctr"/>
          <a:lstStyle/>
          <a:p>
            <a:pPr marL="0" indent="0">
              <a:buNone/>
            </a:pPr>
            <a:r>
              <a:rPr lang="en-US" b="1" dirty="0">
                <a:solidFill>
                  <a:srgbClr val="1A1F2E"/>
                </a:solidFill>
                <a:latin typeface="Calibri" pitchFamily="34" charset="0"/>
                <a:ea typeface="Calibri" pitchFamily="34" charset="-122"/>
                <a:cs typeface="Calibri" pitchFamily="34" charset="-120"/>
              </a:rPr>
              <a:t>Active Research</a:t>
            </a:r>
            <a:endParaRPr lang="en-US" dirty="0"/>
          </a:p>
        </p:txBody>
      </p:sp>
      <p:sp>
        <p:nvSpPr>
          <p:cNvPr id="20" name="Text 18">
            <a:extLst>
              <a:ext uri="{FF2B5EF4-FFF2-40B4-BE49-F238E27FC236}">
                <a16:creationId xmlns:a16="http://schemas.microsoft.com/office/drawing/2014/main" id="{33B29AB8-A1B3-B802-0F6B-45D5713CAD97}"/>
              </a:ext>
            </a:extLst>
          </p:cNvPr>
          <p:cNvSpPr/>
          <p:nvPr/>
        </p:nvSpPr>
        <p:spPr>
          <a:xfrm>
            <a:off x="6858000" y="5138928"/>
            <a:ext cx="4754880" cy="868680"/>
          </a:xfrm>
          <a:prstGeom prst="rect">
            <a:avLst/>
          </a:prstGeom>
          <a:noFill/>
          <a:ln/>
        </p:spPr>
        <p:txBody>
          <a:bodyPr wrap="square" lIns="0" tIns="0" rIns="0" bIns="0" rtlCol="0" anchor="ctr"/>
          <a:lstStyle/>
          <a:p>
            <a:pPr marL="0" indent="0">
              <a:buNone/>
            </a:pPr>
            <a:r>
              <a:rPr lang="en-US" dirty="0">
                <a:solidFill>
                  <a:srgbClr val="2D3343"/>
                </a:solidFill>
                <a:latin typeface="Calibri" pitchFamily="34" charset="0"/>
                <a:ea typeface="Calibri" pitchFamily="34" charset="-122"/>
                <a:cs typeface="Calibri" pitchFamily="34" charset="-120"/>
              </a:rPr>
              <a:t>Fully read up on current literature and what Machine Learning techniques outside of adding sentiment to the model is available.</a:t>
            </a:r>
            <a:endParaRPr lang="en-US" dirty="0"/>
          </a:p>
        </p:txBody>
      </p:sp>
      <p:sp>
        <p:nvSpPr>
          <p:cNvPr id="21" name="Shape 19">
            <a:extLst>
              <a:ext uri="{FF2B5EF4-FFF2-40B4-BE49-F238E27FC236}">
                <a16:creationId xmlns:a16="http://schemas.microsoft.com/office/drawing/2014/main" id="{E741B177-BAD6-E289-192A-738FD763FCCA}"/>
              </a:ext>
            </a:extLst>
          </p:cNvPr>
          <p:cNvSpPr/>
          <p:nvPr/>
        </p:nvSpPr>
        <p:spPr>
          <a:xfrm>
            <a:off x="548640" y="6446520"/>
            <a:ext cx="11094415" cy="0"/>
          </a:xfrm>
          <a:prstGeom prst="line">
            <a:avLst/>
          </a:prstGeom>
          <a:noFill/>
          <a:ln w="9525">
            <a:solidFill>
              <a:srgbClr val="E5E7EB"/>
            </a:solidFill>
            <a:prstDash val="solid"/>
          </a:ln>
        </p:spPr>
      </p:sp>
      <p:sp>
        <p:nvSpPr>
          <p:cNvPr id="22" name="Text 20">
            <a:extLst>
              <a:ext uri="{FF2B5EF4-FFF2-40B4-BE49-F238E27FC236}">
                <a16:creationId xmlns:a16="http://schemas.microsoft.com/office/drawing/2014/main" id="{5BA83F93-B491-C15D-D402-C665F701E1C0}"/>
              </a:ext>
            </a:extLst>
          </p:cNvPr>
          <p:cNvSpPr/>
          <p:nvPr/>
        </p:nvSpPr>
        <p:spPr>
          <a:xfrm>
            <a:off x="11277295" y="6492240"/>
            <a:ext cx="73152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12 / 15</a:t>
            </a:r>
            <a:endParaRPr lang="en-US" sz="1000" dirty="0"/>
          </a:p>
        </p:txBody>
      </p:sp>
    </p:spTree>
    <p:extLst>
      <p:ext uri="{BB962C8B-B14F-4D97-AF65-F5344CB8AC3E}">
        <p14:creationId xmlns:p14="http://schemas.microsoft.com/office/powerpoint/2010/main" val="4009874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25A0E-3A30-40C2-E094-BBEDBA32FE6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AA72AA3-6B47-CD10-E737-59D476B0775A}"/>
              </a:ext>
            </a:extLst>
          </p:cNvPr>
          <p:cNvSpPr/>
          <p:nvPr/>
        </p:nvSpPr>
        <p:spPr>
          <a:xfrm>
            <a:off x="548640" y="365760"/>
            <a:ext cx="10972800" cy="292608"/>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REFLECTION · QUESTION 1</a:t>
            </a:r>
            <a:endParaRPr lang="en-US" dirty="0"/>
          </a:p>
        </p:txBody>
      </p:sp>
      <p:sp>
        <p:nvSpPr>
          <p:cNvPr id="3" name="Text 1">
            <a:extLst>
              <a:ext uri="{FF2B5EF4-FFF2-40B4-BE49-F238E27FC236}">
                <a16:creationId xmlns:a16="http://schemas.microsoft.com/office/drawing/2014/main" id="{3D269DA5-4B15-E450-0634-CABAFCCB79EC}"/>
              </a:ext>
            </a:extLst>
          </p:cNvPr>
          <p:cNvSpPr/>
          <p:nvPr/>
        </p:nvSpPr>
        <p:spPr>
          <a:xfrm>
            <a:off x="548640" y="758952"/>
            <a:ext cx="7229856" cy="804672"/>
          </a:xfrm>
          <a:prstGeom prst="rect">
            <a:avLst/>
          </a:prstGeom>
          <a:noFill/>
          <a:ln/>
        </p:spPr>
        <p:txBody>
          <a:bodyPr wrap="square" lIns="0" tIns="0" rIns="0" bIns="0" rtlCol="0" anchor="ctr"/>
          <a:lstStyle/>
          <a:p>
            <a:r>
              <a:rPr lang="en-US" dirty="0">
                <a:latin typeface="Georgia" panose="02040502050405020303" pitchFamily="18" charset="0"/>
              </a:rPr>
              <a:t>What aspect of machine learning did you find most technically challenging in completing this term project?</a:t>
            </a:r>
          </a:p>
        </p:txBody>
      </p:sp>
      <p:sp>
        <p:nvSpPr>
          <p:cNvPr id="4" name="Shape 2">
            <a:extLst>
              <a:ext uri="{FF2B5EF4-FFF2-40B4-BE49-F238E27FC236}">
                <a16:creationId xmlns:a16="http://schemas.microsoft.com/office/drawing/2014/main" id="{491A2891-95EC-DBB3-BE48-19EFAF2E9AAC}"/>
              </a:ext>
            </a:extLst>
          </p:cNvPr>
          <p:cNvSpPr/>
          <p:nvPr/>
        </p:nvSpPr>
        <p:spPr>
          <a:xfrm>
            <a:off x="548640" y="1691640"/>
            <a:ext cx="11064240" cy="4526280"/>
          </a:xfrm>
          <a:prstGeom prst="rect">
            <a:avLst/>
          </a:prstGeom>
          <a:solidFill>
            <a:srgbClr val="FFFFFF"/>
          </a:solidFill>
          <a:ln w="9525">
            <a:solidFill>
              <a:srgbClr val="E5E7EB"/>
            </a:solidFill>
            <a:prstDash val="solid"/>
          </a:ln>
        </p:spPr>
      </p:sp>
      <p:sp>
        <p:nvSpPr>
          <p:cNvPr id="5" name="Shape 3">
            <a:extLst>
              <a:ext uri="{FF2B5EF4-FFF2-40B4-BE49-F238E27FC236}">
                <a16:creationId xmlns:a16="http://schemas.microsoft.com/office/drawing/2014/main" id="{F4E2341D-1AB0-EF05-BF11-38111E3F97E0}"/>
              </a:ext>
            </a:extLst>
          </p:cNvPr>
          <p:cNvSpPr/>
          <p:nvPr/>
        </p:nvSpPr>
        <p:spPr>
          <a:xfrm>
            <a:off x="548640" y="1691640"/>
            <a:ext cx="109728" cy="4526280"/>
          </a:xfrm>
          <a:prstGeom prst="rect">
            <a:avLst/>
          </a:prstGeom>
          <a:solidFill>
            <a:srgbClr val="C2410C"/>
          </a:solidFill>
          <a:ln w="12700">
            <a:solidFill>
              <a:srgbClr val="C2410C"/>
            </a:solidFill>
            <a:prstDash val="solid"/>
          </a:ln>
        </p:spPr>
      </p:sp>
      <p:sp>
        <p:nvSpPr>
          <p:cNvPr id="6" name="Text 4">
            <a:extLst>
              <a:ext uri="{FF2B5EF4-FFF2-40B4-BE49-F238E27FC236}">
                <a16:creationId xmlns:a16="http://schemas.microsoft.com/office/drawing/2014/main" id="{EF9028A7-052B-F023-29CE-B5E4883EA890}"/>
              </a:ext>
            </a:extLst>
          </p:cNvPr>
          <p:cNvSpPr/>
          <p:nvPr/>
        </p:nvSpPr>
        <p:spPr>
          <a:xfrm>
            <a:off x="868680" y="1828800"/>
            <a:ext cx="5486400" cy="365760"/>
          </a:xfrm>
          <a:prstGeom prst="rect">
            <a:avLst/>
          </a:prstGeom>
          <a:noFill/>
          <a:ln/>
        </p:spPr>
        <p:txBody>
          <a:bodyPr wrap="square" lIns="0" tIns="0" rIns="0" bIns="0" rtlCol="0" anchor="ctr"/>
          <a:lstStyle/>
          <a:p>
            <a:pPr marL="0" indent="0">
              <a:buNone/>
            </a:pPr>
            <a:r>
              <a:rPr lang="en-US" sz="1600" b="1" dirty="0">
                <a:solidFill>
                  <a:srgbClr val="1A1F2E"/>
                </a:solidFill>
                <a:latin typeface="Georgia" pitchFamily="34" charset="0"/>
                <a:ea typeface="Georgia" pitchFamily="34" charset="-122"/>
                <a:cs typeface="Georgia" pitchFamily="34" charset="-120"/>
              </a:rPr>
              <a:t>Diante Calhoun</a:t>
            </a:r>
            <a:endParaRPr lang="en-US" sz="1600" dirty="0"/>
          </a:p>
        </p:txBody>
      </p:sp>
      <p:sp>
        <p:nvSpPr>
          <p:cNvPr id="7" name="Text 5">
            <a:extLst>
              <a:ext uri="{FF2B5EF4-FFF2-40B4-BE49-F238E27FC236}">
                <a16:creationId xmlns:a16="http://schemas.microsoft.com/office/drawing/2014/main" id="{C9B7FC43-273F-38F9-1BF9-0C7FC1943C68}"/>
              </a:ext>
            </a:extLst>
          </p:cNvPr>
          <p:cNvSpPr/>
          <p:nvPr/>
        </p:nvSpPr>
        <p:spPr>
          <a:xfrm>
            <a:off x="868680" y="2194560"/>
            <a:ext cx="10058400" cy="365760"/>
          </a:xfrm>
          <a:prstGeom prst="rect">
            <a:avLst/>
          </a:prstGeom>
          <a:noFill/>
          <a:ln/>
        </p:spPr>
        <p:txBody>
          <a:bodyPr wrap="square" lIns="0" tIns="0" rIns="0" bIns="0" rtlCol="0" anchor="ctr"/>
          <a:lstStyle/>
          <a:p>
            <a:pPr marL="0" indent="0">
              <a:buNone/>
            </a:pPr>
            <a:endParaRPr lang="en-US" dirty="0"/>
          </a:p>
        </p:txBody>
      </p:sp>
      <p:sp>
        <p:nvSpPr>
          <p:cNvPr id="8" name="Text 6">
            <a:extLst>
              <a:ext uri="{FF2B5EF4-FFF2-40B4-BE49-F238E27FC236}">
                <a16:creationId xmlns:a16="http://schemas.microsoft.com/office/drawing/2014/main" id="{FA2364BA-2428-3DDC-0A34-1C33979699CF}"/>
              </a:ext>
            </a:extLst>
          </p:cNvPr>
          <p:cNvSpPr/>
          <p:nvPr/>
        </p:nvSpPr>
        <p:spPr>
          <a:xfrm>
            <a:off x="868680" y="2697480"/>
            <a:ext cx="10515600" cy="3383280"/>
          </a:xfrm>
          <a:prstGeom prst="rect">
            <a:avLst/>
          </a:prstGeom>
          <a:noFill/>
          <a:ln/>
        </p:spPr>
        <p:txBody>
          <a:bodyPr wrap="square" lIns="0" tIns="0" rIns="0" bIns="0" rtlCol="0" anchor="ctr"/>
          <a:lstStyle/>
          <a:p>
            <a:pPr marL="342900" indent="-342900">
              <a:spcAft>
                <a:spcPts val="800"/>
              </a:spcAft>
              <a:buSzPct val="100000"/>
              <a:buChar char="•"/>
            </a:pPr>
            <a:r>
              <a:rPr lang="en-US" b="1" dirty="0">
                <a:solidFill>
                  <a:srgbClr val="1A1F2E"/>
                </a:solidFill>
                <a:latin typeface="Calibri" pitchFamily="34" charset="0"/>
                <a:ea typeface="Calibri" pitchFamily="34" charset="-122"/>
                <a:cs typeface="Calibri" pitchFamily="34" charset="-120"/>
              </a:rPr>
              <a:t>Convergence behavior was fragile.</a:t>
            </a:r>
            <a:endParaRPr lang="en-US" dirty="0"/>
          </a:p>
          <a:p>
            <a:pPr marL="342900" indent="-342900">
              <a:spcAft>
                <a:spcPts val="800"/>
              </a:spcAft>
              <a:buSzPct val="100000"/>
              <a:buChar char="•"/>
            </a:pPr>
            <a:r>
              <a:rPr lang="en-US" dirty="0">
                <a:solidFill>
                  <a:srgbClr val="2D3343"/>
                </a:solidFill>
                <a:latin typeface="Calibri" pitchFamily="34" charset="0"/>
                <a:ea typeface="Calibri" pitchFamily="34" charset="-122"/>
                <a:cs typeface="Calibri" pitchFamily="34" charset="-120"/>
              </a:rPr>
              <a:t>Lookback windows of 30 and 60 days repeatedly failed to converge: small changes in learning rate, dropout, and clipnorm produced wildly different MAPE outcomes.</a:t>
            </a:r>
            <a:endParaRPr lang="en-US" dirty="0"/>
          </a:p>
          <a:p>
            <a:pPr marL="342900" indent="-342900">
              <a:spcAft>
                <a:spcPts val="800"/>
              </a:spcAft>
              <a:buSzPct val="100000"/>
              <a:buChar char="•"/>
            </a:pPr>
            <a:r>
              <a:rPr lang="en-US" b="1" dirty="0">
                <a:solidFill>
                  <a:srgbClr val="1A1F2E"/>
                </a:solidFill>
                <a:latin typeface="Calibri" pitchFamily="34" charset="0"/>
                <a:ea typeface="Calibri" pitchFamily="34" charset="-122"/>
                <a:cs typeface="Calibri" pitchFamily="34" charset="-120"/>
              </a:rPr>
              <a:t>Seed sensitivity was eye-opening.</a:t>
            </a:r>
            <a:endParaRPr lang="en-US" dirty="0"/>
          </a:p>
          <a:p>
            <a:pPr marL="342900" indent="-342900">
              <a:spcAft>
                <a:spcPts val="800"/>
              </a:spcAft>
              <a:buSzPct val="100000"/>
              <a:buChar char="•"/>
            </a:pPr>
            <a:r>
              <a:rPr lang="en-US" dirty="0">
                <a:solidFill>
                  <a:srgbClr val="2D3343"/>
                </a:solidFill>
                <a:latin typeface="Calibri" pitchFamily="34" charset="0"/>
                <a:ea typeface="Calibri" pitchFamily="34" charset="-122"/>
                <a:cs typeface="Calibri" pitchFamily="34" charset="-120"/>
              </a:rPr>
              <a:t>Same architecture, same data, three seeds — and PEP swung from 2.13% to 4.43% mean MAPE. A single-seed result would have told a misleading story either way.</a:t>
            </a:r>
            <a:endParaRPr lang="en-US" dirty="0"/>
          </a:p>
          <a:p>
            <a:pPr marL="342900" indent="-342900">
              <a:spcAft>
                <a:spcPts val="800"/>
              </a:spcAft>
              <a:buSzPct val="100000"/>
              <a:buChar char="•"/>
            </a:pPr>
            <a:r>
              <a:rPr lang="en-US" b="1" dirty="0">
                <a:solidFill>
                  <a:srgbClr val="1A1F2E"/>
                </a:solidFill>
                <a:latin typeface="Calibri" pitchFamily="34" charset="0"/>
                <a:ea typeface="Calibri" pitchFamily="34" charset="-122"/>
                <a:cs typeface="Calibri" pitchFamily="34" charset="-120"/>
              </a:rPr>
              <a:t>Building an evaluation framework that respected time was harder than building the model.</a:t>
            </a:r>
            <a:endParaRPr lang="en-US" dirty="0"/>
          </a:p>
          <a:p>
            <a:pPr marL="342900" indent="-342900">
              <a:spcAft>
                <a:spcPts val="600"/>
              </a:spcAft>
              <a:buSzPct val="100000"/>
              <a:buChar char="•"/>
            </a:pPr>
            <a:r>
              <a:rPr lang="en-US" dirty="0">
                <a:solidFill>
                  <a:srgbClr val="2D3343"/>
                </a:solidFill>
                <a:latin typeface="Calibri" pitchFamily="34" charset="0"/>
                <a:ea typeface="Calibri" pitchFamily="34" charset="-122"/>
                <a:cs typeface="Calibri" pitchFamily="34" charset="-120"/>
              </a:rPr>
              <a:t>TimeSeriesSplit, scaler-fit-on-train-only, and chronologically ordered folds were the difference between a defensible result and one I'd have to throw away.</a:t>
            </a:r>
            <a:endParaRPr lang="en-US" dirty="0"/>
          </a:p>
        </p:txBody>
      </p:sp>
      <p:sp>
        <p:nvSpPr>
          <p:cNvPr id="9" name="Shape 7">
            <a:extLst>
              <a:ext uri="{FF2B5EF4-FFF2-40B4-BE49-F238E27FC236}">
                <a16:creationId xmlns:a16="http://schemas.microsoft.com/office/drawing/2014/main" id="{02EAAFEA-F1F7-5E0C-1D36-985B03217279}"/>
              </a:ext>
            </a:extLst>
          </p:cNvPr>
          <p:cNvSpPr/>
          <p:nvPr/>
        </p:nvSpPr>
        <p:spPr>
          <a:xfrm>
            <a:off x="548640" y="6446520"/>
            <a:ext cx="11094415" cy="0"/>
          </a:xfrm>
          <a:prstGeom prst="line">
            <a:avLst/>
          </a:prstGeom>
          <a:noFill/>
          <a:ln w="9525">
            <a:solidFill>
              <a:srgbClr val="E5E7EB"/>
            </a:solidFill>
            <a:prstDash val="solid"/>
          </a:ln>
        </p:spPr>
      </p:sp>
      <p:sp>
        <p:nvSpPr>
          <p:cNvPr id="10" name="Text 8">
            <a:extLst>
              <a:ext uri="{FF2B5EF4-FFF2-40B4-BE49-F238E27FC236}">
                <a16:creationId xmlns:a16="http://schemas.microsoft.com/office/drawing/2014/main" id="{4C8D3668-DD15-7E1D-A8D8-71831F5B5750}"/>
              </a:ext>
            </a:extLst>
          </p:cNvPr>
          <p:cNvSpPr/>
          <p:nvPr/>
        </p:nvSpPr>
        <p:spPr>
          <a:xfrm>
            <a:off x="11277295" y="6492240"/>
            <a:ext cx="73152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13 / 15</a:t>
            </a:r>
            <a:endParaRPr lang="en-US" sz="1000" dirty="0"/>
          </a:p>
        </p:txBody>
      </p:sp>
    </p:spTree>
    <p:extLst>
      <p:ext uri="{BB962C8B-B14F-4D97-AF65-F5344CB8AC3E}">
        <p14:creationId xmlns:p14="http://schemas.microsoft.com/office/powerpoint/2010/main" val="1893763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330E9-D8A2-15BE-ABE6-379E707AB61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63369CD-9283-982C-3DFD-10929A7AFCA8}"/>
              </a:ext>
            </a:extLst>
          </p:cNvPr>
          <p:cNvSpPr/>
          <p:nvPr/>
        </p:nvSpPr>
        <p:spPr>
          <a:xfrm>
            <a:off x="548640" y="280416"/>
            <a:ext cx="10972800" cy="292608"/>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REFLECTION · QUESTION 2</a:t>
            </a:r>
            <a:endParaRPr lang="en-US" dirty="0"/>
          </a:p>
        </p:txBody>
      </p:sp>
      <p:sp>
        <p:nvSpPr>
          <p:cNvPr id="3" name="Text 1">
            <a:extLst>
              <a:ext uri="{FF2B5EF4-FFF2-40B4-BE49-F238E27FC236}">
                <a16:creationId xmlns:a16="http://schemas.microsoft.com/office/drawing/2014/main" id="{023D594A-F983-9A4F-964F-08D1338913F5}"/>
              </a:ext>
            </a:extLst>
          </p:cNvPr>
          <p:cNvSpPr/>
          <p:nvPr/>
        </p:nvSpPr>
        <p:spPr>
          <a:xfrm>
            <a:off x="548640" y="658368"/>
            <a:ext cx="9302496" cy="804672"/>
          </a:xfrm>
          <a:prstGeom prst="rect">
            <a:avLst/>
          </a:prstGeom>
          <a:noFill/>
          <a:ln/>
        </p:spPr>
        <p:txBody>
          <a:bodyPr wrap="square" lIns="0" tIns="0" rIns="0" bIns="0" rtlCol="0" anchor="ctr"/>
          <a:lstStyle/>
          <a:p>
            <a:r>
              <a:rPr lang="en-US" dirty="0">
                <a:latin typeface="Georgia" panose="02040502050405020303" pitchFamily="18" charset="0"/>
              </a:rPr>
              <a:t>What aspect of machine learning do you think you learned the most about over the course of the project?</a:t>
            </a:r>
          </a:p>
        </p:txBody>
      </p:sp>
      <p:sp>
        <p:nvSpPr>
          <p:cNvPr id="4" name="Shape 2">
            <a:extLst>
              <a:ext uri="{FF2B5EF4-FFF2-40B4-BE49-F238E27FC236}">
                <a16:creationId xmlns:a16="http://schemas.microsoft.com/office/drawing/2014/main" id="{B4C7BFEA-6777-FEB9-B6A4-5DBFA5DC0371}"/>
              </a:ext>
            </a:extLst>
          </p:cNvPr>
          <p:cNvSpPr/>
          <p:nvPr/>
        </p:nvSpPr>
        <p:spPr>
          <a:xfrm>
            <a:off x="548640" y="1691640"/>
            <a:ext cx="11064240" cy="4526280"/>
          </a:xfrm>
          <a:prstGeom prst="rect">
            <a:avLst/>
          </a:prstGeom>
          <a:solidFill>
            <a:srgbClr val="FFFFFF"/>
          </a:solidFill>
          <a:ln w="9525">
            <a:solidFill>
              <a:srgbClr val="E5E7EB"/>
            </a:solidFill>
            <a:prstDash val="solid"/>
          </a:ln>
        </p:spPr>
      </p:sp>
      <p:sp>
        <p:nvSpPr>
          <p:cNvPr id="5" name="Shape 3">
            <a:extLst>
              <a:ext uri="{FF2B5EF4-FFF2-40B4-BE49-F238E27FC236}">
                <a16:creationId xmlns:a16="http://schemas.microsoft.com/office/drawing/2014/main" id="{3B456E2A-86C8-C9D5-12A8-9313178E6CCF}"/>
              </a:ext>
            </a:extLst>
          </p:cNvPr>
          <p:cNvSpPr/>
          <p:nvPr/>
        </p:nvSpPr>
        <p:spPr>
          <a:xfrm>
            <a:off x="548640" y="1691640"/>
            <a:ext cx="109728" cy="4526280"/>
          </a:xfrm>
          <a:prstGeom prst="rect">
            <a:avLst/>
          </a:prstGeom>
          <a:solidFill>
            <a:srgbClr val="0F766E"/>
          </a:solidFill>
          <a:ln w="12700">
            <a:solidFill>
              <a:srgbClr val="0F766E"/>
            </a:solidFill>
            <a:prstDash val="solid"/>
          </a:ln>
        </p:spPr>
      </p:sp>
      <p:sp>
        <p:nvSpPr>
          <p:cNvPr id="6" name="Text 4">
            <a:extLst>
              <a:ext uri="{FF2B5EF4-FFF2-40B4-BE49-F238E27FC236}">
                <a16:creationId xmlns:a16="http://schemas.microsoft.com/office/drawing/2014/main" id="{D85E4178-4464-EFC4-3A9A-3EFAE9C6D989}"/>
              </a:ext>
            </a:extLst>
          </p:cNvPr>
          <p:cNvSpPr/>
          <p:nvPr/>
        </p:nvSpPr>
        <p:spPr>
          <a:xfrm>
            <a:off x="868680" y="1828800"/>
            <a:ext cx="5486400" cy="365760"/>
          </a:xfrm>
          <a:prstGeom prst="rect">
            <a:avLst/>
          </a:prstGeom>
          <a:noFill/>
          <a:ln/>
        </p:spPr>
        <p:txBody>
          <a:bodyPr wrap="square" lIns="0" tIns="0" rIns="0" bIns="0" rtlCol="0" anchor="ctr"/>
          <a:lstStyle/>
          <a:p>
            <a:pPr marL="0" indent="0">
              <a:buNone/>
            </a:pPr>
            <a:r>
              <a:rPr lang="en-US" sz="1600" b="1" dirty="0">
                <a:solidFill>
                  <a:srgbClr val="1A1F2E"/>
                </a:solidFill>
                <a:latin typeface="Georgia" pitchFamily="34" charset="0"/>
                <a:ea typeface="Georgia" pitchFamily="34" charset="-122"/>
                <a:cs typeface="Georgia" pitchFamily="34" charset="-120"/>
              </a:rPr>
              <a:t>Diante Calhoun</a:t>
            </a:r>
            <a:endParaRPr lang="en-US" sz="1600" dirty="0"/>
          </a:p>
        </p:txBody>
      </p:sp>
      <p:sp>
        <p:nvSpPr>
          <p:cNvPr id="7" name="Text 5">
            <a:extLst>
              <a:ext uri="{FF2B5EF4-FFF2-40B4-BE49-F238E27FC236}">
                <a16:creationId xmlns:a16="http://schemas.microsoft.com/office/drawing/2014/main" id="{3C7A3B6A-76B3-8065-14C5-F1D6A3C03B27}"/>
              </a:ext>
            </a:extLst>
          </p:cNvPr>
          <p:cNvSpPr/>
          <p:nvPr/>
        </p:nvSpPr>
        <p:spPr>
          <a:xfrm>
            <a:off x="868680" y="2194560"/>
            <a:ext cx="10058400" cy="365760"/>
          </a:xfrm>
          <a:prstGeom prst="rect">
            <a:avLst/>
          </a:prstGeom>
          <a:noFill/>
          <a:ln/>
        </p:spPr>
        <p:txBody>
          <a:bodyPr wrap="square" lIns="0" tIns="0" rIns="0" bIns="0" rtlCol="0" anchor="ctr"/>
          <a:lstStyle/>
          <a:p>
            <a:pPr marL="0" indent="0">
              <a:buNone/>
            </a:pPr>
            <a:endParaRPr lang="en-US" sz="1300" dirty="0"/>
          </a:p>
        </p:txBody>
      </p:sp>
      <p:sp>
        <p:nvSpPr>
          <p:cNvPr id="8" name="Text 6">
            <a:extLst>
              <a:ext uri="{FF2B5EF4-FFF2-40B4-BE49-F238E27FC236}">
                <a16:creationId xmlns:a16="http://schemas.microsoft.com/office/drawing/2014/main" id="{710D1699-F10D-3A0E-A532-B550019232AC}"/>
              </a:ext>
            </a:extLst>
          </p:cNvPr>
          <p:cNvSpPr/>
          <p:nvPr/>
        </p:nvSpPr>
        <p:spPr>
          <a:xfrm>
            <a:off x="868680" y="2697480"/>
            <a:ext cx="10515600" cy="3383280"/>
          </a:xfrm>
          <a:prstGeom prst="rect">
            <a:avLst/>
          </a:prstGeom>
          <a:noFill/>
          <a:ln/>
        </p:spPr>
        <p:txBody>
          <a:bodyPr wrap="square" lIns="0" tIns="0" rIns="0" bIns="0" rtlCol="0" anchor="ctr"/>
          <a:lstStyle/>
          <a:p>
            <a:pPr marL="342900" indent="-342900">
              <a:spcAft>
                <a:spcPts val="800"/>
              </a:spcAft>
              <a:buSzPct val="100000"/>
              <a:buChar char="•"/>
            </a:pPr>
            <a:r>
              <a:rPr lang="en-US" b="1" dirty="0">
                <a:solidFill>
                  <a:srgbClr val="1A1F2E"/>
                </a:solidFill>
                <a:latin typeface="Calibri" pitchFamily="34" charset="0"/>
                <a:ea typeface="Calibri" pitchFamily="34" charset="-122"/>
                <a:cs typeface="Calibri" pitchFamily="34" charset="-120"/>
              </a:rPr>
              <a:t>Importance of Baselines.</a:t>
            </a:r>
            <a:endParaRPr lang="en-US" dirty="0"/>
          </a:p>
          <a:p>
            <a:pPr marL="342900" indent="-342900">
              <a:spcAft>
                <a:spcPts val="800"/>
              </a:spcAft>
              <a:buSzPct val="100000"/>
              <a:buChar char="•"/>
            </a:pPr>
            <a:r>
              <a:rPr lang="en-US" dirty="0">
                <a:solidFill>
                  <a:srgbClr val="2D3343"/>
                </a:solidFill>
                <a:latin typeface="Calibri" pitchFamily="34" charset="0"/>
                <a:ea typeface="Calibri" pitchFamily="34" charset="-122"/>
                <a:cs typeface="Calibri" pitchFamily="34" charset="-120"/>
              </a:rPr>
              <a:t>Without the Naive Baseline, the LSTM's 3% MAPE looks 'pretty good.' With it, the answer is unambiguous: the model lost. A weak benchmark would have hidden the real story.</a:t>
            </a:r>
            <a:endParaRPr lang="en-US" dirty="0"/>
          </a:p>
          <a:p>
            <a:pPr marL="342900" indent="-342900">
              <a:spcAft>
                <a:spcPts val="800"/>
              </a:spcAft>
              <a:buSzPct val="100000"/>
              <a:buChar char="•"/>
            </a:pPr>
            <a:r>
              <a:rPr lang="en-US" b="1" dirty="0">
                <a:solidFill>
                  <a:srgbClr val="1A1F2E"/>
                </a:solidFill>
                <a:latin typeface="Calibri" pitchFamily="34" charset="0"/>
                <a:ea typeface="Calibri" pitchFamily="34" charset="-122"/>
                <a:cs typeface="Calibri" pitchFamily="34" charset="-120"/>
              </a:rPr>
              <a:t>Near 2</a:t>
            </a:r>
            <a:r>
              <a:rPr lang="en-US" b="1" baseline="30000" dirty="0">
                <a:solidFill>
                  <a:srgbClr val="1A1F2E"/>
                </a:solidFill>
                <a:latin typeface="Calibri" pitchFamily="34" charset="0"/>
                <a:ea typeface="Calibri" pitchFamily="34" charset="-122"/>
                <a:cs typeface="Calibri" pitchFamily="34" charset="-120"/>
              </a:rPr>
              <a:t>nd</a:t>
            </a:r>
            <a:r>
              <a:rPr lang="en-US" b="1" dirty="0">
                <a:solidFill>
                  <a:srgbClr val="1A1F2E"/>
                </a:solidFill>
                <a:latin typeface="Calibri" pitchFamily="34" charset="0"/>
                <a:ea typeface="Calibri" pitchFamily="34" charset="-122"/>
                <a:cs typeface="Calibri" pitchFamily="34" charset="-120"/>
              </a:rPr>
              <a:t>, how much small changes to different hyperparameters on a model can really impact it.</a:t>
            </a:r>
          </a:p>
          <a:p>
            <a:pPr marL="342900" indent="-342900">
              <a:spcAft>
                <a:spcPts val="800"/>
              </a:spcAft>
              <a:buSzPct val="100000"/>
              <a:buChar char="•"/>
            </a:pPr>
            <a:r>
              <a:rPr lang="en-US" dirty="0">
                <a:solidFill>
                  <a:srgbClr val="2D3343"/>
                </a:solidFill>
                <a:latin typeface="Calibri" pitchFamily="34" charset="0"/>
                <a:ea typeface="Calibri" pitchFamily="34" charset="-122"/>
                <a:cs typeface="Calibri" pitchFamily="34" charset="-120"/>
              </a:rPr>
              <a:t>Playing around with the learning rate, changing the patience, the epoch rounds available was something that really impacted my work. Adding </a:t>
            </a:r>
            <a:r>
              <a:rPr lang="en-US" dirty="0" err="1">
                <a:solidFill>
                  <a:srgbClr val="2D3343"/>
                </a:solidFill>
                <a:latin typeface="Calibri" pitchFamily="34" charset="0"/>
                <a:ea typeface="Calibri" pitchFamily="34" charset="-122"/>
                <a:cs typeface="Calibri" pitchFamily="34" charset="-120"/>
              </a:rPr>
              <a:t>clipnorm</a:t>
            </a:r>
            <a:r>
              <a:rPr lang="en-US" dirty="0">
                <a:solidFill>
                  <a:srgbClr val="2D3343"/>
                </a:solidFill>
                <a:latin typeface="Calibri" pitchFamily="34" charset="0"/>
                <a:ea typeface="Calibri" pitchFamily="34" charset="-122"/>
                <a:cs typeface="Calibri" pitchFamily="34" charset="-120"/>
              </a:rPr>
              <a:t> to stop exploding gradients was super important to start to ease the LSTM model into under 25% range. Impact of batch size. </a:t>
            </a:r>
          </a:p>
        </p:txBody>
      </p:sp>
      <p:sp>
        <p:nvSpPr>
          <p:cNvPr id="9" name="Shape 7">
            <a:extLst>
              <a:ext uri="{FF2B5EF4-FFF2-40B4-BE49-F238E27FC236}">
                <a16:creationId xmlns:a16="http://schemas.microsoft.com/office/drawing/2014/main" id="{C6A5D0BE-907C-999C-C4B2-7847960C9103}"/>
              </a:ext>
            </a:extLst>
          </p:cNvPr>
          <p:cNvSpPr/>
          <p:nvPr/>
        </p:nvSpPr>
        <p:spPr>
          <a:xfrm>
            <a:off x="548640" y="6446520"/>
            <a:ext cx="11094415" cy="0"/>
          </a:xfrm>
          <a:prstGeom prst="line">
            <a:avLst/>
          </a:prstGeom>
          <a:noFill/>
          <a:ln w="9525">
            <a:solidFill>
              <a:srgbClr val="E5E7EB"/>
            </a:solidFill>
            <a:prstDash val="solid"/>
          </a:ln>
        </p:spPr>
      </p:sp>
      <p:sp>
        <p:nvSpPr>
          <p:cNvPr id="10" name="Text 8">
            <a:extLst>
              <a:ext uri="{FF2B5EF4-FFF2-40B4-BE49-F238E27FC236}">
                <a16:creationId xmlns:a16="http://schemas.microsoft.com/office/drawing/2014/main" id="{D7F4763C-5932-4E97-5A7D-CE5B803874AB}"/>
              </a:ext>
            </a:extLst>
          </p:cNvPr>
          <p:cNvSpPr/>
          <p:nvPr/>
        </p:nvSpPr>
        <p:spPr>
          <a:xfrm>
            <a:off x="11277295" y="6492240"/>
            <a:ext cx="73152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14 / 15</a:t>
            </a:r>
            <a:endParaRPr lang="en-US" sz="1000" dirty="0"/>
          </a:p>
        </p:txBody>
      </p:sp>
    </p:spTree>
    <p:extLst>
      <p:ext uri="{BB962C8B-B14F-4D97-AF65-F5344CB8AC3E}">
        <p14:creationId xmlns:p14="http://schemas.microsoft.com/office/powerpoint/2010/main" val="2179719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2EBC4-F85B-00F4-C5A0-02162B4C9F1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DBBAF8D-CF98-9DE2-4FB0-900E7F281964}"/>
              </a:ext>
            </a:extLst>
          </p:cNvPr>
          <p:cNvSpPr/>
          <p:nvPr/>
        </p:nvSpPr>
        <p:spPr>
          <a:xfrm>
            <a:off x="548640" y="292608"/>
            <a:ext cx="10972800" cy="292608"/>
          </a:xfrm>
          <a:prstGeom prst="rect">
            <a:avLst/>
          </a:prstGeom>
          <a:noFill/>
          <a:ln/>
        </p:spPr>
        <p:txBody>
          <a:bodyPr wrap="square" lIns="0" tIns="0" rIns="0" bIns="0" rtlCol="0" anchor="ctr"/>
          <a:lstStyle/>
          <a:p>
            <a:pPr marL="0" indent="0">
              <a:buNone/>
            </a:pPr>
            <a:r>
              <a:rPr lang="en-US" b="1" kern="0" spc="400" dirty="0">
                <a:solidFill>
                  <a:srgbClr val="C2410C"/>
                </a:solidFill>
                <a:latin typeface="Calibri" pitchFamily="34" charset="0"/>
                <a:ea typeface="Calibri" pitchFamily="34" charset="-122"/>
                <a:cs typeface="Calibri" pitchFamily="34" charset="-120"/>
              </a:rPr>
              <a:t>REFLECTION · QUESTION 3</a:t>
            </a:r>
            <a:endParaRPr lang="en-US" dirty="0"/>
          </a:p>
        </p:txBody>
      </p:sp>
      <p:sp>
        <p:nvSpPr>
          <p:cNvPr id="3" name="Text 1">
            <a:extLst>
              <a:ext uri="{FF2B5EF4-FFF2-40B4-BE49-F238E27FC236}">
                <a16:creationId xmlns:a16="http://schemas.microsoft.com/office/drawing/2014/main" id="{CB304FFD-E253-0331-C1E8-4269E52AF448}"/>
              </a:ext>
            </a:extLst>
          </p:cNvPr>
          <p:cNvSpPr/>
          <p:nvPr/>
        </p:nvSpPr>
        <p:spPr>
          <a:xfrm>
            <a:off x="548640" y="658367"/>
            <a:ext cx="9180576" cy="987553"/>
          </a:xfrm>
          <a:prstGeom prst="rect">
            <a:avLst/>
          </a:prstGeom>
          <a:noFill/>
          <a:ln/>
        </p:spPr>
        <p:txBody>
          <a:bodyPr wrap="square" lIns="0" tIns="0" rIns="0" bIns="0" rtlCol="0" anchor="ctr"/>
          <a:lstStyle/>
          <a:p>
            <a:r>
              <a:rPr lang="en-US" dirty="0">
                <a:latin typeface="Georgia" panose="02040502050405020303" pitchFamily="18" charset="0"/>
              </a:rPr>
              <a:t>What is your top priority for future work, if you were to continue this project as a research project or in independent study?</a:t>
            </a:r>
          </a:p>
        </p:txBody>
      </p:sp>
      <p:sp>
        <p:nvSpPr>
          <p:cNvPr id="4" name="Shape 2">
            <a:extLst>
              <a:ext uri="{FF2B5EF4-FFF2-40B4-BE49-F238E27FC236}">
                <a16:creationId xmlns:a16="http://schemas.microsoft.com/office/drawing/2014/main" id="{F92CB7D6-6375-9B1E-8C9A-C4BB8F4B40B6}"/>
              </a:ext>
            </a:extLst>
          </p:cNvPr>
          <p:cNvSpPr/>
          <p:nvPr/>
        </p:nvSpPr>
        <p:spPr>
          <a:xfrm>
            <a:off x="548640" y="1691640"/>
            <a:ext cx="11064240" cy="4526280"/>
          </a:xfrm>
          <a:prstGeom prst="rect">
            <a:avLst/>
          </a:prstGeom>
          <a:solidFill>
            <a:srgbClr val="FFFFFF"/>
          </a:solidFill>
          <a:ln w="9525">
            <a:solidFill>
              <a:srgbClr val="E5E7EB"/>
            </a:solidFill>
            <a:prstDash val="solid"/>
          </a:ln>
        </p:spPr>
      </p:sp>
      <p:sp>
        <p:nvSpPr>
          <p:cNvPr id="5" name="Shape 3">
            <a:extLst>
              <a:ext uri="{FF2B5EF4-FFF2-40B4-BE49-F238E27FC236}">
                <a16:creationId xmlns:a16="http://schemas.microsoft.com/office/drawing/2014/main" id="{651347C6-9E0E-AB5F-C7DB-55F90BD72133}"/>
              </a:ext>
            </a:extLst>
          </p:cNvPr>
          <p:cNvSpPr/>
          <p:nvPr/>
        </p:nvSpPr>
        <p:spPr>
          <a:xfrm>
            <a:off x="548640" y="1691640"/>
            <a:ext cx="109728" cy="4526280"/>
          </a:xfrm>
          <a:prstGeom prst="rect">
            <a:avLst/>
          </a:prstGeom>
          <a:solidFill>
            <a:srgbClr val="1E2A4A"/>
          </a:solidFill>
          <a:ln w="12700">
            <a:solidFill>
              <a:srgbClr val="1E2A4A"/>
            </a:solidFill>
            <a:prstDash val="solid"/>
          </a:ln>
        </p:spPr>
      </p:sp>
      <p:sp>
        <p:nvSpPr>
          <p:cNvPr id="6" name="Text 4">
            <a:extLst>
              <a:ext uri="{FF2B5EF4-FFF2-40B4-BE49-F238E27FC236}">
                <a16:creationId xmlns:a16="http://schemas.microsoft.com/office/drawing/2014/main" id="{38CEBF19-2CAD-49C4-3A89-84A3E6893DB1}"/>
              </a:ext>
            </a:extLst>
          </p:cNvPr>
          <p:cNvSpPr/>
          <p:nvPr/>
        </p:nvSpPr>
        <p:spPr>
          <a:xfrm>
            <a:off x="868680" y="1828800"/>
            <a:ext cx="5486400" cy="365760"/>
          </a:xfrm>
          <a:prstGeom prst="rect">
            <a:avLst/>
          </a:prstGeom>
          <a:noFill/>
          <a:ln/>
        </p:spPr>
        <p:txBody>
          <a:bodyPr wrap="square" lIns="0" tIns="0" rIns="0" bIns="0" rtlCol="0" anchor="ctr"/>
          <a:lstStyle/>
          <a:p>
            <a:pPr marL="0" indent="0">
              <a:buNone/>
            </a:pPr>
            <a:r>
              <a:rPr lang="en-US" sz="1600" b="1" dirty="0">
                <a:solidFill>
                  <a:srgbClr val="1A1F2E"/>
                </a:solidFill>
                <a:latin typeface="Georgia" pitchFamily="34" charset="0"/>
                <a:ea typeface="Georgia" pitchFamily="34" charset="-122"/>
                <a:cs typeface="Georgia" pitchFamily="34" charset="-120"/>
              </a:rPr>
              <a:t>Diante Calhoun</a:t>
            </a:r>
            <a:endParaRPr lang="en-US" sz="1600" dirty="0"/>
          </a:p>
        </p:txBody>
      </p:sp>
      <p:sp>
        <p:nvSpPr>
          <p:cNvPr id="7" name="Text 5">
            <a:extLst>
              <a:ext uri="{FF2B5EF4-FFF2-40B4-BE49-F238E27FC236}">
                <a16:creationId xmlns:a16="http://schemas.microsoft.com/office/drawing/2014/main" id="{00762334-7E9D-481D-25C3-9B33BB843327}"/>
              </a:ext>
            </a:extLst>
          </p:cNvPr>
          <p:cNvSpPr/>
          <p:nvPr/>
        </p:nvSpPr>
        <p:spPr>
          <a:xfrm>
            <a:off x="868680" y="2194560"/>
            <a:ext cx="10698480" cy="365760"/>
          </a:xfrm>
          <a:prstGeom prst="rect">
            <a:avLst/>
          </a:prstGeom>
          <a:noFill/>
          <a:ln/>
        </p:spPr>
        <p:txBody>
          <a:bodyPr wrap="square" lIns="0" tIns="0" rIns="0" bIns="0" rtlCol="0" anchor="ctr"/>
          <a:lstStyle/>
          <a:p>
            <a:pPr marL="0" indent="0">
              <a:buNone/>
            </a:pPr>
            <a:endParaRPr lang="en-US" sz="1300" dirty="0"/>
          </a:p>
        </p:txBody>
      </p:sp>
      <p:sp>
        <p:nvSpPr>
          <p:cNvPr id="8" name="Text 6">
            <a:extLst>
              <a:ext uri="{FF2B5EF4-FFF2-40B4-BE49-F238E27FC236}">
                <a16:creationId xmlns:a16="http://schemas.microsoft.com/office/drawing/2014/main" id="{E7647619-82D9-4AAA-89D3-C581F1806CC5}"/>
              </a:ext>
            </a:extLst>
          </p:cNvPr>
          <p:cNvSpPr/>
          <p:nvPr/>
        </p:nvSpPr>
        <p:spPr>
          <a:xfrm>
            <a:off x="868680" y="2697480"/>
            <a:ext cx="10515600" cy="3383280"/>
          </a:xfrm>
          <a:prstGeom prst="rect">
            <a:avLst/>
          </a:prstGeom>
          <a:noFill/>
          <a:ln/>
        </p:spPr>
        <p:txBody>
          <a:bodyPr wrap="square" lIns="0" tIns="0" rIns="0" bIns="0" rtlCol="0" anchor="ctr"/>
          <a:lstStyle/>
          <a:p>
            <a:pPr marL="342900" indent="-342900">
              <a:spcAft>
                <a:spcPts val="800"/>
              </a:spcAft>
              <a:buSzPct val="100000"/>
              <a:buChar char="•"/>
            </a:pPr>
            <a:r>
              <a:rPr lang="en-US" b="1" dirty="0">
                <a:solidFill>
                  <a:srgbClr val="1A1F2E"/>
                </a:solidFill>
                <a:latin typeface="Calibri" pitchFamily="34" charset="0"/>
                <a:ea typeface="Calibri" pitchFamily="34" charset="-122"/>
                <a:cs typeface="Calibri" pitchFamily="34" charset="-120"/>
              </a:rPr>
              <a:t>Add sentiment as the first new feature.</a:t>
            </a:r>
            <a:endParaRPr lang="en-US" dirty="0"/>
          </a:p>
          <a:p>
            <a:pPr marL="342900" indent="-342900">
              <a:spcAft>
                <a:spcPts val="800"/>
              </a:spcAft>
              <a:buSzPct val="100000"/>
              <a:buChar char="•"/>
            </a:pPr>
            <a:r>
              <a:rPr lang="en-US" dirty="0">
                <a:solidFill>
                  <a:srgbClr val="2D3343"/>
                </a:solidFill>
                <a:latin typeface="Calibri" pitchFamily="34" charset="0"/>
                <a:ea typeface="Calibri" pitchFamily="34" charset="-122"/>
                <a:cs typeface="Calibri" pitchFamily="34" charset="-120"/>
              </a:rPr>
              <a:t>FinBERT or VADER scores from financial news. I think this can absolutely add noise and makes it more complex, but I’m curious how much it can drive the model to perform.</a:t>
            </a:r>
            <a:endParaRPr lang="en-US" dirty="0"/>
          </a:p>
          <a:p>
            <a:pPr marL="342900" indent="-342900">
              <a:spcAft>
                <a:spcPts val="800"/>
              </a:spcAft>
              <a:buSzPct val="100000"/>
              <a:buChar char="•"/>
            </a:pPr>
            <a:r>
              <a:rPr lang="en-US" b="1" dirty="0">
                <a:solidFill>
                  <a:srgbClr val="1A1F2E"/>
                </a:solidFill>
                <a:latin typeface="Calibri" pitchFamily="34" charset="0"/>
                <a:ea typeface="Calibri" pitchFamily="34" charset="-122"/>
                <a:cs typeface="Calibri" pitchFamily="34" charset="-120"/>
              </a:rPr>
              <a:t>Re-test against the same Naive Baseline, across more seeds</a:t>
            </a:r>
            <a:endParaRPr lang="en-US" dirty="0"/>
          </a:p>
          <a:p>
            <a:pPr marL="342900" indent="-342900">
              <a:spcAft>
                <a:spcPts val="800"/>
              </a:spcAft>
              <a:buSzPct val="100000"/>
              <a:buChar char="•"/>
            </a:pPr>
            <a:r>
              <a:rPr lang="en-US" dirty="0">
                <a:solidFill>
                  <a:srgbClr val="2D3343"/>
                </a:solidFill>
                <a:latin typeface="Calibri" pitchFamily="34" charset="0"/>
                <a:ea typeface="Calibri" pitchFamily="34" charset="-122"/>
                <a:cs typeface="Calibri" pitchFamily="34" charset="-120"/>
              </a:rPr>
              <a:t>I actually want to run this across more seeds to see how much Seed 42 dragged down the mean.</a:t>
            </a:r>
            <a:endParaRPr lang="en-US" dirty="0"/>
          </a:p>
          <a:p>
            <a:pPr marL="342900" indent="-342900">
              <a:spcAft>
                <a:spcPts val="800"/>
              </a:spcAft>
              <a:buSzPct val="100000"/>
              <a:buChar char="•"/>
            </a:pPr>
            <a:r>
              <a:rPr lang="en-US" b="1" dirty="0">
                <a:solidFill>
                  <a:srgbClr val="1A1F2E"/>
                </a:solidFill>
                <a:latin typeface="Calibri" pitchFamily="34" charset="0"/>
                <a:ea typeface="Calibri" pitchFamily="34" charset="-122"/>
                <a:cs typeface="Calibri" pitchFamily="34" charset="-120"/>
              </a:rPr>
              <a:t>Then maybe try a Gated Recurrent Unit</a:t>
            </a:r>
            <a:endParaRPr lang="en-US" dirty="0"/>
          </a:p>
          <a:p>
            <a:pPr marL="342900" indent="-342900">
              <a:spcAft>
                <a:spcPts val="600"/>
              </a:spcAft>
              <a:buSzPct val="100000"/>
              <a:buChar char="•"/>
            </a:pPr>
            <a:r>
              <a:rPr lang="en-US" dirty="0">
                <a:solidFill>
                  <a:srgbClr val="2D3343"/>
                </a:solidFill>
                <a:latin typeface="Calibri" pitchFamily="34" charset="0"/>
                <a:ea typeface="Calibri" pitchFamily="34" charset="-122"/>
                <a:cs typeface="Calibri" pitchFamily="34" charset="-120"/>
              </a:rPr>
              <a:t>I’m still not really sure I understand the difference, but I’d like to investigate and really understand the nuance between LSTM’s and GRUs.</a:t>
            </a:r>
            <a:endParaRPr lang="en-US" dirty="0"/>
          </a:p>
        </p:txBody>
      </p:sp>
      <p:sp>
        <p:nvSpPr>
          <p:cNvPr id="9" name="Shape 7">
            <a:extLst>
              <a:ext uri="{FF2B5EF4-FFF2-40B4-BE49-F238E27FC236}">
                <a16:creationId xmlns:a16="http://schemas.microsoft.com/office/drawing/2014/main" id="{E0BED550-6181-57F9-CD4C-FB990BC457C3}"/>
              </a:ext>
            </a:extLst>
          </p:cNvPr>
          <p:cNvSpPr/>
          <p:nvPr/>
        </p:nvSpPr>
        <p:spPr>
          <a:xfrm>
            <a:off x="548640" y="6446520"/>
            <a:ext cx="11094415" cy="0"/>
          </a:xfrm>
          <a:prstGeom prst="line">
            <a:avLst/>
          </a:prstGeom>
          <a:noFill/>
          <a:ln w="9525">
            <a:solidFill>
              <a:srgbClr val="E5E7EB"/>
            </a:solidFill>
            <a:prstDash val="solid"/>
          </a:ln>
        </p:spPr>
      </p:sp>
      <p:sp>
        <p:nvSpPr>
          <p:cNvPr id="10" name="Text 8">
            <a:extLst>
              <a:ext uri="{FF2B5EF4-FFF2-40B4-BE49-F238E27FC236}">
                <a16:creationId xmlns:a16="http://schemas.microsoft.com/office/drawing/2014/main" id="{36D17B07-260F-3CAE-95E2-3764D0AB6BC1}"/>
              </a:ext>
            </a:extLst>
          </p:cNvPr>
          <p:cNvSpPr/>
          <p:nvPr/>
        </p:nvSpPr>
        <p:spPr>
          <a:xfrm>
            <a:off x="11277295" y="6492240"/>
            <a:ext cx="73152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15 / 15</a:t>
            </a:r>
            <a:endParaRPr lang="en-US" sz="1000" dirty="0"/>
          </a:p>
        </p:txBody>
      </p:sp>
    </p:spTree>
    <p:extLst>
      <p:ext uri="{BB962C8B-B14F-4D97-AF65-F5344CB8AC3E}">
        <p14:creationId xmlns:p14="http://schemas.microsoft.com/office/powerpoint/2010/main" val="185095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{DA10A360-3F95-4782-BA61-EF844BAC149E}TF229edf6a-8a49-49ee-a0a6-5037052947485fb3ca0c-bc27bf41d645</Template>
  <TotalTime>226</TotalTime>
  <Words>5025</Words>
  <Application>Microsoft Office PowerPoint</Application>
  <PresentationFormat>Widescreen</PresentationFormat>
  <Paragraphs>437</Paragraphs>
  <Slides>16</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Century Gothic</vt:lpstr>
      <vt:lpstr>Consolas</vt:lpstr>
      <vt:lpstr>Georgia</vt:lpstr>
      <vt:lpstr>Wingdings 3</vt:lpstr>
      <vt:lpstr>Ion Boardroom</vt:lpstr>
      <vt:lpstr>Evaluating the Impact of Historical Lookback Windows on LSTM Predictive Accuracy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Chalmer Calhoun</dc:creator>
  <cp:lastModifiedBy>Chalmer Calhoun</cp:lastModifiedBy>
  <cp:revision>8</cp:revision>
  <dcterms:created xsi:type="dcterms:W3CDTF">2026-05-07T08:03:52Z</dcterms:created>
  <dcterms:modified xsi:type="dcterms:W3CDTF">2026-05-07T11:50:50Z</dcterms:modified>
</cp:coreProperties>
</file>